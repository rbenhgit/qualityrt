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75" r:id="rId1"/>
  </p:sldMasterIdLst>
  <p:notesMasterIdLst>
    <p:notesMasterId r:id="rId32"/>
  </p:notesMasterIdLst>
  <p:sldIdLst>
    <p:sldId id="256" r:id="rId2"/>
    <p:sldId id="351" r:id="rId3"/>
    <p:sldId id="352" r:id="rId4"/>
    <p:sldId id="353" r:id="rId5"/>
    <p:sldId id="347" r:id="rId6"/>
    <p:sldId id="348" r:id="rId7"/>
    <p:sldId id="349" r:id="rId8"/>
    <p:sldId id="332" r:id="rId9"/>
    <p:sldId id="325" r:id="rId10"/>
    <p:sldId id="340" r:id="rId11"/>
    <p:sldId id="341" r:id="rId12"/>
    <p:sldId id="324" r:id="rId13"/>
    <p:sldId id="339" r:id="rId14"/>
    <p:sldId id="343" r:id="rId15"/>
    <p:sldId id="326" r:id="rId16"/>
    <p:sldId id="328" r:id="rId17"/>
    <p:sldId id="344" r:id="rId18"/>
    <p:sldId id="306" r:id="rId19"/>
    <p:sldId id="337" r:id="rId20"/>
    <p:sldId id="350" r:id="rId21"/>
    <p:sldId id="299" r:id="rId22"/>
    <p:sldId id="345" r:id="rId23"/>
    <p:sldId id="333" r:id="rId24"/>
    <p:sldId id="346" r:id="rId25"/>
    <p:sldId id="338" r:id="rId26"/>
    <p:sldId id="301" r:id="rId27"/>
    <p:sldId id="287" r:id="rId28"/>
    <p:sldId id="354" r:id="rId29"/>
    <p:sldId id="355" r:id="rId30"/>
    <p:sldId id="356" r:id="rId31"/>
  </p:sldIdLst>
  <p:sldSz cx="9144000" cy="6858000" type="screen4x3"/>
  <p:notesSz cx="6797675" cy="9928225"/>
  <p:custDataLst>
    <p:tags r:id="rId33"/>
  </p:custDataLst>
  <p:defaultTextStyle>
    <a:defPPr>
      <a:defRPr lang="he-IL"/>
    </a:defPPr>
    <a:lvl1pPr algn="r" rtl="1" fontAlgn="base">
      <a:spcBef>
        <a:spcPct val="0"/>
      </a:spcBef>
      <a:spcAft>
        <a:spcPct val="0"/>
      </a:spcAft>
      <a:defRPr kern="1200">
        <a:solidFill>
          <a:schemeClr val="tx1"/>
        </a:solidFill>
        <a:latin typeface="Calibri" pitchFamily="34" charset="0"/>
        <a:ea typeface="+mn-ea"/>
        <a:cs typeface="Arial"/>
      </a:defRPr>
    </a:lvl1pPr>
    <a:lvl2pPr marL="457200" algn="r" rtl="1" fontAlgn="base">
      <a:spcBef>
        <a:spcPct val="0"/>
      </a:spcBef>
      <a:spcAft>
        <a:spcPct val="0"/>
      </a:spcAft>
      <a:defRPr kern="1200">
        <a:solidFill>
          <a:schemeClr val="tx1"/>
        </a:solidFill>
        <a:latin typeface="Calibri" pitchFamily="34" charset="0"/>
        <a:ea typeface="+mn-ea"/>
        <a:cs typeface="Arial"/>
      </a:defRPr>
    </a:lvl2pPr>
    <a:lvl3pPr marL="914400" algn="r" rtl="1" fontAlgn="base">
      <a:spcBef>
        <a:spcPct val="0"/>
      </a:spcBef>
      <a:spcAft>
        <a:spcPct val="0"/>
      </a:spcAft>
      <a:defRPr kern="1200">
        <a:solidFill>
          <a:schemeClr val="tx1"/>
        </a:solidFill>
        <a:latin typeface="Calibri" pitchFamily="34" charset="0"/>
        <a:ea typeface="+mn-ea"/>
        <a:cs typeface="Arial"/>
      </a:defRPr>
    </a:lvl3pPr>
    <a:lvl4pPr marL="1371600" algn="r" rtl="1" fontAlgn="base">
      <a:spcBef>
        <a:spcPct val="0"/>
      </a:spcBef>
      <a:spcAft>
        <a:spcPct val="0"/>
      </a:spcAft>
      <a:defRPr kern="1200">
        <a:solidFill>
          <a:schemeClr val="tx1"/>
        </a:solidFill>
        <a:latin typeface="Calibri" pitchFamily="34" charset="0"/>
        <a:ea typeface="+mn-ea"/>
        <a:cs typeface="Arial"/>
      </a:defRPr>
    </a:lvl4pPr>
    <a:lvl5pPr marL="1828800" algn="r" rtl="1" fontAlgn="base">
      <a:spcBef>
        <a:spcPct val="0"/>
      </a:spcBef>
      <a:spcAft>
        <a:spcPct val="0"/>
      </a:spcAft>
      <a:defRPr kern="1200">
        <a:solidFill>
          <a:schemeClr val="tx1"/>
        </a:solidFill>
        <a:latin typeface="Calibri" pitchFamily="34" charset="0"/>
        <a:ea typeface="+mn-ea"/>
        <a:cs typeface="Arial"/>
      </a:defRPr>
    </a:lvl5pPr>
    <a:lvl6pPr marL="2286000" algn="l" defTabSz="914400" rtl="0" eaLnBrk="1" latinLnBrk="0" hangingPunct="1">
      <a:defRPr kern="1200">
        <a:solidFill>
          <a:schemeClr val="tx1"/>
        </a:solidFill>
        <a:latin typeface="Calibri" pitchFamily="34" charset="0"/>
        <a:ea typeface="+mn-ea"/>
        <a:cs typeface="Arial"/>
      </a:defRPr>
    </a:lvl6pPr>
    <a:lvl7pPr marL="2743200" algn="l" defTabSz="914400" rtl="0" eaLnBrk="1" latinLnBrk="0" hangingPunct="1">
      <a:defRPr kern="1200">
        <a:solidFill>
          <a:schemeClr val="tx1"/>
        </a:solidFill>
        <a:latin typeface="Calibri" pitchFamily="34" charset="0"/>
        <a:ea typeface="+mn-ea"/>
        <a:cs typeface="Arial"/>
      </a:defRPr>
    </a:lvl7pPr>
    <a:lvl8pPr marL="3200400" algn="l" defTabSz="914400" rtl="0" eaLnBrk="1" latinLnBrk="0" hangingPunct="1">
      <a:defRPr kern="1200">
        <a:solidFill>
          <a:schemeClr val="tx1"/>
        </a:solidFill>
        <a:latin typeface="Calibri" pitchFamily="34" charset="0"/>
        <a:ea typeface="+mn-ea"/>
        <a:cs typeface="Arial"/>
      </a:defRPr>
    </a:lvl8pPr>
    <a:lvl9pPr marL="3657600" algn="l" defTabSz="914400" rtl="0" eaLnBrk="1" latinLnBrk="0" hangingPunct="1">
      <a:defRPr kern="1200">
        <a:solidFill>
          <a:schemeClr val="tx1"/>
        </a:solidFill>
        <a:latin typeface="Calibri" pitchFamily="34" charset="0"/>
        <a:ea typeface="+mn-ea"/>
        <a:cs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 xmlns:p1710="http://schemas.microsoft.com/office/powerpoint/2017/10/main" val="0"/>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005" autoAdjust="0"/>
    <p:restoredTop sz="96247" autoAdjust="0"/>
  </p:normalViewPr>
  <p:slideViewPr>
    <p:cSldViewPr>
      <p:cViewPr varScale="1">
        <p:scale>
          <a:sx n="111" d="100"/>
          <a:sy n="111" d="100"/>
        </p:scale>
        <p:origin x="1092" y="10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52016" y="0"/>
            <a:ext cx="2945659" cy="496411"/>
          </a:xfrm>
          <a:prstGeom prst="rect">
            <a:avLst/>
          </a:prstGeom>
        </p:spPr>
        <p:txBody>
          <a:bodyPr vert="horz" lIns="96661" tIns="48331" rIns="96661" bIns="48331" rtlCol="1"/>
          <a:lstStyle>
            <a:lvl1pPr algn="r" fontAlgn="auto">
              <a:spcBef>
                <a:spcPct val="0"/>
              </a:spcBef>
              <a:spcAft>
                <a:spcPct val="0"/>
              </a:spcAft>
              <a:defRPr sz="1300">
                <a:latin typeface="+mn-lt"/>
                <a:cs typeface="+mn-cs"/>
              </a:defRPr>
            </a:lvl1pPr>
          </a:lstStyle>
          <a:p>
            <a:pPr>
              <a:defRPr/>
            </a:pPr>
            <a:endParaRPr lang="he-IL"/>
          </a:p>
        </p:txBody>
      </p:sp>
      <p:sp>
        <p:nvSpPr>
          <p:cNvPr id="3" name="מציין מיקום של תאריך 2"/>
          <p:cNvSpPr>
            <a:spLocks noGrp="1"/>
          </p:cNvSpPr>
          <p:nvPr>
            <p:ph type="dt" idx="1"/>
          </p:nvPr>
        </p:nvSpPr>
        <p:spPr>
          <a:xfrm>
            <a:off x="1574" y="0"/>
            <a:ext cx="2945659" cy="496411"/>
          </a:xfrm>
          <a:prstGeom prst="rect">
            <a:avLst/>
          </a:prstGeom>
        </p:spPr>
        <p:txBody>
          <a:bodyPr vert="horz" lIns="96661" tIns="48331" rIns="96661" bIns="48331" rtlCol="1"/>
          <a:lstStyle>
            <a:lvl1pPr algn="l" fontAlgn="auto">
              <a:spcBef>
                <a:spcPct val="0"/>
              </a:spcBef>
              <a:spcAft>
                <a:spcPct val="0"/>
              </a:spcAft>
              <a:defRPr sz="1300" smtClean="0">
                <a:latin typeface="+mn-lt"/>
                <a:cs typeface="+mn-cs"/>
              </a:defRPr>
            </a:lvl1pPr>
          </a:lstStyle>
          <a:p>
            <a:pPr>
              <a:defRPr/>
            </a:pPr>
            <a:fld id="{8C898F98-5BF9-4A32-BEEF-0C5D77444ADC}" type="datetimeFigureOut">
              <a:rPr lang="he-IL"/>
              <a:pPr>
                <a:defRPr/>
              </a:pPr>
              <a:t>ח'/טבת/תשפ"ה</a:t>
            </a:fld>
            <a:endParaRPr lang="he-IL"/>
          </a:p>
        </p:txBody>
      </p:sp>
      <p:sp>
        <p:nvSpPr>
          <p:cNvPr id="4" name="מציין מיקום של תמונת שקופית 3"/>
          <p:cNvSpPr>
            <a:spLocks noGrp="1" noRot="1" noChangeAspect="1"/>
          </p:cNvSpPr>
          <p:nvPr>
            <p:ph type="sldImg" idx="2"/>
          </p:nvPr>
        </p:nvSpPr>
        <p:spPr>
          <a:xfrm>
            <a:off x="915988" y="744538"/>
            <a:ext cx="4965700" cy="3724275"/>
          </a:xfrm>
          <a:prstGeom prst="rect">
            <a:avLst/>
          </a:prstGeom>
          <a:noFill/>
          <a:ln w="12700">
            <a:solidFill>
              <a:prstClr val="black"/>
            </a:solidFill>
          </a:ln>
        </p:spPr>
      </p:sp>
      <p:sp>
        <p:nvSpPr>
          <p:cNvPr id="5" name="מציין מיקום של הערות 4"/>
          <p:cNvSpPr>
            <a:spLocks noGrp="1"/>
          </p:cNvSpPr>
          <p:nvPr>
            <p:ph type="body" sz="quarter" idx="3"/>
          </p:nvPr>
        </p:nvSpPr>
        <p:spPr>
          <a:xfrm>
            <a:off x="679768" y="4715907"/>
            <a:ext cx="5438140" cy="4467701"/>
          </a:xfrm>
          <a:prstGeom prst="rect">
            <a:avLst/>
          </a:prstGeom>
        </p:spPr>
        <p:txBody>
          <a:bodyPr vert="horz" lIns="96661" tIns="48331" rIns="96661" bIns="48331" rtlCol="1"/>
          <a:lstStyle/>
          <a:p>
            <a:pPr lvl="0"/>
            <a:r>
              <a:rPr lang="he-IL" noProof="0"/>
              <a:t>לחץ כדי לערוך סגנונות טקסט של תבנית בסיס</a:t>
            </a:r>
          </a:p>
          <a:p>
            <a:pPr lvl="1"/>
            <a:r>
              <a:rPr lang="he-IL" noProof="0"/>
              <a:t>רמה שנייה</a:t>
            </a:r>
          </a:p>
          <a:p>
            <a:pPr lvl="2"/>
            <a:r>
              <a:rPr lang="he-IL" noProof="0"/>
              <a:t>רמה שלישית</a:t>
            </a:r>
          </a:p>
          <a:p>
            <a:pPr lvl="3"/>
            <a:r>
              <a:rPr lang="he-IL" noProof="0"/>
              <a:t>רמה רביעית</a:t>
            </a:r>
          </a:p>
          <a:p>
            <a:pPr lvl="4"/>
            <a:r>
              <a:rPr lang="he-IL" noProof="0"/>
              <a:t>רמה חמישית</a:t>
            </a:r>
          </a:p>
        </p:txBody>
      </p:sp>
      <p:sp>
        <p:nvSpPr>
          <p:cNvPr id="6" name="מציין מיקום של כותרת תחתונה 5"/>
          <p:cNvSpPr>
            <a:spLocks noGrp="1"/>
          </p:cNvSpPr>
          <p:nvPr>
            <p:ph type="ftr" sz="quarter" idx="4"/>
          </p:nvPr>
        </p:nvSpPr>
        <p:spPr>
          <a:xfrm>
            <a:off x="3852016" y="9430091"/>
            <a:ext cx="2945659" cy="496411"/>
          </a:xfrm>
          <a:prstGeom prst="rect">
            <a:avLst/>
          </a:prstGeom>
        </p:spPr>
        <p:txBody>
          <a:bodyPr vert="horz" lIns="96661" tIns="48331" rIns="96661" bIns="48331" rtlCol="1" anchor="b"/>
          <a:lstStyle>
            <a:lvl1pPr algn="r" fontAlgn="auto">
              <a:spcBef>
                <a:spcPct val="0"/>
              </a:spcBef>
              <a:spcAft>
                <a:spcPct val="0"/>
              </a:spcAft>
              <a:defRPr sz="1300">
                <a:latin typeface="+mn-lt"/>
                <a:cs typeface="+mn-cs"/>
              </a:defRPr>
            </a:lvl1pPr>
          </a:lstStyle>
          <a:p>
            <a:pPr>
              <a:defRPr/>
            </a:pPr>
            <a:endParaRPr lang="he-IL"/>
          </a:p>
        </p:txBody>
      </p:sp>
      <p:sp>
        <p:nvSpPr>
          <p:cNvPr id="7" name="מציין מיקום של מספר שקופית 6"/>
          <p:cNvSpPr>
            <a:spLocks noGrp="1"/>
          </p:cNvSpPr>
          <p:nvPr>
            <p:ph type="sldNum" sz="quarter" idx="5"/>
          </p:nvPr>
        </p:nvSpPr>
        <p:spPr>
          <a:xfrm>
            <a:off x="1574" y="9430091"/>
            <a:ext cx="2945659" cy="496411"/>
          </a:xfrm>
          <a:prstGeom prst="rect">
            <a:avLst/>
          </a:prstGeom>
        </p:spPr>
        <p:txBody>
          <a:bodyPr vert="horz" lIns="96661" tIns="48331" rIns="96661" bIns="48331" rtlCol="1" anchor="b"/>
          <a:lstStyle>
            <a:lvl1pPr algn="l" fontAlgn="auto">
              <a:spcBef>
                <a:spcPct val="0"/>
              </a:spcBef>
              <a:spcAft>
                <a:spcPct val="0"/>
              </a:spcAft>
              <a:defRPr sz="1300" smtClean="0">
                <a:latin typeface="+mn-lt"/>
                <a:cs typeface="+mn-cs"/>
              </a:defRPr>
            </a:lvl1pPr>
          </a:lstStyle>
          <a:p>
            <a:pPr>
              <a:defRPr/>
            </a:pPr>
            <a:fld id="{DBD53D08-253B-4431-A8E7-910043DF1C8F}" type="slidenum">
              <a:rPr lang="he-IL"/>
              <a:pPr>
                <a:defRPr/>
              </a:pPr>
              <a:t>‹#›</a:t>
            </a:fld>
            <a:endParaRPr lang="he-IL"/>
          </a:p>
        </p:txBody>
      </p:sp>
    </p:spTree>
    <p:extLst>
      <p:ext uri="{BB962C8B-B14F-4D97-AF65-F5344CB8AC3E}">
        <p14:creationId xmlns:p14="http://schemas.microsoft.com/office/powerpoint/2010/main" val="1283753176"/>
      </p:ext>
    </p:extLst>
  </p:cSld>
  <p:clrMap bg1="lt1" tx1="dk1" bg2="lt2" tx2="dk2" accent1="accent1" accent2="accent2" accent3="accent3" accent4="accent4" accent5="accent5" accent6="accent6" hlink="hlink" folHlink="folHlink"/>
  <p:notesStyle>
    <a:lvl1pPr algn="r" rtl="1" fontAlgn="base">
      <a:spcBef>
        <a:spcPct val="30000"/>
      </a:spcBef>
      <a:spcAft>
        <a:spcPct val="0"/>
      </a:spcAft>
      <a:defRPr sz="1200" kern="1200">
        <a:solidFill>
          <a:schemeClr val="tx1"/>
        </a:solidFill>
        <a:latin typeface="+mn-lt"/>
        <a:ea typeface="+mn-ea"/>
        <a:cs typeface="+mn-cs"/>
      </a:defRPr>
    </a:lvl1pPr>
    <a:lvl2pPr marL="457200" algn="r" rtl="1" fontAlgn="base">
      <a:spcBef>
        <a:spcPct val="30000"/>
      </a:spcBef>
      <a:spcAft>
        <a:spcPct val="0"/>
      </a:spcAft>
      <a:defRPr sz="1200" kern="1200">
        <a:solidFill>
          <a:schemeClr val="tx1"/>
        </a:solidFill>
        <a:latin typeface="+mn-lt"/>
        <a:ea typeface="+mn-ea"/>
        <a:cs typeface="+mn-cs"/>
      </a:defRPr>
    </a:lvl2pPr>
    <a:lvl3pPr marL="914400" algn="r" rtl="1" fontAlgn="base">
      <a:spcBef>
        <a:spcPct val="30000"/>
      </a:spcBef>
      <a:spcAft>
        <a:spcPct val="0"/>
      </a:spcAft>
      <a:defRPr sz="1200" kern="1200">
        <a:solidFill>
          <a:schemeClr val="tx1"/>
        </a:solidFill>
        <a:latin typeface="+mn-lt"/>
        <a:ea typeface="+mn-ea"/>
        <a:cs typeface="+mn-cs"/>
      </a:defRPr>
    </a:lvl3pPr>
    <a:lvl4pPr marL="1371600" algn="r" rtl="1" fontAlgn="base">
      <a:spcBef>
        <a:spcPct val="30000"/>
      </a:spcBef>
      <a:spcAft>
        <a:spcPct val="0"/>
      </a:spcAft>
      <a:defRPr sz="1200" kern="1200">
        <a:solidFill>
          <a:schemeClr val="tx1"/>
        </a:solidFill>
        <a:latin typeface="+mn-lt"/>
        <a:ea typeface="+mn-ea"/>
        <a:cs typeface="+mn-cs"/>
      </a:defRPr>
    </a:lvl4pPr>
    <a:lvl5pPr marL="1828800" algn="r" rtl="1" fontAlgn="base">
      <a:spcBef>
        <a:spcPct val="30000"/>
      </a:spcBef>
      <a:spcAft>
        <a:spcPct val="0"/>
      </a:spcAft>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en-IL"/>
          </a:p>
        </p:txBody>
      </p:sp>
      <p:sp>
        <p:nvSpPr>
          <p:cNvPr id="4" name="מציין מיקום של מספר שקופית 3"/>
          <p:cNvSpPr>
            <a:spLocks noGrp="1"/>
          </p:cNvSpPr>
          <p:nvPr>
            <p:ph type="sldNum" sz="quarter" idx="5"/>
          </p:nvPr>
        </p:nvSpPr>
        <p:spPr/>
        <p:txBody>
          <a:bodyPr/>
          <a:lstStyle/>
          <a:p>
            <a:pPr>
              <a:defRPr/>
            </a:pPr>
            <a:fld id="{DBD53D08-253B-4431-A8E7-910043DF1C8F}" type="slidenum">
              <a:rPr lang="he-IL" smtClean="0"/>
              <a:pPr>
                <a:defRPr/>
              </a:pPr>
              <a:t>2</a:t>
            </a:fld>
            <a:endParaRPr lang="he-IL"/>
          </a:p>
        </p:txBody>
      </p:sp>
    </p:spTree>
    <p:extLst>
      <p:ext uri="{BB962C8B-B14F-4D97-AF65-F5344CB8AC3E}">
        <p14:creationId xmlns:p14="http://schemas.microsoft.com/office/powerpoint/2010/main" val="22224096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685800" y="2130425"/>
            <a:ext cx="7772400" cy="1470025"/>
          </a:xfrm>
        </p:spPr>
        <p:txBody>
          <a:bodyPr/>
          <a:lstStyle/>
          <a:p>
            <a:r>
              <a:rPr lang="he-IL"/>
              <a:t>לחץ כדי לערוך סגנון כותרת של תבנית בסיס</a:t>
            </a:r>
          </a:p>
        </p:txBody>
      </p:sp>
      <p:sp>
        <p:nvSpPr>
          <p:cNvPr id="3" name="כותרת משנה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597C1799-D6AC-4E62-AC21-BBDC9E4DE503}" type="datetimeFigureOut">
              <a:rPr lang="he-IL" smtClean="0">
                <a:solidFill>
                  <a:prstClr val="black">
                    <a:tint val="75000"/>
                  </a:prstClr>
                </a:solidFill>
              </a:rPr>
              <a:t>ח'/טבת/תשפ"ה</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endParaRPr lang="he-IL">
              <a:solidFill>
                <a:prstClr val="black">
                  <a:tint val="75000"/>
                </a:prstClr>
              </a:solidFill>
            </a:endParaRPr>
          </a:p>
        </p:txBody>
      </p:sp>
      <p:sp>
        <p:nvSpPr>
          <p:cNvPr id="6" name="מציין מיקום של מספר שקופית 5"/>
          <p:cNvSpPr>
            <a:spLocks noGrp="1"/>
          </p:cNvSpPr>
          <p:nvPr>
            <p:ph type="sldNum" sz="quarter" idx="12"/>
          </p:nvPr>
        </p:nvSpPr>
        <p:spPr/>
        <p:txBody>
          <a:bodyPr/>
          <a:lstStyle/>
          <a:p>
            <a:fld id="{F8AFF220-52E7-481C-9183-B084A850DE92}" type="slidenum">
              <a:rPr lang="he-IL" smtClean="0">
                <a:solidFill>
                  <a:prstClr val="black">
                    <a:tint val="75000"/>
                  </a:prstClr>
                </a:solidFill>
              </a:rPr>
              <a:t>‹#›</a:t>
            </a:fld>
            <a:endParaRPr lang="he-IL">
              <a:solidFill>
                <a:prstClr val="black">
                  <a:tint val="75000"/>
                </a:prstClr>
              </a:solidFill>
            </a:endParaRPr>
          </a:p>
        </p:txBody>
      </p:sp>
    </p:spTree>
    <p:extLst>
      <p:ext uri="{BB962C8B-B14F-4D97-AF65-F5344CB8AC3E}">
        <p14:creationId xmlns:p14="http://schemas.microsoft.com/office/powerpoint/2010/main" val="188379217"/>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97C1799-D6AC-4E62-AC21-BBDC9E4DE503}" type="datetimeFigureOut">
              <a:rPr lang="he-IL" smtClean="0">
                <a:solidFill>
                  <a:prstClr val="black">
                    <a:tint val="75000"/>
                  </a:prstClr>
                </a:solidFill>
              </a:rPr>
              <a:t>ח'/טבת/תשפ"ה</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endParaRPr lang="he-IL">
              <a:solidFill>
                <a:prstClr val="black">
                  <a:tint val="75000"/>
                </a:prstClr>
              </a:solidFill>
            </a:endParaRPr>
          </a:p>
        </p:txBody>
      </p:sp>
      <p:sp>
        <p:nvSpPr>
          <p:cNvPr id="6" name="מציין מיקום של מספר שקופית 5"/>
          <p:cNvSpPr>
            <a:spLocks noGrp="1"/>
          </p:cNvSpPr>
          <p:nvPr>
            <p:ph type="sldNum" sz="quarter" idx="12"/>
          </p:nvPr>
        </p:nvSpPr>
        <p:spPr/>
        <p:txBody>
          <a:bodyPr/>
          <a:lstStyle/>
          <a:p>
            <a:fld id="{F8AFF220-52E7-481C-9183-B084A850DE92}" type="slidenum">
              <a:rPr lang="he-IL" smtClean="0">
                <a:solidFill>
                  <a:prstClr val="black">
                    <a:tint val="75000"/>
                  </a:prstClr>
                </a:solidFill>
              </a:rPr>
              <a:t>‹#›</a:t>
            </a:fld>
            <a:endParaRPr lang="he-IL">
              <a:solidFill>
                <a:prstClr val="black">
                  <a:tint val="75000"/>
                </a:prstClr>
              </a:solidFill>
            </a:endParaRPr>
          </a:p>
        </p:txBody>
      </p:sp>
    </p:spTree>
    <p:extLst>
      <p:ext uri="{BB962C8B-B14F-4D97-AF65-F5344CB8AC3E}">
        <p14:creationId xmlns:p14="http://schemas.microsoft.com/office/powerpoint/2010/main" val="2015259727"/>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722313" y="4406900"/>
            <a:ext cx="7772400" cy="1362075"/>
          </a:xfrm>
        </p:spPr>
        <p:txBody>
          <a:bodyPr anchor="t"/>
          <a:lstStyle>
            <a:lvl1pPr algn="r">
              <a:defRPr sz="4000" b="1" cap="all"/>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p:cNvSpPr>
            <a:spLocks noGrp="1"/>
          </p:cNvSpPr>
          <p:nvPr>
            <p:ph type="dt" sz="half" idx="10"/>
          </p:nvPr>
        </p:nvSpPr>
        <p:spPr/>
        <p:txBody>
          <a:bodyPr/>
          <a:lstStyle/>
          <a:p>
            <a:fld id="{597C1799-D6AC-4E62-AC21-BBDC9E4DE503}" type="datetimeFigureOut">
              <a:rPr lang="he-IL" smtClean="0">
                <a:solidFill>
                  <a:prstClr val="black">
                    <a:tint val="75000"/>
                  </a:prstClr>
                </a:solidFill>
              </a:rPr>
              <a:t>ח'/טבת/תשפ"ה</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endParaRPr lang="he-IL">
              <a:solidFill>
                <a:prstClr val="black">
                  <a:tint val="75000"/>
                </a:prstClr>
              </a:solidFill>
            </a:endParaRPr>
          </a:p>
        </p:txBody>
      </p:sp>
      <p:sp>
        <p:nvSpPr>
          <p:cNvPr id="6" name="מציין מיקום של מספר שקופית 5"/>
          <p:cNvSpPr>
            <a:spLocks noGrp="1"/>
          </p:cNvSpPr>
          <p:nvPr>
            <p:ph type="sldNum" sz="quarter" idx="12"/>
          </p:nvPr>
        </p:nvSpPr>
        <p:spPr/>
        <p:txBody>
          <a:bodyPr/>
          <a:lstStyle/>
          <a:p>
            <a:fld id="{F8AFF220-52E7-481C-9183-B084A850DE92}" type="slidenum">
              <a:rPr lang="he-IL" smtClean="0">
                <a:solidFill>
                  <a:prstClr val="black">
                    <a:tint val="75000"/>
                  </a:prstClr>
                </a:solidFill>
              </a:rPr>
              <a:t>‹#›</a:t>
            </a:fld>
            <a:endParaRPr lang="he-IL">
              <a:solidFill>
                <a:prstClr val="black">
                  <a:tint val="75000"/>
                </a:prstClr>
              </a:solidFill>
            </a:endParaRPr>
          </a:p>
        </p:txBody>
      </p:sp>
    </p:spTree>
    <p:extLst>
      <p:ext uri="{BB962C8B-B14F-4D97-AF65-F5344CB8AC3E}">
        <p14:creationId xmlns:p14="http://schemas.microsoft.com/office/powerpoint/2010/main" val="131223056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597C1799-D6AC-4E62-AC21-BBDC9E4DE503}" type="datetimeFigureOut">
              <a:rPr lang="he-IL" smtClean="0">
                <a:solidFill>
                  <a:prstClr val="black">
                    <a:tint val="75000"/>
                  </a:prstClr>
                </a:solidFill>
              </a:rPr>
              <a:t>ח'/טבת/תשפ"ה</a:t>
            </a:fld>
            <a:endParaRPr lang="he-IL">
              <a:solidFill>
                <a:prstClr val="black">
                  <a:tint val="75000"/>
                </a:prstClr>
              </a:solidFill>
            </a:endParaRPr>
          </a:p>
        </p:txBody>
      </p:sp>
      <p:sp>
        <p:nvSpPr>
          <p:cNvPr id="6" name="מציין מיקום של כותרת תחתונה 5"/>
          <p:cNvSpPr>
            <a:spLocks noGrp="1"/>
          </p:cNvSpPr>
          <p:nvPr>
            <p:ph type="ftr" sz="quarter" idx="11"/>
          </p:nvPr>
        </p:nvSpPr>
        <p:spPr/>
        <p:txBody>
          <a:bodyPr/>
          <a:lstStyle/>
          <a:p>
            <a:endParaRPr lang="he-IL">
              <a:solidFill>
                <a:prstClr val="black">
                  <a:tint val="75000"/>
                </a:prstClr>
              </a:solidFill>
            </a:endParaRPr>
          </a:p>
        </p:txBody>
      </p:sp>
      <p:sp>
        <p:nvSpPr>
          <p:cNvPr id="7" name="מציין מיקום של מספר שקופית 6"/>
          <p:cNvSpPr>
            <a:spLocks noGrp="1"/>
          </p:cNvSpPr>
          <p:nvPr>
            <p:ph type="sldNum" sz="quarter" idx="12"/>
          </p:nvPr>
        </p:nvSpPr>
        <p:spPr/>
        <p:txBody>
          <a:bodyPr/>
          <a:lstStyle/>
          <a:p>
            <a:fld id="{F8AFF220-52E7-481C-9183-B084A850DE92}" type="slidenum">
              <a:rPr lang="he-IL" smtClean="0">
                <a:solidFill>
                  <a:prstClr val="black">
                    <a:tint val="75000"/>
                  </a:prstClr>
                </a:solidFill>
              </a:rPr>
              <a:t>‹#›</a:t>
            </a:fld>
            <a:endParaRPr lang="he-IL">
              <a:solidFill>
                <a:prstClr val="black">
                  <a:tint val="75000"/>
                </a:prstClr>
              </a:solidFill>
            </a:endParaRPr>
          </a:p>
        </p:txBody>
      </p:sp>
    </p:spTree>
    <p:extLst>
      <p:ext uri="{BB962C8B-B14F-4D97-AF65-F5344CB8AC3E}">
        <p14:creationId xmlns:p14="http://schemas.microsoft.com/office/powerpoint/2010/main" val="331563210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lvl1pPr>
              <a:defRPr/>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597C1799-D6AC-4E62-AC21-BBDC9E4DE503}" type="datetimeFigureOut">
              <a:rPr lang="he-IL" smtClean="0">
                <a:solidFill>
                  <a:prstClr val="black">
                    <a:tint val="75000"/>
                  </a:prstClr>
                </a:solidFill>
              </a:rPr>
              <a:t>ח'/טבת/תשפ"ה</a:t>
            </a:fld>
            <a:endParaRPr lang="he-IL">
              <a:solidFill>
                <a:prstClr val="black">
                  <a:tint val="75000"/>
                </a:prstClr>
              </a:solidFill>
            </a:endParaRPr>
          </a:p>
        </p:txBody>
      </p:sp>
      <p:sp>
        <p:nvSpPr>
          <p:cNvPr id="8" name="מציין מיקום של כותרת תחתונה 7"/>
          <p:cNvSpPr>
            <a:spLocks noGrp="1"/>
          </p:cNvSpPr>
          <p:nvPr>
            <p:ph type="ftr" sz="quarter" idx="11"/>
          </p:nvPr>
        </p:nvSpPr>
        <p:spPr/>
        <p:txBody>
          <a:bodyPr/>
          <a:lstStyle/>
          <a:p>
            <a:endParaRPr lang="he-IL">
              <a:solidFill>
                <a:prstClr val="black">
                  <a:tint val="75000"/>
                </a:prstClr>
              </a:solidFill>
            </a:endParaRPr>
          </a:p>
        </p:txBody>
      </p:sp>
      <p:sp>
        <p:nvSpPr>
          <p:cNvPr id="9" name="מציין מיקום של מספר שקופית 8"/>
          <p:cNvSpPr>
            <a:spLocks noGrp="1"/>
          </p:cNvSpPr>
          <p:nvPr>
            <p:ph type="sldNum" sz="quarter" idx="12"/>
          </p:nvPr>
        </p:nvSpPr>
        <p:spPr/>
        <p:txBody>
          <a:bodyPr/>
          <a:lstStyle/>
          <a:p>
            <a:fld id="{F8AFF220-52E7-481C-9183-B084A850DE92}" type="slidenum">
              <a:rPr lang="he-IL" smtClean="0">
                <a:solidFill>
                  <a:prstClr val="black">
                    <a:tint val="75000"/>
                  </a:prstClr>
                </a:solidFill>
              </a:rPr>
              <a:t>‹#›</a:t>
            </a:fld>
            <a:endParaRPr lang="he-IL">
              <a:solidFill>
                <a:prstClr val="black">
                  <a:tint val="75000"/>
                </a:prstClr>
              </a:solidFill>
            </a:endParaRPr>
          </a:p>
        </p:txBody>
      </p:sp>
    </p:spTree>
    <p:extLst>
      <p:ext uri="{BB962C8B-B14F-4D97-AF65-F5344CB8AC3E}">
        <p14:creationId xmlns:p14="http://schemas.microsoft.com/office/powerpoint/2010/main" val="1848321569"/>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597C1799-D6AC-4E62-AC21-BBDC9E4DE503}" type="datetimeFigureOut">
              <a:rPr lang="he-IL" smtClean="0">
                <a:solidFill>
                  <a:prstClr val="black">
                    <a:tint val="75000"/>
                  </a:prstClr>
                </a:solidFill>
              </a:rPr>
              <a:t>ח'/טבת/תשפ"ה</a:t>
            </a:fld>
            <a:endParaRPr lang="he-IL">
              <a:solidFill>
                <a:prstClr val="black">
                  <a:tint val="75000"/>
                </a:prstClr>
              </a:solidFill>
            </a:endParaRPr>
          </a:p>
        </p:txBody>
      </p:sp>
      <p:sp>
        <p:nvSpPr>
          <p:cNvPr id="4" name="מציין מיקום של כותרת תחתונה 3"/>
          <p:cNvSpPr>
            <a:spLocks noGrp="1"/>
          </p:cNvSpPr>
          <p:nvPr>
            <p:ph type="ftr" sz="quarter" idx="11"/>
          </p:nvPr>
        </p:nvSpPr>
        <p:spPr/>
        <p:txBody>
          <a:bodyPr/>
          <a:lstStyle/>
          <a:p>
            <a:endParaRPr lang="he-IL">
              <a:solidFill>
                <a:prstClr val="black">
                  <a:tint val="75000"/>
                </a:prstClr>
              </a:solidFill>
            </a:endParaRPr>
          </a:p>
        </p:txBody>
      </p:sp>
      <p:sp>
        <p:nvSpPr>
          <p:cNvPr id="5" name="מציין מיקום של מספר שקופית 4"/>
          <p:cNvSpPr>
            <a:spLocks noGrp="1"/>
          </p:cNvSpPr>
          <p:nvPr>
            <p:ph type="sldNum" sz="quarter" idx="12"/>
          </p:nvPr>
        </p:nvSpPr>
        <p:spPr/>
        <p:txBody>
          <a:bodyPr/>
          <a:lstStyle/>
          <a:p>
            <a:fld id="{F8AFF220-52E7-481C-9183-B084A850DE92}" type="slidenum">
              <a:rPr lang="he-IL" smtClean="0">
                <a:solidFill>
                  <a:prstClr val="black">
                    <a:tint val="75000"/>
                  </a:prstClr>
                </a:solidFill>
              </a:rPr>
              <a:t>‹#›</a:t>
            </a:fld>
            <a:endParaRPr lang="he-IL">
              <a:solidFill>
                <a:prstClr val="black">
                  <a:tint val="75000"/>
                </a:prstClr>
              </a:solidFill>
            </a:endParaRPr>
          </a:p>
        </p:txBody>
      </p:sp>
    </p:spTree>
    <p:extLst>
      <p:ext uri="{BB962C8B-B14F-4D97-AF65-F5344CB8AC3E}">
        <p14:creationId xmlns:p14="http://schemas.microsoft.com/office/powerpoint/2010/main" val="126114745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597C1799-D6AC-4E62-AC21-BBDC9E4DE503}" type="datetimeFigureOut">
              <a:rPr lang="he-IL" smtClean="0">
                <a:solidFill>
                  <a:prstClr val="black">
                    <a:tint val="75000"/>
                  </a:prstClr>
                </a:solidFill>
              </a:rPr>
              <a:t>ח'/טבת/תשפ"ה</a:t>
            </a:fld>
            <a:endParaRPr lang="he-IL">
              <a:solidFill>
                <a:prstClr val="black">
                  <a:tint val="75000"/>
                </a:prstClr>
              </a:solidFill>
            </a:endParaRPr>
          </a:p>
        </p:txBody>
      </p:sp>
      <p:sp>
        <p:nvSpPr>
          <p:cNvPr id="3" name="מציין מיקום של כותרת תחתונה 2"/>
          <p:cNvSpPr>
            <a:spLocks noGrp="1"/>
          </p:cNvSpPr>
          <p:nvPr>
            <p:ph type="ftr" sz="quarter" idx="11"/>
          </p:nvPr>
        </p:nvSpPr>
        <p:spPr/>
        <p:txBody>
          <a:bodyPr/>
          <a:lstStyle/>
          <a:p>
            <a:endParaRPr lang="he-IL">
              <a:solidFill>
                <a:prstClr val="black">
                  <a:tint val="75000"/>
                </a:prstClr>
              </a:solidFill>
            </a:endParaRPr>
          </a:p>
        </p:txBody>
      </p:sp>
      <p:sp>
        <p:nvSpPr>
          <p:cNvPr id="4" name="מציין מיקום של מספר שקופית 3"/>
          <p:cNvSpPr>
            <a:spLocks noGrp="1"/>
          </p:cNvSpPr>
          <p:nvPr>
            <p:ph type="sldNum" sz="quarter" idx="12"/>
          </p:nvPr>
        </p:nvSpPr>
        <p:spPr/>
        <p:txBody>
          <a:bodyPr/>
          <a:lstStyle/>
          <a:p>
            <a:fld id="{F8AFF220-52E7-481C-9183-B084A850DE92}" type="slidenum">
              <a:rPr lang="he-IL" smtClean="0">
                <a:solidFill>
                  <a:prstClr val="black">
                    <a:tint val="75000"/>
                  </a:prstClr>
                </a:solidFill>
              </a:rPr>
              <a:t>‹#›</a:t>
            </a:fld>
            <a:endParaRPr lang="he-IL">
              <a:solidFill>
                <a:prstClr val="black">
                  <a:tint val="75000"/>
                </a:prstClr>
              </a:solidFill>
            </a:endParaRPr>
          </a:p>
        </p:txBody>
      </p:sp>
    </p:spTree>
    <p:extLst>
      <p:ext uri="{BB962C8B-B14F-4D97-AF65-F5344CB8AC3E}">
        <p14:creationId xmlns:p14="http://schemas.microsoft.com/office/powerpoint/2010/main" val="1780300782"/>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457200" y="273050"/>
            <a:ext cx="3008313" cy="1162050"/>
          </a:xfrm>
        </p:spPr>
        <p:txBody>
          <a:bodyPr anchor="b"/>
          <a:lstStyle>
            <a:lvl1pPr algn="r">
              <a:defRPr sz="2000" b="1"/>
            </a:lvl1pPr>
          </a:lstStyle>
          <a:p>
            <a:r>
              <a:rPr lang="he-IL"/>
              <a:t>לחץ כדי לערוך סגנון כותרת של תבנית בסיס</a:t>
            </a:r>
          </a:p>
        </p:txBody>
      </p:sp>
      <p:sp>
        <p:nvSpPr>
          <p:cNvPr id="3" name="מציין מיקום תוכן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597C1799-D6AC-4E62-AC21-BBDC9E4DE503}" type="datetimeFigureOut">
              <a:rPr lang="he-IL" smtClean="0">
                <a:solidFill>
                  <a:prstClr val="black">
                    <a:tint val="75000"/>
                  </a:prstClr>
                </a:solidFill>
              </a:rPr>
              <a:t>ח'/טבת/תשפ"ה</a:t>
            </a:fld>
            <a:endParaRPr lang="he-IL">
              <a:solidFill>
                <a:prstClr val="black">
                  <a:tint val="75000"/>
                </a:prstClr>
              </a:solidFill>
            </a:endParaRPr>
          </a:p>
        </p:txBody>
      </p:sp>
      <p:sp>
        <p:nvSpPr>
          <p:cNvPr id="6" name="מציין מיקום של כותרת תחתונה 5"/>
          <p:cNvSpPr>
            <a:spLocks noGrp="1"/>
          </p:cNvSpPr>
          <p:nvPr>
            <p:ph type="ftr" sz="quarter" idx="11"/>
          </p:nvPr>
        </p:nvSpPr>
        <p:spPr/>
        <p:txBody>
          <a:bodyPr/>
          <a:lstStyle/>
          <a:p>
            <a:endParaRPr lang="he-IL">
              <a:solidFill>
                <a:prstClr val="black">
                  <a:tint val="75000"/>
                </a:prstClr>
              </a:solidFill>
            </a:endParaRPr>
          </a:p>
        </p:txBody>
      </p:sp>
      <p:sp>
        <p:nvSpPr>
          <p:cNvPr id="7" name="מציין מיקום של מספר שקופית 6"/>
          <p:cNvSpPr>
            <a:spLocks noGrp="1"/>
          </p:cNvSpPr>
          <p:nvPr>
            <p:ph type="sldNum" sz="quarter" idx="12"/>
          </p:nvPr>
        </p:nvSpPr>
        <p:spPr/>
        <p:txBody>
          <a:bodyPr/>
          <a:lstStyle/>
          <a:p>
            <a:fld id="{F8AFF220-52E7-481C-9183-B084A850DE92}" type="slidenum">
              <a:rPr lang="he-IL" smtClean="0">
                <a:solidFill>
                  <a:prstClr val="black">
                    <a:tint val="75000"/>
                  </a:prstClr>
                </a:solidFill>
              </a:rPr>
              <a:t>‹#›</a:t>
            </a:fld>
            <a:endParaRPr lang="he-IL">
              <a:solidFill>
                <a:prstClr val="black">
                  <a:tint val="75000"/>
                </a:prstClr>
              </a:solidFill>
            </a:endParaRPr>
          </a:p>
        </p:txBody>
      </p:sp>
    </p:spTree>
    <p:extLst>
      <p:ext uri="{BB962C8B-B14F-4D97-AF65-F5344CB8AC3E}">
        <p14:creationId xmlns:p14="http://schemas.microsoft.com/office/powerpoint/2010/main" val="291695477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1792288" y="4800600"/>
            <a:ext cx="5486400" cy="566738"/>
          </a:xfrm>
        </p:spPr>
        <p:txBody>
          <a:bodyPr anchor="b"/>
          <a:lstStyle>
            <a:lvl1pPr algn="r">
              <a:defRPr sz="2000" b="1"/>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597C1799-D6AC-4E62-AC21-BBDC9E4DE503}" type="datetimeFigureOut">
              <a:rPr lang="he-IL" smtClean="0">
                <a:solidFill>
                  <a:prstClr val="black">
                    <a:tint val="75000"/>
                  </a:prstClr>
                </a:solidFill>
              </a:rPr>
              <a:t>ח'/טבת/תשפ"ה</a:t>
            </a:fld>
            <a:endParaRPr lang="he-IL">
              <a:solidFill>
                <a:prstClr val="black">
                  <a:tint val="75000"/>
                </a:prstClr>
              </a:solidFill>
            </a:endParaRPr>
          </a:p>
        </p:txBody>
      </p:sp>
      <p:sp>
        <p:nvSpPr>
          <p:cNvPr id="6" name="מציין מיקום של כותרת תחתונה 5"/>
          <p:cNvSpPr>
            <a:spLocks noGrp="1"/>
          </p:cNvSpPr>
          <p:nvPr>
            <p:ph type="ftr" sz="quarter" idx="11"/>
          </p:nvPr>
        </p:nvSpPr>
        <p:spPr/>
        <p:txBody>
          <a:bodyPr/>
          <a:lstStyle/>
          <a:p>
            <a:endParaRPr lang="he-IL">
              <a:solidFill>
                <a:prstClr val="black">
                  <a:tint val="75000"/>
                </a:prstClr>
              </a:solidFill>
            </a:endParaRPr>
          </a:p>
        </p:txBody>
      </p:sp>
      <p:sp>
        <p:nvSpPr>
          <p:cNvPr id="7" name="מציין מיקום של מספר שקופית 6"/>
          <p:cNvSpPr>
            <a:spLocks noGrp="1"/>
          </p:cNvSpPr>
          <p:nvPr>
            <p:ph type="sldNum" sz="quarter" idx="12"/>
          </p:nvPr>
        </p:nvSpPr>
        <p:spPr/>
        <p:txBody>
          <a:bodyPr/>
          <a:lstStyle/>
          <a:p>
            <a:fld id="{F8AFF220-52E7-481C-9183-B084A850DE92}" type="slidenum">
              <a:rPr lang="he-IL" smtClean="0">
                <a:solidFill>
                  <a:prstClr val="black">
                    <a:tint val="75000"/>
                  </a:prstClr>
                </a:solidFill>
              </a:rPr>
              <a:t>‹#›</a:t>
            </a:fld>
            <a:endParaRPr lang="he-IL">
              <a:solidFill>
                <a:prstClr val="black">
                  <a:tint val="75000"/>
                </a:prstClr>
              </a:solidFill>
            </a:endParaRPr>
          </a:p>
        </p:txBody>
      </p:sp>
    </p:spTree>
    <p:extLst>
      <p:ext uri="{BB962C8B-B14F-4D97-AF65-F5344CB8AC3E}">
        <p14:creationId xmlns:p14="http://schemas.microsoft.com/office/powerpoint/2010/main" val="2258579193"/>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97C1799-D6AC-4E62-AC21-BBDC9E4DE503}" type="datetimeFigureOut">
              <a:rPr lang="he-IL" smtClean="0">
                <a:solidFill>
                  <a:prstClr val="black">
                    <a:tint val="75000"/>
                  </a:prstClr>
                </a:solidFill>
              </a:rPr>
              <a:t>ח'/טבת/תשפ"ה</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endParaRPr lang="he-IL">
              <a:solidFill>
                <a:prstClr val="black">
                  <a:tint val="75000"/>
                </a:prstClr>
              </a:solidFill>
            </a:endParaRPr>
          </a:p>
        </p:txBody>
      </p:sp>
      <p:sp>
        <p:nvSpPr>
          <p:cNvPr id="6" name="מציין מיקום של מספר שקופית 5"/>
          <p:cNvSpPr>
            <a:spLocks noGrp="1"/>
          </p:cNvSpPr>
          <p:nvPr>
            <p:ph type="sldNum" sz="quarter" idx="12"/>
          </p:nvPr>
        </p:nvSpPr>
        <p:spPr/>
        <p:txBody>
          <a:bodyPr/>
          <a:lstStyle/>
          <a:p>
            <a:fld id="{F8AFF220-52E7-481C-9183-B084A850DE92}" type="slidenum">
              <a:rPr lang="he-IL" smtClean="0">
                <a:solidFill>
                  <a:prstClr val="black">
                    <a:tint val="75000"/>
                  </a:prstClr>
                </a:solidFill>
              </a:rPr>
              <a:t>‹#›</a:t>
            </a:fld>
            <a:endParaRPr lang="he-IL">
              <a:solidFill>
                <a:prstClr val="black">
                  <a:tint val="75000"/>
                </a:prstClr>
              </a:solidFill>
            </a:endParaRPr>
          </a:p>
        </p:txBody>
      </p:sp>
    </p:spTree>
    <p:extLst>
      <p:ext uri="{BB962C8B-B14F-4D97-AF65-F5344CB8AC3E}">
        <p14:creationId xmlns:p14="http://schemas.microsoft.com/office/powerpoint/2010/main" val="2439391156"/>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6629400" y="274638"/>
            <a:ext cx="2057400" cy="5851525"/>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457200" y="274638"/>
            <a:ext cx="6019800" cy="5851525"/>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97C1799-D6AC-4E62-AC21-BBDC9E4DE503}" type="datetimeFigureOut">
              <a:rPr lang="he-IL" smtClean="0">
                <a:solidFill>
                  <a:prstClr val="black">
                    <a:tint val="75000"/>
                  </a:prstClr>
                </a:solidFill>
              </a:rPr>
              <a:t>ח'/טבת/תשפ"ה</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endParaRPr lang="he-IL">
              <a:solidFill>
                <a:prstClr val="black">
                  <a:tint val="75000"/>
                </a:prstClr>
              </a:solidFill>
            </a:endParaRPr>
          </a:p>
        </p:txBody>
      </p:sp>
      <p:sp>
        <p:nvSpPr>
          <p:cNvPr id="6" name="מציין מיקום של מספר שקופית 5"/>
          <p:cNvSpPr>
            <a:spLocks noGrp="1"/>
          </p:cNvSpPr>
          <p:nvPr>
            <p:ph type="sldNum" sz="quarter" idx="12"/>
          </p:nvPr>
        </p:nvSpPr>
        <p:spPr/>
        <p:txBody>
          <a:bodyPr/>
          <a:lstStyle/>
          <a:p>
            <a:fld id="{F8AFF220-52E7-481C-9183-B084A850DE92}" type="slidenum">
              <a:rPr lang="he-IL" smtClean="0">
                <a:solidFill>
                  <a:prstClr val="black">
                    <a:tint val="75000"/>
                  </a:prstClr>
                </a:solidFill>
              </a:rPr>
              <a:t>‹#›</a:t>
            </a:fld>
            <a:endParaRPr lang="he-IL">
              <a:solidFill>
                <a:prstClr val="black">
                  <a:tint val="75000"/>
                </a:prstClr>
              </a:solidFill>
            </a:endParaRPr>
          </a:p>
        </p:txBody>
      </p:sp>
    </p:spTree>
    <p:extLst>
      <p:ext uri="{BB962C8B-B14F-4D97-AF65-F5344CB8AC3E}">
        <p14:creationId xmlns:p14="http://schemas.microsoft.com/office/powerpoint/2010/main" val="259573461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tretch>
            <a:fillRect/>
          </a:stretch>
        </a:blipFill>
        <a:effectLst/>
      </p:bgPr>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457200" y="274638"/>
            <a:ext cx="8229600" cy="1143000"/>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457200" y="1600200"/>
            <a:ext cx="8229600" cy="4525963"/>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6553200" y="6356350"/>
            <a:ext cx="21336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pPr fontAlgn="auto">
              <a:spcBef>
                <a:spcPct val="0"/>
              </a:spcBef>
              <a:spcAft>
                <a:spcPct val="0"/>
              </a:spcAft>
            </a:pPr>
            <a:fld id="{597C1799-D6AC-4E62-AC21-BBDC9E4DE503}" type="datetimeFigureOut">
              <a:rPr lang="he-IL" smtClean="0">
                <a:solidFill>
                  <a:prstClr val="black">
                    <a:tint val="75000"/>
                  </a:prstClr>
                </a:solidFill>
                <a:latin typeface="Calibri"/>
                <a:cs typeface="Arial"/>
              </a:rPr>
              <a:pPr fontAlgn="auto">
                <a:spcBef>
                  <a:spcPct val="0"/>
                </a:spcBef>
                <a:spcAft>
                  <a:spcPct val="0"/>
                </a:spcAft>
              </a:pPr>
              <a:t>ח'/טבת/תשפ"ה</a:t>
            </a:fld>
            <a:endParaRPr lang="he-IL">
              <a:solidFill>
                <a:prstClr val="black">
                  <a:tint val="75000"/>
                </a:prstClr>
              </a:solidFill>
              <a:latin typeface="Calibri"/>
              <a:cs typeface="Arial"/>
            </a:endParaRPr>
          </a:p>
        </p:txBody>
      </p:sp>
      <p:sp>
        <p:nvSpPr>
          <p:cNvPr id="5" name="מציין מיקום של כותרת תחתונה 4"/>
          <p:cNvSpPr>
            <a:spLocks noGrp="1"/>
          </p:cNvSpPr>
          <p:nvPr>
            <p:ph type="ftr" sz="quarter" idx="3"/>
          </p:nvPr>
        </p:nvSpPr>
        <p:spPr>
          <a:xfrm>
            <a:off x="3124200" y="6356350"/>
            <a:ext cx="28956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pPr fontAlgn="auto">
              <a:spcBef>
                <a:spcPct val="0"/>
              </a:spcBef>
              <a:spcAft>
                <a:spcPct val="0"/>
              </a:spcAft>
            </a:pPr>
            <a:endParaRPr lang="he-IL">
              <a:solidFill>
                <a:prstClr val="black">
                  <a:tint val="75000"/>
                </a:prstClr>
              </a:solidFill>
              <a:latin typeface="Calibri"/>
              <a:cs typeface="Arial"/>
            </a:endParaRPr>
          </a:p>
        </p:txBody>
      </p:sp>
      <p:sp>
        <p:nvSpPr>
          <p:cNvPr id="6" name="מציין מיקום של מספר שקופית 5"/>
          <p:cNvSpPr>
            <a:spLocks noGrp="1"/>
          </p:cNvSpPr>
          <p:nvPr>
            <p:ph type="sldNum" sz="quarter" idx="4"/>
          </p:nvPr>
        </p:nvSpPr>
        <p:spPr>
          <a:xfrm>
            <a:off x="457200" y="6356350"/>
            <a:ext cx="21336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pPr fontAlgn="auto">
              <a:spcBef>
                <a:spcPct val="0"/>
              </a:spcBef>
              <a:spcAft>
                <a:spcPct val="0"/>
              </a:spcAft>
            </a:pPr>
            <a:fld id="{F8AFF220-52E7-481C-9183-B084A850DE92}" type="slidenum">
              <a:rPr lang="he-IL" smtClean="0">
                <a:solidFill>
                  <a:prstClr val="black">
                    <a:tint val="75000"/>
                  </a:prstClr>
                </a:solidFill>
                <a:latin typeface="Calibri"/>
                <a:cs typeface="Arial"/>
              </a:rPr>
              <a:pPr fontAlgn="auto">
                <a:spcBef>
                  <a:spcPct val="0"/>
                </a:spcBef>
                <a:spcAft>
                  <a:spcPct val="0"/>
                </a:spcAft>
              </a:pPr>
              <a:t>‹#›</a:t>
            </a:fld>
            <a:endParaRPr lang="he-IL">
              <a:solidFill>
                <a:prstClr val="black">
                  <a:tint val="75000"/>
                </a:prstClr>
              </a:solidFill>
              <a:latin typeface="Calibri"/>
              <a:cs typeface="Arial"/>
            </a:endParaRPr>
          </a:p>
        </p:txBody>
      </p:sp>
    </p:spTree>
    <p:extLst>
      <p:ext uri="{BB962C8B-B14F-4D97-AF65-F5344CB8AC3E}">
        <p14:creationId xmlns:p14="http://schemas.microsoft.com/office/powerpoint/2010/main" val="2510365126"/>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transition/>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כותרת 1"/>
          <p:cNvSpPr>
            <a:spLocks noGrp="1"/>
          </p:cNvSpPr>
          <p:nvPr>
            <p:ph type="ctrTitle"/>
          </p:nvPr>
        </p:nvSpPr>
        <p:spPr>
          <a:xfrm>
            <a:off x="685800" y="1433513"/>
            <a:ext cx="7772400" cy="1470025"/>
          </a:xfrm>
        </p:spPr>
        <p:txBody>
          <a:bodyPr>
            <a:normAutofit fontScale="90000"/>
          </a:bodyPr>
          <a:lstStyle/>
          <a:p>
            <a:r>
              <a:rPr lang="he-IL" altLang="en-US" dirty="0"/>
              <a:t>הגנת המטופל </a:t>
            </a:r>
            <a:r>
              <a:rPr lang="he-IL" altLang="en-US" dirty="0" smtClean="0"/>
              <a:t>ברדיותרפיה</a:t>
            </a:r>
            <a:r>
              <a:rPr lang="he-IL" altLang="en-US" dirty="0"/>
              <a:t/>
            </a:r>
            <a:br>
              <a:rPr lang="he-IL" altLang="en-US" dirty="0"/>
            </a:br>
            <a:r>
              <a:rPr lang="he-IL" altLang="en-US" dirty="0"/>
              <a:t>ניהול סיכונים </a:t>
            </a:r>
            <a:r>
              <a:rPr lang="he-IL" altLang="en-US" dirty="0" err="1" smtClean="0"/>
              <a:t>ריאקטיבי</a:t>
            </a:r>
            <a:r>
              <a:rPr lang="he-IL" altLang="en-US" dirty="0"/>
              <a:t/>
            </a:r>
            <a:br>
              <a:rPr lang="he-IL" altLang="en-US" dirty="0"/>
            </a:br>
            <a:endParaRPr lang="he-IL" altLang="en-US" dirty="0"/>
          </a:p>
        </p:txBody>
      </p:sp>
      <p:sp>
        <p:nvSpPr>
          <p:cNvPr id="3" name="כותרת משנה 2"/>
          <p:cNvSpPr>
            <a:spLocks noGrp="1"/>
          </p:cNvSpPr>
          <p:nvPr>
            <p:ph type="subTitle" idx="1"/>
          </p:nvPr>
        </p:nvSpPr>
        <p:spPr>
          <a:xfrm>
            <a:off x="1371600" y="3189288"/>
            <a:ext cx="6400800" cy="1752600"/>
          </a:xfrm>
        </p:spPr>
        <p:txBody>
          <a:bodyPr rtlCol="1">
            <a:normAutofit/>
          </a:bodyPr>
          <a:lstStyle/>
          <a:p>
            <a:pPr fontAlgn="auto">
              <a:spcAft>
                <a:spcPct val="0"/>
              </a:spcAft>
              <a:buFont typeface="Arial" pitchFamily="34" charset="0"/>
              <a:buNone/>
              <a:defRPr/>
            </a:pPr>
            <a:r>
              <a:rPr lang="he-IL" dirty="0"/>
              <a:t>רן בן חור</a:t>
            </a:r>
          </a:p>
          <a:p>
            <a:pPr fontAlgn="auto">
              <a:spcAft>
                <a:spcPct val="0"/>
              </a:spcAft>
              <a:buFont typeface="Arial" pitchFamily="34" charset="0"/>
              <a:buNone/>
              <a:defRPr/>
            </a:pPr>
            <a:r>
              <a:rPr lang="he-IL" dirty="0" smtClean="0"/>
              <a:t>ינואר 2025</a:t>
            </a:r>
            <a:endParaRPr lang="he-IL" dirty="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9EF2652-1512-D712-F53B-A007BA98043F}"/>
              </a:ext>
            </a:extLst>
          </p:cNvPr>
          <p:cNvSpPr>
            <a:spLocks noGrp="1"/>
          </p:cNvSpPr>
          <p:nvPr>
            <p:ph type="title"/>
          </p:nvPr>
        </p:nvSpPr>
        <p:spPr/>
        <p:txBody>
          <a:bodyPr/>
          <a:lstStyle/>
          <a:p>
            <a:r>
              <a:rPr lang="he-IL"/>
              <a:t>סביבת העבודה</a:t>
            </a:r>
            <a:endParaRPr lang="en-IL"/>
          </a:p>
        </p:txBody>
      </p:sp>
      <p:sp>
        <p:nvSpPr>
          <p:cNvPr id="3" name="מציין מיקום תוכן 2">
            <a:extLst>
              <a:ext uri="{FF2B5EF4-FFF2-40B4-BE49-F238E27FC236}">
                <a16:creationId xmlns:a16="http://schemas.microsoft.com/office/drawing/2014/main" id="{C5B2E1DA-4CA9-F3BF-BBFE-04634F0448B4}"/>
              </a:ext>
            </a:extLst>
          </p:cNvPr>
          <p:cNvSpPr>
            <a:spLocks noGrp="1"/>
          </p:cNvSpPr>
          <p:nvPr>
            <p:ph idx="1"/>
          </p:nvPr>
        </p:nvSpPr>
        <p:spPr>
          <a:xfrm>
            <a:off x="107504" y="1484784"/>
            <a:ext cx="8928992" cy="2722411"/>
          </a:xfrm>
        </p:spPr>
        <p:txBody>
          <a:bodyPr>
            <a:noAutofit/>
          </a:bodyPr>
          <a:lstStyle/>
          <a:p>
            <a:r>
              <a:rPr lang="he-IL" sz="2200" dirty="0"/>
              <a:t>סביבת העבודה בארגון קשורה באופן ישיר לתרבות הארגונית שבה אנו פועלים.</a:t>
            </a:r>
          </a:p>
          <a:p>
            <a:r>
              <a:rPr lang="he-IL" sz="2200" dirty="0"/>
              <a:t>על מנת לשפר את </a:t>
            </a:r>
            <a:r>
              <a:rPr lang="he-IL" sz="2200" u="sng" dirty="0"/>
              <a:t>סביבת העבודה</a:t>
            </a:r>
            <a:r>
              <a:rPr lang="he-IL" sz="2200" dirty="0"/>
              <a:t>, יש לבצע שינוים </a:t>
            </a:r>
            <a:r>
              <a:rPr lang="he-IL" sz="2200" u="sng" dirty="0"/>
              <a:t>בתרבות העבודה</a:t>
            </a:r>
            <a:r>
              <a:rPr lang="he-IL" sz="2200" dirty="0"/>
              <a:t> של הצוות. כלומר, בהרגלים שלנו בחוקים והתקנות לפיהם אנו פועלים</a:t>
            </a:r>
            <a:r>
              <a:rPr lang="he-IL" sz="2200" dirty="0" smtClean="0"/>
              <a:t>.</a:t>
            </a:r>
            <a:endParaRPr lang="he-IL" sz="2200" dirty="0"/>
          </a:p>
          <a:p>
            <a:r>
              <a:rPr lang="he-IL" sz="2200" dirty="0"/>
              <a:t>מטרת השינויים היא </a:t>
            </a:r>
            <a:r>
              <a:rPr lang="he-IL" sz="2200" b="1" dirty="0"/>
              <a:t>לייצר סביבת עבודה בטוחה </a:t>
            </a:r>
            <a:r>
              <a:rPr lang="he-IL" sz="2200" dirty="0"/>
              <a:t>הן לצוות והן למטופלים</a:t>
            </a:r>
            <a:r>
              <a:rPr lang="he-IL" sz="2200" dirty="0" smtClean="0"/>
              <a:t>.</a:t>
            </a:r>
          </a:p>
          <a:p>
            <a:r>
              <a:rPr lang="he-IL" sz="2200" dirty="0" smtClean="0"/>
              <a:t>על מנת שנוכל לייצר סביבת עבודה בטוחה אנו נדרשים לבצע תהליך של ניהול סיכונים </a:t>
            </a:r>
            <a:r>
              <a:rPr lang="he-IL" sz="2200" dirty="0" err="1" smtClean="0"/>
              <a:t>ריאקטיבי</a:t>
            </a:r>
            <a:r>
              <a:rPr lang="he-IL" sz="2200" dirty="0" smtClean="0"/>
              <a:t> ופרואקטיבי. </a:t>
            </a:r>
            <a:endParaRPr lang="en-IL" sz="2200" dirty="0"/>
          </a:p>
        </p:txBody>
      </p:sp>
      <p:pic>
        <p:nvPicPr>
          <p:cNvPr id="2050" name="Picture 2" descr="סביבת עבודה בטוחה - ליאור בטיחות">
            <a:extLst>
              <a:ext uri="{FF2B5EF4-FFF2-40B4-BE49-F238E27FC236}">
                <a16:creationId xmlns:a16="http://schemas.microsoft.com/office/drawing/2014/main" id="{7B009BB0-7D7D-F1A3-0A39-9D86E6625DD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809679" y="4494237"/>
            <a:ext cx="2619375" cy="174307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Unsafe acts Archives - The Casual Observer">
            <a:extLst>
              <a:ext uri="{FF2B5EF4-FFF2-40B4-BE49-F238E27FC236}">
                <a16:creationId xmlns:a16="http://schemas.microsoft.com/office/drawing/2014/main" id="{BFBB571C-8AA4-7164-2339-DEC67CF0CDB4}"/>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2843808" y="4494236"/>
            <a:ext cx="2619375" cy="1743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269616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dur="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dur="1"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dur="1"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par>
                          <p:cTn id="19" fill="hold" nodeType="afterGroup">
                            <p:stCondLst>
                              <p:cond delay="0"/>
                            </p:stCondLst>
                            <p:childTnLst>
                              <p:par>
                                <p:cTn id="20" presetID="22" presetClass="entr" presetSubtype="4" dur="1000" fill="hold" nodeType="afterEffect">
                                  <p:stCondLst>
                                    <p:cond delay="0"/>
                                  </p:stCondLst>
                                  <p:childTnLst>
                                    <p:set>
                                      <p:cBhvr>
                                        <p:cTn id="21" dur="1" fill="hold">
                                          <p:stCondLst>
                                            <p:cond delay="0"/>
                                          </p:stCondLst>
                                        </p:cTn>
                                        <p:tgtEl>
                                          <p:spTgt spid="2052"/>
                                        </p:tgtEl>
                                        <p:attrNameLst>
                                          <p:attrName>style.visibility</p:attrName>
                                        </p:attrNameLst>
                                      </p:cBhvr>
                                      <p:to>
                                        <p:strVal val="visible"/>
                                      </p:to>
                                    </p:set>
                                    <p:animEffect transition="in" filter="wipe(down)">
                                      <p:cBhvr>
                                        <p:cTn id="22" dur="1000"/>
                                        <p:tgtEl>
                                          <p:spTgt spid="2052"/>
                                        </p:tgtEl>
                                      </p:cBhvr>
                                    </p:animEffect>
                                  </p:childTnLst>
                                </p:cTn>
                              </p:par>
                            </p:childTnLst>
                          </p:cTn>
                        </p:par>
                        <p:par>
                          <p:cTn id="23" fill="hold" nodeType="afterGroup">
                            <p:stCondLst>
                              <p:cond delay="1000"/>
                            </p:stCondLst>
                            <p:childTnLst>
                              <p:par>
                                <p:cTn id="24" presetID="22" presetClass="entr" presetSubtype="4" dur="500" fill="hold" nodeType="afterEffect">
                                  <p:stCondLst>
                                    <p:cond delay="0"/>
                                  </p:stCondLst>
                                  <p:childTnLst>
                                    <p:set>
                                      <p:cBhvr>
                                        <p:cTn id="25" dur="1" fill="hold">
                                          <p:stCondLst>
                                            <p:cond delay="0"/>
                                          </p:stCondLst>
                                        </p:cTn>
                                        <p:tgtEl>
                                          <p:spTgt spid="2050"/>
                                        </p:tgtEl>
                                        <p:attrNameLst>
                                          <p:attrName>style.visibility</p:attrName>
                                        </p:attrNameLst>
                                      </p:cBhvr>
                                      <p:to>
                                        <p:strVal val="visible"/>
                                      </p:to>
                                    </p:set>
                                    <p:animEffect transition="in" filter="wipe(down)">
                                      <p:cBhvr>
                                        <p:cTn id="26"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כותרת 3">
            <a:extLst>
              <a:ext uri="{FF2B5EF4-FFF2-40B4-BE49-F238E27FC236}">
                <a16:creationId xmlns:a16="http://schemas.microsoft.com/office/drawing/2014/main" id="{E3B0C9D8-AA39-C91B-DACD-4F5307E6611C}"/>
              </a:ext>
            </a:extLst>
          </p:cNvPr>
          <p:cNvSpPr txBox="1"/>
          <p:nvPr/>
        </p:nvSpPr>
        <p:spPr>
          <a:xfrm>
            <a:off x="457200" y="116632"/>
            <a:ext cx="8229600" cy="1143000"/>
          </a:xfrm>
          <a:prstGeom prst="rect">
            <a:avLst/>
          </a:prstGeom>
        </p:spPr>
        <p:txBody>
          <a:bodyPr vert="horz" lIns="91440" tIns="45720" rIns="91440" bIns="45720" rtlCol="1" anchor="ctr">
            <a:normAutofit/>
          </a:bodyPr>
          <a:lstStyle>
            <a:lvl1pPr algn="ctr" defTabSz="914400" rtl="1" eaLnBrk="1" latinLnBrk="0" hangingPunct="1">
              <a:spcBef>
                <a:spcPct val="0"/>
              </a:spcBef>
              <a:buNone/>
              <a:defRPr sz="4400" kern="1200">
                <a:solidFill>
                  <a:schemeClr val="tx1"/>
                </a:solidFill>
                <a:latin typeface="+mj-lt"/>
                <a:ea typeface="+mj-ea"/>
                <a:cs typeface="+mj-cs"/>
              </a:defRPr>
            </a:lvl1pPr>
          </a:lstStyle>
          <a:p>
            <a:pPr rtl="0" fontAlgn="auto">
              <a:spcAft>
                <a:spcPct val="0"/>
              </a:spcAft>
            </a:pPr>
            <a:r>
              <a:rPr lang="he-IL"/>
              <a:t>תרבות העבודה</a:t>
            </a:r>
          </a:p>
        </p:txBody>
      </p:sp>
      <p:pic>
        <p:nvPicPr>
          <p:cNvPr id="6" name="Picture 2">
            <a:extLst>
              <a:ext uri="{FF2B5EF4-FFF2-40B4-BE49-F238E27FC236}">
                <a16:creationId xmlns:a16="http://schemas.microsoft.com/office/drawing/2014/main" id="{D62ACF45-157E-2CF5-8EC3-595463638A2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286200" y="3589959"/>
            <a:ext cx="5400600" cy="31489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מציין מיקום תוכן 4">
            <a:extLst>
              <a:ext uri="{FF2B5EF4-FFF2-40B4-BE49-F238E27FC236}">
                <a16:creationId xmlns:a16="http://schemas.microsoft.com/office/drawing/2014/main" id="{211EC93D-5534-4924-9857-92E069B07E0E}"/>
              </a:ext>
            </a:extLst>
          </p:cNvPr>
          <p:cNvSpPr txBox="1"/>
          <p:nvPr/>
        </p:nvSpPr>
        <p:spPr>
          <a:xfrm>
            <a:off x="250801" y="1452422"/>
            <a:ext cx="8784976" cy="2160240"/>
          </a:xfrm>
          <a:prstGeom prst="rect">
            <a:avLst/>
          </a:prstGeom>
        </p:spPr>
        <p:txBody>
          <a:bodyPr vert="horz" lIns="91440" tIns="45720" rIns="91440" bIns="45720" rtlCol="1">
            <a:normAutofit fontScale="92500" lnSpcReduction="10000"/>
          </a:bodyPr>
          <a:lst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fontAlgn="auto">
              <a:spcAft>
                <a:spcPct val="0"/>
              </a:spcAft>
            </a:pPr>
            <a:r>
              <a:rPr lang="he-IL" sz="1800" b="1" dirty="0">
                <a:effectLst>
                  <a:outerShdw blurRad="38100" dist="38100" dir="2700000" algn="tl">
                    <a:srgbClr val="000000">
                      <a:alpha val="43137"/>
                    </a:srgbClr>
                  </a:outerShdw>
                </a:effectLst>
              </a:rPr>
              <a:t>תרבות האשמה </a:t>
            </a:r>
            <a:r>
              <a:rPr lang="he-IL" sz="1800" dirty="0"/>
              <a:t>– היא תרבות בה מחפשים את האשם באת אירוע.</a:t>
            </a:r>
          </a:p>
          <a:p>
            <a:pPr algn="r" fontAlgn="auto">
              <a:spcAft>
                <a:spcPct val="0"/>
              </a:spcAft>
            </a:pPr>
            <a:r>
              <a:rPr lang="he-IL" sz="1800" b="1" dirty="0">
                <a:effectLst>
                  <a:outerShdw blurRad="38100" dist="38100" dir="2700000" algn="tl">
                    <a:srgbClr val="000000">
                      <a:alpha val="43137"/>
                    </a:srgbClr>
                  </a:outerShdw>
                </a:effectLst>
              </a:rPr>
              <a:t>תרבות אי-האשמה </a:t>
            </a:r>
            <a:r>
              <a:rPr lang="he-IL" sz="1800" dirty="0"/>
              <a:t>– היא תרבות בה גם אם התרחשו אירועים קשים, מנסים להסתיר את קיומם ולהמשיך כאילו לא קרה כלום</a:t>
            </a:r>
            <a:r>
              <a:rPr lang="he-IL" sz="1800" dirty="0" smtClean="0"/>
              <a:t>. כלומר, אין אשמים.</a:t>
            </a:r>
            <a:endParaRPr lang="he-IL" sz="1800" dirty="0"/>
          </a:p>
          <a:p>
            <a:pPr algn="r" fontAlgn="auto">
              <a:spcAft>
                <a:spcPct val="0"/>
              </a:spcAft>
            </a:pPr>
            <a:r>
              <a:rPr lang="he-IL" sz="1800" b="1" dirty="0">
                <a:effectLst>
                  <a:outerShdw blurRad="38100" dist="38100" dir="2700000" algn="tl">
                    <a:srgbClr val="000000">
                      <a:alpha val="43137"/>
                    </a:srgbClr>
                  </a:outerShdw>
                </a:effectLst>
              </a:rPr>
              <a:t>תרבות צודקת (</a:t>
            </a:r>
            <a:r>
              <a:rPr lang="en-US" sz="1800" b="1" dirty="0">
                <a:effectLst>
                  <a:outerShdw blurRad="38100" dist="38100" dir="2700000" algn="tl">
                    <a:srgbClr val="000000">
                      <a:alpha val="43137"/>
                    </a:srgbClr>
                  </a:outerShdw>
                </a:effectLst>
              </a:rPr>
              <a:t>Just Culture</a:t>
            </a:r>
            <a:r>
              <a:rPr lang="he-IL" sz="1800" b="1" dirty="0">
                <a:effectLst>
                  <a:outerShdw blurRad="38100" dist="38100" dir="2700000" algn="tl">
                    <a:srgbClr val="000000">
                      <a:alpha val="43137"/>
                    </a:srgbClr>
                  </a:outerShdw>
                </a:effectLst>
              </a:rPr>
              <a:t>)</a:t>
            </a:r>
            <a:r>
              <a:rPr lang="he-IL" sz="1800" dirty="0"/>
              <a:t> - היא תרבות עבודה בה מתחקרים אירועים ומנסים לבנות מודל המתאר את מהלך האירוע, באמצעות המודל מזהים את </a:t>
            </a:r>
            <a:r>
              <a:rPr lang="he-IL" sz="1800" b="1" dirty="0"/>
              <a:t>תחומי</a:t>
            </a:r>
            <a:r>
              <a:rPr lang="he-IL" sz="1800" dirty="0"/>
              <a:t> </a:t>
            </a:r>
            <a:r>
              <a:rPr lang="he-IL" sz="1800" b="1" dirty="0"/>
              <a:t>האחריות</a:t>
            </a:r>
            <a:r>
              <a:rPr lang="he-IL" sz="1800" dirty="0"/>
              <a:t> של כל אחד מהגורמים לאירוע בין אם מדובר באחריות מנהלית או אחריות אישית. מנסים למצוא את סיבות השורש אשר תרמו להתרחשות האירוע (לרוב יש יותר מאחד) ולפעול באמצעות החלת שינויים בתהליך העבודה על מנת לצמצם את חשיפת הצוות לסביבת עבודה שאינה בטוחה.</a:t>
            </a:r>
          </a:p>
        </p:txBody>
      </p:sp>
    </p:spTree>
    <p:extLst>
      <p:ext uri="{BB962C8B-B14F-4D97-AF65-F5344CB8AC3E}">
        <p14:creationId xmlns:p14="http://schemas.microsoft.com/office/powerpoint/2010/main" val="3498576236"/>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כותרת 3">
            <a:extLst>
              <a:ext uri="{FF2B5EF4-FFF2-40B4-BE49-F238E27FC236}">
                <a16:creationId xmlns:a16="http://schemas.microsoft.com/office/drawing/2014/main" id="{E3B0C9D8-AA39-C91B-DACD-4F5307E6611C}"/>
              </a:ext>
            </a:extLst>
          </p:cNvPr>
          <p:cNvSpPr txBox="1"/>
          <p:nvPr/>
        </p:nvSpPr>
        <p:spPr>
          <a:xfrm>
            <a:off x="457200" y="116632"/>
            <a:ext cx="8229600" cy="1143000"/>
          </a:xfrm>
          <a:prstGeom prst="rect">
            <a:avLst/>
          </a:prstGeom>
        </p:spPr>
        <p:txBody>
          <a:bodyPr vert="horz" lIns="91440" tIns="45720" rIns="91440" bIns="45720" rtlCol="1" anchor="ctr">
            <a:normAutofit/>
          </a:bodyPr>
          <a:lstStyle>
            <a:lvl1pPr algn="ctr" defTabSz="914400" rtl="1" eaLnBrk="1" latinLnBrk="0" hangingPunct="1">
              <a:spcBef>
                <a:spcPct val="0"/>
              </a:spcBef>
              <a:buNone/>
              <a:defRPr sz="4400" kern="1200">
                <a:solidFill>
                  <a:schemeClr val="tx1"/>
                </a:solidFill>
                <a:latin typeface="+mj-lt"/>
                <a:ea typeface="+mj-ea"/>
                <a:cs typeface="+mj-cs"/>
              </a:defRPr>
            </a:lvl1pPr>
          </a:lstStyle>
          <a:p>
            <a:pPr rtl="0" fontAlgn="auto">
              <a:spcAft>
                <a:spcPct val="0"/>
              </a:spcAft>
            </a:pPr>
            <a:r>
              <a:rPr lang="he-IL"/>
              <a:t>תרבות צודקת</a:t>
            </a:r>
          </a:p>
        </p:txBody>
      </p:sp>
      <p:sp>
        <p:nvSpPr>
          <p:cNvPr id="3" name="מציין מיקום תוכן 4">
            <a:extLst>
              <a:ext uri="{FF2B5EF4-FFF2-40B4-BE49-F238E27FC236}">
                <a16:creationId xmlns:a16="http://schemas.microsoft.com/office/drawing/2014/main" id="{98FB0E5E-4429-5EAE-1CE5-0F5449152B7B}"/>
              </a:ext>
            </a:extLst>
          </p:cNvPr>
          <p:cNvSpPr txBox="1"/>
          <p:nvPr/>
        </p:nvSpPr>
        <p:spPr>
          <a:xfrm>
            <a:off x="18106" y="1571084"/>
            <a:ext cx="9108504" cy="1864286"/>
          </a:xfrm>
          <a:prstGeom prst="rect">
            <a:avLst/>
          </a:prstGeom>
        </p:spPr>
        <p:txBody>
          <a:bodyPr vert="horz" lIns="91440" tIns="45720" rIns="91440" bIns="45720" rtlCol="1">
            <a:normAutofit/>
          </a:bodyPr>
          <a:lst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fontAlgn="auto">
              <a:spcAft>
                <a:spcPct val="0"/>
              </a:spcAft>
            </a:pPr>
            <a:r>
              <a:rPr lang="he-IL" sz="2000"/>
              <a:t>תרבות צודקת מסירה את הפוקוס </a:t>
            </a:r>
            <a:r>
              <a:rPr lang="he-IL" sz="2000" u="sng"/>
              <a:t>מהשגיאה</a:t>
            </a:r>
            <a:r>
              <a:rPr lang="he-IL" sz="2000"/>
              <a:t> עצמה אל </a:t>
            </a:r>
            <a:r>
              <a:rPr lang="he-IL" sz="2000" u="sng"/>
              <a:t>התוצאה</a:t>
            </a:r>
            <a:r>
              <a:rPr lang="he-IL" sz="2000"/>
              <a:t> של האירוע.</a:t>
            </a:r>
          </a:p>
          <a:p>
            <a:pPr algn="r" fontAlgn="auto">
              <a:spcAft>
                <a:spcPct val="0"/>
              </a:spcAft>
            </a:pPr>
            <a:r>
              <a:rPr lang="he-IL" sz="2000"/>
              <a:t>היא שמה פוקוס גם על </a:t>
            </a:r>
            <a:r>
              <a:rPr lang="he-IL" sz="2000" u="sng"/>
              <a:t>סביבת העבודה</a:t>
            </a:r>
            <a:r>
              <a:rPr lang="he-IL" sz="2000"/>
              <a:t> וגם על </a:t>
            </a:r>
            <a:r>
              <a:rPr lang="he-IL" sz="2000" u="sng"/>
              <a:t>התנהלות הצוות</a:t>
            </a:r>
            <a:r>
              <a:rPr lang="he-IL" sz="2000"/>
              <a:t> במהלך האירוע.</a:t>
            </a:r>
          </a:p>
          <a:p>
            <a:pPr lvl="1" fontAlgn="auto">
              <a:spcAft>
                <a:spcPct val="0"/>
              </a:spcAft>
            </a:pPr>
            <a:r>
              <a:rPr lang="he-IL" sz="1800"/>
              <a:t>בתרבות צודקת מובן שאין לאינדיבידואל אחריות על כשלים מערכתיים עליהם אין להם שליטה.</a:t>
            </a:r>
          </a:p>
          <a:p>
            <a:pPr lvl="1" fontAlgn="auto">
              <a:spcAft>
                <a:spcPct val="0"/>
              </a:spcAft>
            </a:pPr>
            <a:r>
              <a:rPr lang="he-IL" sz="1800"/>
              <a:t>בתרבות צודק גם לא מקבלים פזיזות או חוסר אכפתיות. מצפים מהצוות לשאת באחריות האישית הנגזרת מהפעולות בהם נקט במהלך האירוע.</a:t>
            </a:r>
          </a:p>
        </p:txBody>
      </p:sp>
      <p:pic>
        <p:nvPicPr>
          <p:cNvPr id="3074" name="Picture 2" descr="צדק צדק תרדוף לקריאה | יהדות | ערכים">
            <a:extLst>
              <a:ext uri="{FF2B5EF4-FFF2-40B4-BE49-F238E27FC236}">
                <a16:creationId xmlns:a16="http://schemas.microsoft.com/office/drawing/2014/main" id="{1DCA9C7D-DE84-AEF6-882C-14309BB8C006}"/>
              </a:ext>
            </a:extLst>
          </p:cNvPr>
          <p:cNvPicPr>
            <a:picLocks noChangeAspect="1" noChangeArrowheads="1"/>
          </p:cNvPicPr>
          <p:nvPr/>
        </p:nvPicPr>
        <p:blipFill>
          <a:blip r:embed="rId2">
            <a:alphaModFix amt="70000"/>
            <a:extLst>
              <a:ext uri="{28A0092B-C50C-407E-A947-70E740481C1C}">
                <a14:useLocalDpi xmlns:a14="http://schemas.microsoft.com/office/drawing/2010/main" val="0"/>
              </a:ext>
            </a:extLst>
          </a:blip>
          <a:stretch>
            <a:fillRect/>
          </a:stretch>
        </p:blipFill>
        <p:spPr bwMode="auto">
          <a:xfrm>
            <a:off x="4499992" y="4149080"/>
            <a:ext cx="4400529" cy="2464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5132471"/>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latin typeface="Arial" pitchFamily="34" charset="0"/>
                <a:cs typeface="Arial" pitchFamily="34" charset="0"/>
              </a:rPr>
              <a:t>תשתית ארגונית</a:t>
            </a:r>
          </a:p>
        </p:txBody>
      </p:sp>
      <p:sp>
        <p:nvSpPr>
          <p:cNvPr id="3" name="מציין מיקום תוכן 2"/>
          <p:cNvSpPr>
            <a:spLocks noGrp="1"/>
          </p:cNvSpPr>
          <p:nvPr>
            <p:ph idx="1"/>
          </p:nvPr>
        </p:nvSpPr>
        <p:spPr>
          <a:xfrm>
            <a:off x="446856" y="1556792"/>
            <a:ext cx="8589640" cy="4525963"/>
          </a:xfrm>
          <a:noFill/>
          <a:ln>
            <a:noFill/>
          </a:ln>
        </p:spPr>
        <p:txBody>
          <a:bodyPr>
            <a:normAutofit fontScale="55000" lnSpcReduction="20000"/>
          </a:bodyPr>
          <a:lstStyle/>
          <a:p>
            <a:r>
              <a:rPr lang="he-IL" b="1" dirty="0">
                <a:latin typeface="Arial" pitchFamily="34" charset="0"/>
              </a:rPr>
              <a:t>ניהול האיכות (</a:t>
            </a:r>
            <a:r>
              <a:rPr lang="en-US" b="1" dirty="0">
                <a:latin typeface="Arial" pitchFamily="34" charset="0"/>
              </a:rPr>
              <a:t>Quality Management - QM</a:t>
            </a:r>
            <a:r>
              <a:rPr lang="he-IL" b="1" dirty="0">
                <a:latin typeface="Arial" pitchFamily="34" charset="0"/>
              </a:rPr>
              <a:t>)</a:t>
            </a:r>
            <a:endParaRPr lang="he-IL" sz="3000" b="1" dirty="0">
              <a:latin typeface="Arial" pitchFamily="34" charset="0"/>
            </a:endParaRPr>
          </a:p>
          <a:p>
            <a:pPr lvl="1"/>
            <a:r>
              <a:rPr lang="he-IL" sz="2600" dirty="0">
                <a:latin typeface="Arial" pitchFamily="34" charset="0"/>
              </a:rPr>
              <a:t>ניהול סיכונים </a:t>
            </a:r>
            <a:r>
              <a:rPr lang="he-IL" sz="2600" dirty="0" err="1">
                <a:latin typeface="Arial" pitchFamily="34" charset="0"/>
              </a:rPr>
              <a:t>ריאקטיבי</a:t>
            </a:r>
            <a:endParaRPr lang="he-IL" sz="2600" dirty="0">
              <a:latin typeface="Arial" pitchFamily="34" charset="0"/>
            </a:endParaRPr>
          </a:p>
          <a:p>
            <a:pPr lvl="1"/>
            <a:r>
              <a:rPr lang="he-IL" sz="2600" dirty="0">
                <a:latin typeface="Arial" pitchFamily="34" charset="0"/>
              </a:rPr>
              <a:t>ניהול סיכונים פרואקטיבי</a:t>
            </a:r>
          </a:p>
          <a:p>
            <a:pPr lvl="1"/>
            <a:r>
              <a:rPr lang="he-IL" sz="2600" dirty="0">
                <a:latin typeface="Arial" pitchFamily="34" charset="0"/>
              </a:rPr>
              <a:t>כתיבה והטמעה של נהלי</a:t>
            </a:r>
            <a:r>
              <a:rPr lang="en-US" sz="2600" dirty="0">
                <a:latin typeface="Arial" pitchFamily="34" charset="0"/>
              </a:rPr>
              <a:t> </a:t>
            </a:r>
            <a:r>
              <a:rPr lang="he-IL" sz="2600" dirty="0">
                <a:latin typeface="Arial" pitchFamily="34" charset="0"/>
              </a:rPr>
              <a:t>בטיחות ונהלי עבודה.</a:t>
            </a:r>
            <a:endParaRPr lang="en-US" sz="2600" dirty="0">
              <a:latin typeface="Arial" pitchFamily="34" charset="0"/>
            </a:endParaRPr>
          </a:p>
          <a:p>
            <a:pPr lvl="1"/>
            <a:r>
              <a:rPr lang="he-IL" sz="2600" dirty="0">
                <a:latin typeface="Arial" pitchFamily="34" charset="0"/>
              </a:rPr>
              <a:t>הוספה של מחסומים ונקודות עצירה בתהליכי העבודה להגברת הבטיחות </a:t>
            </a:r>
            <a:r>
              <a:rPr lang="en-US" sz="2600" dirty="0">
                <a:latin typeface="Arial" pitchFamily="34" charset="0"/>
              </a:rPr>
              <a:t>(Safety Barrier)</a:t>
            </a:r>
            <a:r>
              <a:rPr lang="he-IL" sz="2600" dirty="0">
                <a:latin typeface="Arial" pitchFamily="34" charset="0"/>
              </a:rPr>
              <a:t>.</a:t>
            </a:r>
          </a:p>
          <a:p>
            <a:r>
              <a:rPr lang="he-IL" b="1" dirty="0" smtClean="0">
                <a:latin typeface="Arial" pitchFamily="34" charset="0"/>
                <a:cs typeface="Arial" pitchFamily="34" charset="0"/>
              </a:rPr>
              <a:t>ניהול </a:t>
            </a:r>
            <a:r>
              <a:rPr lang="he-IL" b="1" dirty="0">
                <a:latin typeface="Arial" pitchFamily="34" charset="0"/>
                <a:cs typeface="Arial" pitchFamily="34" charset="0"/>
              </a:rPr>
              <a:t>סיכונים </a:t>
            </a:r>
            <a:r>
              <a:rPr lang="he-IL" b="1" dirty="0" err="1" smtClean="0">
                <a:latin typeface="Arial" pitchFamily="34" charset="0"/>
                <a:cs typeface="Arial" pitchFamily="34" charset="0"/>
              </a:rPr>
              <a:t>ריאקטיבי</a:t>
            </a:r>
            <a:endParaRPr lang="he-IL" b="1" dirty="0" smtClean="0">
              <a:latin typeface="Arial" pitchFamily="34" charset="0"/>
              <a:cs typeface="Arial" pitchFamily="34" charset="0"/>
            </a:endParaRPr>
          </a:p>
          <a:p>
            <a:pPr marL="0" indent="0" algn="l">
              <a:buNone/>
            </a:pPr>
            <a:r>
              <a:rPr lang="en-US" sz="1800" b="1" dirty="0">
                <a:latin typeface="Arial" pitchFamily="34" charset="0"/>
                <a:cs typeface="Arial" pitchFamily="34" charset="0"/>
              </a:rPr>
              <a:t>Consensus recommendations for incident learning database structures in </a:t>
            </a:r>
            <a:r>
              <a:rPr lang="en-US" sz="1800" b="1" dirty="0" smtClean="0">
                <a:latin typeface="Arial" pitchFamily="34" charset="0"/>
                <a:cs typeface="Arial" pitchFamily="34" charset="0"/>
              </a:rPr>
              <a:t>radiation oncology</a:t>
            </a:r>
          </a:p>
          <a:p>
            <a:pPr marL="0" indent="0" algn="l">
              <a:buNone/>
            </a:pPr>
            <a:r>
              <a:rPr lang="en-US" sz="1800" b="1" dirty="0">
                <a:latin typeface="Arial" pitchFamily="34" charset="0"/>
                <a:cs typeface="Arial" pitchFamily="34" charset="0"/>
              </a:rPr>
              <a:t>Med. Phys. 39 (12), December 2012</a:t>
            </a:r>
            <a:endParaRPr lang="he-IL" sz="1800" b="1" dirty="0">
              <a:latin typeface="Arial" pitchFamily="34" charset="0"/>
              <a:cs typeface="Arial" pitchFamily="34" charset="0"/>
            </a:endParaRPr>
          </a:p>
          <a:p>
            <a:pPr lvl="1"/>
            <a:r>
              <a:rPr lang="he-IL" dirty="0">
                <a:latin typeface="Arial" pitchFamily="34" charset="0"/>
                <a:cs typeface="Arial" pitchFamily="34" charset="0"/>
              </a:rPr>
              <a:t>בגישה זו מגיבים (ריאקציה) ולומדים מתוך אירועים אשר קרו בעבר.</a:t>
            </a:r>
          </a:p>
          <a:p>
            <a:pPr lvl="1"/>
            <a:r>
              <a:rPr lang="he-IL" dirty="0">
                <a:latin typeface="Arial" pitchFamily="34" charset="0"/>
                <a:cs typeface="Arial" pitchFamily="34" charset="0"/>
              </a:rPr>
              <a:t>שיטות העבודה בגישה זו:</a:t>
            </a:r>
          </a:p>
          <a:p>
            <a:pPr lvl="2"/>
            <a:r>
              <a:rPr lang="he-IL" sz="2200" dirty="0">
                <a:latin typeface="Arial" pitchFamily="34" charset="0"/>
                <a:cs typeface="Arial" pitchFamily="34" charset="0"/>
              </a:rPr>
              <a:t>ניהול מערכת למידה</a:t>
            </a:r>
          </a:p>
          <a:p>
            <a:pPr lvl="2"/>
            <a:r>
              <a:rPr lang="he-IL" sz="2200" dirty="0">
                <a:latin typeface="Arial" pitchFamily="34" charset="0"/>
                <a:cs typeface="Arial" pitchFamily="34" charset="0"/>
              </a:rPr>
              <a:t>ביצוע תחקיר על אירועים</a:t>
            </a:r>
          </a:p>
          <a:p>
            <a:pPr lvl="2"/>
            <a:r>
              <a:rPr lang="he-IL" sz="2200" dirty="0">
                <a:latin typeface="Arial" pitchFamily="34" charset="0"/>
                <a:cs typeface="Arial" pitchFamily="34" charset="0"/>
              </a:rPr>
              <a:t>ביצוע אנליזת </a:t>
            </a:r>
            <a:r>
              <a:rPr lang="en-US" sz="2200" dirty="0">
                <a:latin typeface="Arial" pitchFamily="34" charset="0"/>
                <a:cs typeface="Arial" pitchFamily="34" charset="0"/>
              </a:rPr>
              <a:t>Root Cause Analysis (RCA)</a:t>
            </a:r>
            <a:endParaRPr lang="he-IL" sz="2200" dirty="0">
              <a:latin typeface="Arial" pitchFamily="34" charset="0"/>
              <a:cs typeface="Arial" pitchFamily="34" charset="0"/>
            </a:endParaRPr>
          </a:p>
          <a:p>
            <a:r>
              <a:rPr lang="he-IL" sz="2800" b="1" dirty="0" smtClean="0">
                <a:latin typeface="Arial" pitchFamily="34" charset="0"/>
                <a:cs typeface="Arial" pitchFamily="34" charset="0"/>
              </a:rPr>
              <a:t>ניהול </a:t>
            </a:r>
            <a:r>
              <a:rPr lang="he-IL" sz="2800" b="1" dirty="0">
                <a:latin typeface="Arial" pitchFamily="34" charset="0"/>
                <a:cs typeface="Arial" pitchFamily="34" charset="0"/>
              </a:rPr>
              <a:t>סיכונים </a:t>
            </a:r>
            <a:r>
              <a:rPr lang="he-IL" sz="2800" b="1" dirty="0" smtClean="0">
                <a:latin typeface="Arial" pitchFamily="34" charset="0"/>
                <a:cs typeface="Arial" pitchFamily="34" charset="0"/>
              </a:rPr>
              <a:t>פרואקטיבי (</a:t>
            </a:r>
            <a:r>
              <a:rPr lang="en-US" sz="2800" b="1" dirty="0" smtClean="0">
                <a:latin typeface="Arial" pitchFamily="34" charset="0"/>
                <a:cs typeface="Arial" pitchFamily="34" charset="0"/>
              </a:rPr>
              <a:t>TG-100</a:t>
            </a:r>
            <a:r>
              <a:rPr lang="he-IL" sz="2800" b="1" dirty="0" smtClean="0">
                <a:latin typeface="Arial" pitchFamily="34" charset="0"/>
                <a:cs typeface="Arial" pitchFamily="34" charset="0"/>
              </a:rPr>
              <a:t>)</a:t>
            </a:r>
          </a:p>
          <a:p>
            <a:pPr marL="0" indent="0" algn="l">
              <a:buNone/>
            </a:pPr>
            <a:r>
              <a:rPr lang="en-US" sz="1800" b="1" dirty="0" smtClean="0">
                <a:latin typeface="Arial" pitchFamily="34" charset="0"/>
                <a:cs typeface="Arial" pitchFamily="34" charset="0"/>
              </a:rPr>
              <a:t>The </a:t>
            </a:r>
            <a:r>
              <a:rPr lang="en-US" sz="1800" b="1" dirty="0">
                <a:latin typeface="Arial" pitchFamily="34" charset="0"/>
                <a:cs typeface="Arial" pitchFamily="34" charset="0"/>
              </a:rPr>
              <a:t>report of Task Group 100 of the AAPM: Application of risk analysis methods to radiation therapy quality </a:t>
            </a:r>
            <a:r>
              <a:rPr lang="en-US" sz="1800" b="1" dirty="0" smtClean="0">
                <a:latin typeface="Arial" pitchFamily="34" charset="0"/>
                <a:cs typeface="Arial" pitchFamily="34" charset="0"/>
              </a:rPr>
              <a:t>management. </a:t>
            </a:r>
          </a:p>
          <a:p>
            <a:pPr marL="0" indent="0" algn="l">
              <a:buNone/>
            </a:pPr>
            <a:r>
              <a:rPr lang="en-US" sz="1800" b="1" dirty="0">
                <a:latin typeface="Arial" pitchFamily="34" charset="0"/>
                <a:cs typeface="Arial" pitchFamily="34" charset="0"/>
              </a:rPr>
              <a:t>Med. Phys. 43 (7), July 2016</a:t>
            </a:r>
            <a:endParaRPr lang="he-IL" sz="1800" b="1" dirty="0">
              <a:latin typeface="Arial" pitchFamily="34" charset="0"/>
              <a:cs typeface="Arial" pitchFamily="34" charset="0"/>
            </a:endParaRPr>
          </a:p>
          <a:p>
            <a:pPr lvl="1"/>
            <a:r>
              <a:rPr lang="he-IL" sz="2400" dirty="0">
                <a:latin typeface="Arial" pitchFamily="34" charset="0"/>
              </a:rPr>
              <a:t>ביצוע אנליזות תהליכיות </a:t>
            </a:r>
          </a:p>
          <a:p>
            <a:pPr lvl="2"/>
            <a:r>
              <a:rPr lang="en-US" sz="2200" dirty="0">
                <a:latin typeface="Arial" pitchFamily="34" charset="0"/>
              </a:rPr>
              <a:t>Process Tree</a:t>
            </a:r>
            <a:endParaRPr lang="he-IL" sz="2200" dirty="0">
              <a:latin typeface="Arial" pitchFamily="34" charset="0"/>
            </a:endParaRPr>
          </a:p>
          <a:p>
            <a:pPr lvl="2"/>
            <a:r>
              <a:rPr lang="en-US" sz="2200" dirty="0" smtClean="0">
                <a:latin typeface="Arial" pitchFamily="34" charset="0"/>
              </a:rPr>
              <a:t> Failure Mode and Effect Analysis (FMEA)</a:t>
            </a:r>
            <a:endParaRPr lang="he-IL" sz="2200" dirty="0" smtClean="0">
              <a:latin typeface="Arial" pitchFamily="34" charset="0"/>
            </a:endParaRPr>
          </a:p>
          <a:p>
            <a:pPr lvl="2"/>
            <a:r>
              <a:rPr lang="en-US" sz="2200" dirty="0" smtClean="0">
                <a:latin typeface="Arial" pitchFamily="34" charset="0"/>
              </a:rPr>
              <a:t>Fault Tree analysis (FTA)</a:t>
            </a:r>
          </a:p>
          <a:p>
            <a:endParaRPr lang="he-IL" b="1" dirty="0">
              <a:latin typeface="Arial" pitchFamily="34" charset="0"/>
              <a:cs typeface="Arial" pitchFamily="34" charset="0"/>
            </a:endParaRPr>
          </a:p>
        </p:txBody>
      </p:sp>
    </p:spTree>
    <p:extLst>
      <p:ext uri="{BB962C8B-B14F-4D97-AF65-F5344CB8AC3E}">
        <p14:creationId xmlns:p14="http://schemas.microsoft.com/office/powerpoint/2010/main" val="149155588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4" end="14"/>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
                                            <p:txEl>
                                              <p:pRg st="16" end="16"/>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
                                            <p:txEl>
                                              <p:pRg st="17" end="17"/>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
                                            <p:txEl>
                                              <p:pRg st="18" end="18"/>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F9CA2-AE74-1642-03E1-0A1E0AD59458}"/>
              </a:ext>
            </a:extLst>
          </p:cNvPr>
          <p:cNvSpPr>
            <a:spLocks noGrp="1"/>
          </p:cNvSpPr>
          <p:nvPr>
            <p:ph type="title"/>
          </p:nvPr>
        </p:nvSpPr>
        <p:spPr>
          <a:xfrm>
            <a:off x="590872" y="-18758"/>
            <a:ext cx="8229600" cy="1143000"/>
          </a:xfrm>
        </p:spPr>
        <p:txBody>
          <a:bodyPr/>
          <a:lstStyle/>
          <a:p>
            <a:r>
              <a:rPr lang="he-IL" err="1"/>
              <a:t>מינוחים - ניהול סיכונים</a:t>
            </a:r>
            <a:endParaRPr lang="LID4096"/>
          </a:p>
        </p:txBody>
      </p:sp>
      <p:sp>
        <p:nvSpPr>
          <p:cNvPr id="3" name="Content Placeholder 2">
            <a:extLst>
              <a:ext uri="{FF2B5EF4-FFF2-40B4-BE49-F238E27FC236}">
                <a16:creationId xmlns:a16="http://schemas.microsoft.com/office/drawing/2014/main" id="{1F993EC9-E256-8725-84C6-B222520F3D32}"/>
              </a:ext>
            </a:extLst>
          </p:cNvPr>
          <p:cNvSpPr>
            <a:spLocks noGrp="1"/>
          </p:cNvSpPr>
          <p:nvPr>
            <p:ph idx="1"/>
          </p:nvPr>
        </p:nvSpPr>
        <p:spPr>
          <a:xfrm>
            <a:off x="0" y="1628800"/>
            <a:ext cx="9144000" cy="4853136"/>
          </a:xfrm>
        </p:spPr>
        <p:txBody>
          <a:bodyPr>
            <a:noAutofit/>
          </a:bodyPr>
          <a:lstStyle/>
          <a:p>
            <a:r>
              <a:rPr lang="he-IL" sz="2400" b="1" dirty="0">
                <a:effectLst>
                  <a:outerShdw blurRad="38100" dist="38100" dir="2700000" algn="tl">
                    <a:srgbClr val="000000">
                      <a:alpha val="43137"/>
                    </a:srgbClr>
                  </a:outerShdw>
                </a:effectLst>
              </a:rPr>
              <a:t>ניהול איכות </a:t>
            </a:r>
            <a:r>
              <a:rPr lang="en-US" sz="2400" b="1" dirty="0">
                <a:effectLst>
                  <a:outerShdw blurRad="38100" dist="38100" dir="2700000" algn="tl">
                    <a:srgbClr val="000000">
                      <a:alpha val="43137"/>
                    </a:srgbClr>
                  </a:outerShdw>
                </a:effectLst>
              </a:rPr>
              <a:t>(QM)</a:t>
            </a:r>
            <a:r>
              <a:rPr lang="he-IL" sz="2400" b="1" dirty="0">
                <a:effectLst>
                  <a:outerShdw blurRad="38100" dist="38100" dir="2700000" algn="tl">
                    <a:srgbClr val="000000">
                      <a:alpha val="43137"/>
                    </a:srgbClr>
                  </a:outerShdw>
                </a:effectLst>
              </a:rPr>
              <a:t> </a:t>
            </a:r>
            <a:r>
              <a:rPr lang="he-IL" sz="2400" dirty="0"/>
              <a:t>הוא קיצור של </a:t>
            </a:r>
            <a:r>
              <a:rPr lang="en-US" sz="2400" b="1" dirty="0">
                <a:effectLst>
                  <a:outerShdw blurRad="38100" dist="38100" dir="2700000" algn="tl">
                    <a:srgbClr val="000000">
                      <a:alpha val="43137"/>
                    </a:srgbClr>
                  </a:outerShdw>
                </a:effectLst>
              </a:rPr>
              <a:t>Quality Management</a:t>
            </a:r>
            <a:r>
              <a:rPr lang="he-IL" sz="2400" b="1" dirty="0">
                <a:effectLst>
                  <a:outerShdw blurRad="38100" dist="38100" dir="2700000" algn="tl">
                    <a:srgbClr val="000000">
                      <a:alpha val="43137"/>
                    </a:srgbClr>
                  </a:outerShdw>
                </a:effectLst>
              </a:rPr>
              <a:t> </a:t>
            </a:r>
          </a:p>
          <a:p>
            <a:pPr lvl="1"/>
            <a:r>
              <a:rPr lang="he-IL" sz="2000" dirty="0"/>
              <a:t>המתייחס לשיטות אשר מטרתם לשפר את איכות התהליכים והמוצרים בארגון. </a:t>
            </a:r>
          </a:p>
          <a:p>
            <a:pPr lvl="1"/>
            <a:r>
              <a:rPr lang="he-IL" sz="2000" dirty="0"/>
              <a:t>מניהול האיכות נעשה </a:t>
            </a:r>
            <a:r>
              <a:rPr lang="he-IL" sz="2000" dirty="0" smtClean="0"/>
              <a:t>שימוש ב- </a:t>
            </a:r>
            <a:r>
              <a:rPr lang="en-GB" sz="2000" dirty="0" smtClean="0">
                <a:solidFill>
                  <a:srgbClr val="111111"/>
                </a:solidFill>
                <a:latin typeface="Roboto" panose="02000000000000000000" pitchFamily="2" charset="0"/>
              </a:rPr>
              <a:t>PDCA</a:t>
            </a:r>
            <a:endParaRPr lang="he-IL" sz="2000" dirty="0" smtClean="0"/>
          </a:p>
          <a:p>
            <a:pPr lvl="2"/>
            <a:r>
              <a:rPr lang="he-IL" sz="1200" dirty="0" smtClean="0"/>
              <a:t>תכנון </a:t>
            </a:r>
            <a:r>
              <a:rPr lang="en-US" sz="1200" dirty="0"/>
              <a:t>(</a:t>
            </a:r>
            <a:r>
              <a:rPr lang="en-US" sz="1200" b="1" dirty="0">
                <a:effectLst>
                  <a:outerShdw blurRad="38100" dist="38100" dir="2700000" algn="tl">
                    <a:srgbClr val="000000">
                      <a:alpha val="43137"/>
                    </a:srgbClr>
                  </a:outerShdw>
                </a:effectLst>
              </a:rPr>
              <a:t>Plan</a:t>
            </a:r>
            <a:r>
              <a:rPr lang="en-US" sz="1200" dirty="0" smtClean="0"/>
              <a:t>)</a:t>
            </a:r>
            <a:endParaRPr lang="he-IL" sz="1200" dirty="0" smtClean="0"/>
          </a:p>
          <a:p>
            <a:pPr lvl="2"/>
            <a:r>
              <a:rPr lang="he-IL" sz="1200" dirty="0" smtClean="0"/>
              <a:t>ביצוע </a:t>
            </a:r>
            <a:r>
              <a:rPr lang="en-US" sz="1200" dirty="0" smtClean="0"/>
              <a:t>(</a:t>
            </a:r>
            <a:r>
              <a:rPr lang="en-US" sz="1200" b="1" dirty="0" smtClean="0">
                <a:effectLst>
                  <a:outerShdw blurRad="38100" dist="38100" dir="2700000" algn="tl">
                    <a:srgbClr val="000000">
                      <a:alpha val="43137"/>
                    </a:srgbClr>
                  </a:outerShdw>
                </a:effectLst>
              </a:rPr>
              <a:t>Do</a:t>
            </a:r>
            <a:r>
              <a:rPr lang="en-US" sz="1200" dirty="0" smtClean="0"/>
              <a:t>)</a:t>
            </a:r>
            <a:endParaRPr lang="he-IL" sz="1200" dirty="0" smtClean="0"/>
          </a:p>
          <a:p>
            <a:pPr lvl="2"/>
            <a:r>
              <a:rPr lang="he-IL" sz="1200" dirty="0" smtClean="0"/>
              <a:t>בקרה </a:t>
            </a:r>
            <a:r>
              <a:rPr lang="en-US" sz="1200" dirty="0" smtClean="0"/>
              <a:t>(</a:t>
            </a:r>
            <a:r>
              <a:rPr lang="en-US" sz="1200" b="1" dirty="0" smtClean="0">
                <a:effectLst>
                  <a:outerShdw blurRad="38100" dist="38100" dir="2700000" algn="tl">
                    <a:srgbClr val="000000">
                      <a:alpha val="43137"/>
                    </a:srgbClr>
                  </a:outerShdw>
                </a:effectLst>
              </a:rPr>
              <a:t>Check</a:t>
            </a:r>
            <a:r>
              <a:rPr lang="en-US" sz="1200" dirty="0" smtClean="0"/>
              <a:t>)</a:t>
            </a:r>
            <a:r>
              <a:rPr lang="he-IL" sz="1200" dirty="0" smtClean="0"/>
              <a:t> </a:t>
            </a:r>
          </a:p>
          <a:p>
            <a:pPr lvl="2"/>
            <a:r>
              <a:rPr lang="he-IL" sz="1200" dirty="0" smtClean="0"/>
              <a:t>ושיפור התהליכים והמוצרים תוך התחשבות בצרכים של המטופלים ובתקנים התקפים </a:t>
            </a:r>
            <a:r>
              <a:rPr lang="en-US" sz="1200" dirty="0" smtClean="0"/>
              <a:t>(</a:t>
            </a:r>
            <a:r>
              <a:rPr lang="en-US" sz="1200" b="1" dirty="0" smtClean="0">
                <a:effectLst>
                  <a:outerShdw blurRad="38100" dist="38100" dir="2700000" algn="tl">
                    <a:srgbClr val="000000">
                      <a:alpha val="43137"/>
                    </a:srgbClr>
                  </a:outerShdw>
                </a:effectLst>
              </a:rPr>
              <a:t>Act</a:t>
            </a:r>
            <a:r>
              <a:rPr lang="en-US" sz="1200" dirty="0" smtClean="0"/>
              <a:t>)</a:t>
            </a:r>
            <a:endParaRPr lang="he-IL" sz="1200" dirty="0" smtClean="0"/>
          </a:p>
          <a:p>
            <a:pPr lvl="1"/>
            <a:r>
              <a:rPr lang="en-US" sz="2000" b="1" dirty="0" smtClean="0">
                <a:solidFill>
                  <a:srgbClr val="111111"/>
                </a:solidFill>
                <a:latin typeface="Calibri" panose="020F0502020204030204" pitchFamily="34" charset="0"/>
                <a:cs typeface="Calibri" panose="020F0502020204030204" pitchFamily="34" charset="0"/>
              </a:rPr>
              <a:t>QM</a:t>
            </a:r>
            <a:r>
              <a:rPr lang="he-IL" sz="2000" dirty="0" smtClean="0">
                <a:solidFill>
                  <a:srgbClr val="111111"/>
                </a:solidFill>
                <a:latin typeface="Roboto" panose="02000000000000000000" pitchFamily="2" charset="0"/>
              </a:rPr>
              <a:t> מתייחס לניהול השירות הכולל של הארגון. </a:t>
            </a:r>
          </a:p>
          <a:p>
            <a:pPr lvl="1"/>
            <a:r>
              <a:rPr lang="he-IL" sz="2000" dirty="0" smtClean="0">
                <a:solidFill>
                  <a:srgbClr val="111111"/>
                </a:solidFill>
                <a:latin typeface="Roboto" panose="02000000000000000000" pitchFamily="2" charset="0"/>
              </a:rPr>
              <a:t>שימוש בגישה של </a:t>
            </a:r>
            <a:r>
              <a:rPr lang="en-US" sz="2000" b="1" dirty="0" smtClean="0">
                <a:solidFill>
                  <a:srgbClr val="111111"/>
                </a:solidFill>
                <a:latin typeface="Roboto" panose="02000000000000000000" pitchFamily="2" charset="0"/>
              </a:rPr>
              <a:t>PDCA</a:t>
            </a:r>
            <a:r>
              <a:rPr lang="he-IL" sz="2000" dirty="0" smtClean="0">
                <a:solidFill>
                  <a:srgbClr val="111111"/>
                </a:solidFill>
                <a:latin typeface="Roboto" panose="02000000000000000000" pitchFamily="2" charset="0"/>
              </a:rPr>
              <a:t> מאפשר שיפור מתמיד של הארגון באמצעות עשיה אקטיבית (ניסוי וטעיה).</a:t>
            </a:r>
            <a:endParaRPr lang="he-IL" sz="2000" dirty="0" smtClean="0"/>
          </a:p>
          <a:p>
            <a:r>
              <a:rPr lang="he-IL" sz="2400" b="1" dirty="0" smtClean="0">
                <a:effectLst>
                  <a:outerShdw blurRad="38100" dist="38100" dir="2700000" algn="tl">
                    <a:srgbClr val="000000">
                      <a:alpha val="43137"/>
                    </a:srgbClr>
                  </a:outerShdw>
                </a:effectLst>
              </a:rPr>
              <a:t>אבטחת </a:t>
            </a:r>
            <a:r>
              <a:rPr lang="he-IL" sz="2400" b="1" dirty="0">
                <a:effectLst>
                  <a:outerShdw blurRad="38100" dist="38100" dir="2700000" algn="tl">
                    <a:srgbClr val="000000">
                      <a:alpha val="43137"/>
                    </a:srgbClr>
                  </a:outerShdw>
                </a:effectLst>
              </a:rPr>
              <a:t>איכות </a:t>
            </a:r>
            <a:r>
              <a:rPr lang="en-US" sz="2400" b="1" dirty="0">
                <a:effectLst>
                  <a:outerShdw blurRad="38100" dist="38100" dir="2700000" algn="tl">
                    <a:srgbClr val="000000">
                      <a:alpha val="43137"/>
                    </a:srgbClr>
                  </a:outerShdw>
                </a:effectLst>
              </a:rPr>
              <a:t>(QA)</a:t>
            </a:r>
            <a:r>
              <a:rPr lang="he-IL" sz="2400" dirty="0"/>
              <a:t> הוא קיצור של </a:t>
            </a:r>
            <a:r>
              <a:rPr lang="en-US" sz="2400" b="1" dirty="0">
                <a:effectLst>
                  <a:outerShdw blurRad="38100" dist="38100" dir="2700000" algn="tl">
                    <a:srgbClr val="000000">
                      <a:alpha val="43137"/>
                    </a:srgbClr>
                  </a:outerShdw>
                </a:effectLst>
              </a:rPr>
              <a:t>Quality Assurance</a:t>
            </a:r>
            <a:r>
              <a:rPr lang="he-IL" sz="2400" dirty="0"/>
              <a:t> </a:t>
            </a:r>
          </a:p>
          <a:p>
            <a:pPr lvl="1"/>
            <a:r>
              <a:rPr lang="he-IL" sz="2000" dirty="0"/>
              <a:t>מתמקד בסדרת פעולות, תהליכים ותרחישים שבאים להבטיח את איכות המוצר או השירות של ארגון. מטרת אבטחת האיכות היא להבטיח שכלל התהליכים מבוצעים באופן תקין ומתאימים לתקנים התקפים ולדרישות הלקוחות. במהלך אבטחת האיכות, מתבצעות בדיקות, ניתוחים ובקרות תוך התחשבות במדדים וסטנדרטים</a:t>
            </a:r>
            <a:r>
              <a:rPr lang="he-IL" sz="2000" dirty="0" smtClean="0"/>
              <a:t>.</a:t>
            </a:r>
            <a:endParaRPr lang="he-IL" sz="2000" dirty="0"/>
          </a:p>
        </p:txBody>
      </p:sp>
      <p:pic>
        <p:nvPicPr>
          <p:cNvPr id="1026" name="Picture 2" descr="תוצאת תמונה עבור PDCA. מידות: 175 על 185. מקור :uvafinance.blogspot.com ">
            <a:extLst>
              <a:ext uri="{FF2B5EF4-FFF2-40B4-BE49-F238E27FC236}">
                <a16:creationId xmlns:a16="http://schemas.microsoft.com/office/drawing/2014/main" id="{90306172-4793-E0E2-CA9F-A08A2F466B6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95536" y="2498576"/>
            <a:ext cx="1472641" cy="15567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016397"/>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F9CA2-AE74-1642-03E1-0A1E0AD59458}"/>
              </a:ext>
            </a:extLst>
          </p:cNvPr>
          <p:cNvSpPr>
            <a:spLocks noGrp="1"/>
          </p:cNvSpPr>
          <p:nvPr>
            <p:ph type="title"/>
          </p:nvPr>
        </p:nvSpPr>
        <p:spPr>
          <a:xfrm>
            <a:off x="590872" y="-18758"/>
            <a:ext cx="8229600" cy="1143000"/>
          </a:xfrm>
        </p:spPr>
        <p:txBody>
          <a:bodyPr/>
          <a:lstStyle/>
          <a:p>
            <a:r>
              <a:rPr lang="he-IL" err="1"/>
              <a:t>מינוחים - ניהול סיכונים</a:t>
            </a:r>
            <a:endParaRPr lang="LID4096"/>
          </a:p>
        </p:txBody>
      </p:sp>
      <p:sp>
        <p:nvSpPr>
          <p:cNvPr id="3" name="Content Placeholder 2">
            <a:extLst>
              <a:ext uri="{FF2B5EF4-FFF2-40B4-BE49-F238E27FC236}">
                <a16:creationId xmlns:a16="http://schemas.microsoft.com/office/drawing/2014/main" id="{1F993EC9-E256-8725-84C6-B222520F3D32}"/>
              </a:ext>
            </a:extLst>
          </p:cNvPr>
          <p:cNvSpPr>
            <a:spLocks noGrp="1"/>
          </p:cNvSpPr>
          <p:nvPr>
            <p:ph idx="1"/>
          </p:nvPr>
        </p:nvSpPr>
        <p:spPr>
          <a:xfrm>
            <a:off x="0" y="1575048"/>
            <a:ext cx="9144000" cy="4906888"/>
          </a:xfrm>
        </p:spPr>
        <p:txBody>
          <a:bodyPr>
            <a:noAutofit/>
          </a:bodyPr>
          <a:lstStyle/>
          <a:p>
            <a:pPr marL="0" indent="0">
              <a:buNone/>
            </a:pPr>
            <a:endParaRPr lang="he-IL" sz="2000" dirty="0"/>
          </a:p>
          <a:p>
            <a:r>
              <a:rPr lang="he-IL" sz="2400" b="1" dirty="0">
                <a:effectLst>
                  <a:outerShdw blurRad="38100" dist="38100" dir="2700000" algn="tl">
                    <a:srgbClr val="000000">
                      <a:alpha val="43137"/>
                    </a:srgbClr>
                  </a:outerShdw>
                </a:effectLst>
              </a:rPr>
              <a:t>בקרת איכות </a:t>
            </a:r>
            <a:r>
              <a:rPr lang="en-US" sz="2400" b="1" dirty="0">
                <a:effectLst>
                  <a:outerShdw blurRad="38100" dist="38100" dir="2700000" algn="tl">
                    <a:srgbClr val="000000">
                      <a:alpha val="43137"/>
                    </a:srgbClr>
                  </a:outerShdw>
                </a:effectLst>
              </a:rPr>
              <a:t>(QC)</a:t>
            </a:r>
            <a:r>
              <a:rPr lang="he-IL" sz="2400" dirty="0"/>
              <a:t> הוא קיצור של </a:t>
            </a:r>
            <a:r>
              <a:rPr lang="en-US" sz="2400" b="1" dirty="0">
                <a:effectLst>
                  <a:outerShdw blurRad="38100" dist="38100" dir="2700000" algn="tl">
                    <a:srgbClr val="000000">
                      <a:alpha val="43137"/>
                    </a:srgbClr>
                  </a:outerShdw>
                </a:effectLst>
              </a:rPr>
              <a:t>Quality Control</a:t>
            </a:r>
            <a:r>
              <a:rPr lang="he-IL" sz="2400" b="1" dirty="0">
                <a:effectLst>
                  <a:outerShdw blurRad="38100" dist="38100" dir="2700000" algn="tl">
                    <a:srgbClr val="000000">
                      <a:alpha val="43137"/>
                    </a:srgbClr>
                  </a:outerShdw>
                </a:effectLst>
              </a:rPr>
              <a:t> </a:t>
            </a:r>
            <a:endParaRPr lang="en-US" sz="2400" b="1" dirty="0">
              <a:effectLst>
                <a:outerShdw blurRad="38100" dist="38100" dir="2700000" algn="tl">
                  <a:srgbClr val="000000">
                    <a:alpha val="43137"/>
                  </a:srgbClr>
                </a:outerShdw>
              </a:effectLst>
            </a:endParaRPr>
          </a:p>
          <a:p>
            <a:pPr lvl="1"/>
            <a:r>
              <a:rPr lang="he-IL" sz="2000" dirty="0"/>
              <a:t>מתמקד בתהליכים ופעולות שבאופן ישיר מתבצעות על מנת לבדוק את איכות המוצר </a:t>
            </a:r>
            <a:r>
              <a:rPr lang="he-IL" sz="2000" dirty="0" smtClean="0"/>
              <a:t>(</a:t>
            </a:r>
            <a:r>
              <a:rPr lang="en-US" sz="2000" dirty="0" smtClean="0"/>
              <a:t>QA</a:t>
            </a:r>
            <a:r>
              <a:rPr lang="he-IL" sz="2000" dirty="0" smtClean="0"/>
              <a:t>) או </a:t>
            </a:r>
            <a:r>
              <a:rPr lang="he-IL" sz="2000" dirty="0"/>
              <a:t>התהליך בסטנדרטים ודרישות האיכות </a:t>
            </a:r>
            <a:r>
              <a:rPr lang="he-IL" sz="2000" dirty="0" smtClean="0"/>
              <a:t>מוגדרות</a:t>
            </a:r>
            <a:r>
              <a:rPr lang="he-IL" sz="2000" dirty="0"/>
              <a:t>. </a:t>
            </a:r>
          </a:p>
          <a:p>
            <a:pPr lvl="1"/>
            <a:r>
              <a:rPr lang="he-IL" sz="2000" dirty="0"/>
              <a:t>בבקרת האיכות, מתבצעות בדיקות, מדידות ובחינות במטרה לאמת ולוודא את התאימות של המוצר או התהליך לתקנים התקפים ולדרישות האיכות. </a:t>
            </a:r>
          </a:p>
          <a:p>
            <a:r>
              <a:rPr lang="he-IL" sz="2400" b="1" dirty="0" smtClean="0">
                <a:effectLst>
                  <a:outerShdw blurRad="38100" dist="38100" dir="2700000" algn="tl">
                    <a:srgbClr val="000000">
                      <a:alpha val="43137"/>
                    </a:srgbClr>
                  </a:outerShdw>
                </a:effectLst>
              </a:rPr>
              <a:t>שיפור האיכות (</a:t>
            </a:r>
            <a:r>
              <a:rPr lang="en-US" sz="2400" b="1" dirty="0" smtClean="0">
                <a:effectLst>
                  <a:outerShdw blurRad="38100" dist="38100" dir="2700000" algn="tl">
                    <a:srgbClr val="000000">
                      <a:alpha val="43137"/>
                    </a:srgbClr>
                  </a:outerShdw>
                </a:effectLst>
              </a:rPr>
              <a:t>QI</a:t>
            </a:r>
            <a:r>
              <a:rPr lang="he-IL" sz="2400" b="1" dirty="0" smtClean="0">
                <a:effectLst>
                  <a:outerShdw blurRad="38100" dist="38100" dir="2700000" algn="tl">
                    <a:srgbClr val="000000">
                      <a:alpha val="43137"/>
                    </a:srgbClr>
                  </a:outerShdw>
                </a:effectLst>
              </a:rPr>
              <a:t>)</a:t>
            </a:r>
            <a:r>
              <a:rPr lang="he-IL" sz="2400" dirty="0" smtClean="0"/>
              <a:t> הוא </a:t>
            </a:r>
            <a:r>
              <a:rPr lang="he-IL" sz="2400" dirty="0"/>
              <a:t>קיצור של </a:t>
            </a:r>
            <a:r>
              <a:rPr lang="en-US" sz="2400" b="1" dirty="0">
                <a:effectLst>
                  <a:outerShdw blurRad="38100" dist="38100" dir="2700000" algn="tl">
                    <a:srgbClr val="000000">
                      <a:alpha val="43137"/>
                    </a:srgbClr>
                  </a:outerShdw>
                </a:effectLst>
              </a:rPr>
              <a:t>Quality Improvement</a:t>
            </a:r>
            <a:r>
              <a:rPr lang="he-IL" sz="2400" b="1" dirty="0">
                <a:effectLst>
                  <a:outerShdw blurRad="38100" dist="38100" dir="2700000" algn="tl">
                    <a:srgbClr val="000000">
                      <a:alpha val="43137"/>
                    </a:srgbClr>
                  </a:outerShdw>
                </a:effectLst>
              </a:rPr>
              <a:t> </a:t>
            </a:r>
          </a:p>
          <a:p>
            <a:pPr lvl="1"/>
            <a:r>
              <a:rPr lang="he-IL" sz="2000" dirty="0"/>
              <a:t>מתמקד בניתוח מדויק של </a:t>
            </a:r>
            <a:r>
              <a:rPr lang="he-IL" sz="2000" dirty="0" smtClean="0"/>
              <a:t>ביצועים ובמאמצים </a:t>
            </a:r>
            <a:r>
              <a:rPr lang="he-IL" sz="2000" dirty="0"/>
              <a:t>לשפר </a:t>
            </a:r>
            <a:r>
              <a:rPr lang="he-IL" sz="2000" dirty="0" smtClean="0"/>
              <a:t>אותם.</a:t>
            </a:r>
            <a:endParaRPr lang="en-US" sz="2000" dirty="0"/>
          </a:p>
          <a:p>
            <a:pPr lvl="1"/>
            <a:r>
              <a:rPr lang="he-IL" sz="2000" dirty="0" smtClean="0"/>
              <a:t>שיפור התהליכים במכון מתבסס </a:t>
            </a:r>
            <a:r>
              <a:rPr lang="he-IL" sz="2000" dirty="0"/>
              <a:t>על איסוף </a:t>
            </a:r>
            <a:r>
              <a:rPr lang="he-IL" sz="2000" dirty="0" smtClean="0"/>
              <a:t>נתונים </a:t>
            </a:r>
            <a:r>
              <a:rPr lang="he-IL" sz="2000" dirty="0"/>
              <a:t>וניתוח </a:t>
            </a:r>
            <a:r>
              <a:rPr lang="he-IL" sz="2000" dirty="0" smtClean="0"/>
              <a:t>הידע הנצבר.</a:t>
            </a:r>
            <a:endParaRPr lang="he-IL" sz="2000" dirty="0"/>
          </a:p>
          <a:p>
            <a:pPr lvl="1"/>
            <a:r>
              <a:rPr lang="en-US" sz="2000" dirty="0" smtClean="0"/>
              <a:t>QI</a:t>
            </a:r>
            <a:r>
              <a:rPr lang="he-IL" sz="2000" dirty="0" smtClean="0"/>
              <a:t> מבוסס </a:t>
            </a:r>
            <a:r>
              <a:rPr lang="he-IL" sz="2000" dirty="0"/>
              <a:t>על גישה מערכתית </a:t>
            </a:r>
            <a:r>
              <a:rPr lang="he-IL" sz="2000" dirty="0" smtClean="0"/>
              <a:t>לשיפור. </a:t>
            </a:r>
            <a:r>
              <a:rPr lang="he-IL" sz="2000" dirty="0"/>
              <a:t>על ידי בחינת המערכות והתהליכים ועל קביעת השיפורים הנדרשים באזורי הפעילות. </a:t>
            </a:r>
            <a:endParaRPr lang="en-US" sz="2000" dirty="0"/>
          </a:p>
        </p:txBody>
      </p:sp>
    </p:spTree>
    <p:extLst>
      <p:ext uri="{BB962C8B-B14F-4D97-AF65-F5344CB8AC3E}">
        <p14:creationId xmlns:p14="http://schemas.microsoft.com/office/powerpoint/2010/main" val="4032890279"/>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57200" y="274638"/>
            <a:ext cx="8229600" cy="1143000"/>
          </a:xfrm>
        </p:spPr>
        <p:txBody>
          <a:bodyPr anchor="ctr">
            <a:normAutofit/>
          </a:bodyPr>
          <a:lstStyle/>
          <a:p>
            <a:r>
              <a:rPr lang="he-IL" dirty="0"/>
              <a:t>גישות לניהול סיכונים </a:t>
            </a:r>
            <a:r>
              <a:rPr lang="he-IL" dirty="0" err="1"/>
              <a:t>ריאקטיבי</a:t>
            </a:r>
            <a:endParaRPr lang="he-IL" dirty="0"/>
          </a:p>
        </p:txBody>
      </p:sp>
      <p:pic>
        <p:nvPicPr>
          <p:cNvPr id="5" name="מציין מיקום תוכן 1" descr="A diagram of a cause&#10;&#10;Description automatically generated with low confidence">
            <a:extLst>
              <a:ext uri="{FF2B5EF4-FFF2-40B4-BE49-F238E27FC236}">
                <a16:creationId xmlns:a16="http://schemas.microsoft.com/office/drawing/2014/main" id="{20315F45-8486-EA65-4356-E2C60ECEC8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328" y="1477469"/>
            <a:ext cx="3586954" cy="2301841"/>
          </a:xfrm>
          <a:prstGeom prst="rect">
            <a:avLst/>
          </a:prstGeom>
          <a:noFill/>
        </p:spPr>
      </p:pic>
      <p:sp>
        <p:nvSpPr>
          <p:cNvPr id="3" name="מציין מיקום תוכן 2"/>
          <p:cNvSpPr>
            <a:spLocks noGrp="1"/>
          </p:cNvSpPr>
          <p:nvPr>
            <p:ph sz="half" idx="2"/>
          </p:nvPr>
        </p:nvSpPr>
        <p:spPr>
          <a:xfrm>
            <a:off x="4067944" y="1600200"/>
            <a:ext cx="4618856" cy="4525963"/>
          </a:xfrm>
        </p:spPr>
        <p:txBody>
          <a:bodyPr>
            <a:normAutofit lnSpcReduction="10000"/>
          </a:bodyPr>
          <a:lstStyle/>
          <a:p>
            <a:pPr>
              <a:lnSpc>
                <a:spcPct val="90000"/>
              </a:lnSpc>
            </a:pPr>
            <a:r>
              <a:rPr lang="he-IL" b="1" dirty="0" smtClean="0"/>
              <a:t>ביצוע אנליזת סיבת שורש </a:t>
            </a:r>
            <a:r>
              <a:rPr lang="en-US" b="1" dirty="0"/>
              <a:t>Root Cause </a:t>
            </a:r>
            <a:r>
              <a:rPr lang="en-US" b="1" dirty="0" smtClean="0"/>
              <a:t>Analysis and Action (RCA</a:t>
            </a:r>
            <a:r>
              <a:rPr lang="en-US" b="1" baseline="30000" dirty="0" smtClean="0"/>
              <a:t>2</a:t>
            </a:r>
            <a:r>
              <a:rPr lang="en-US" b="1" dirty="0" smtClean="0"/>
              <a:t>)</a:t>
            </a:r>
            <a:endParaRPr lang="he-IL" b="1" dirty="0"/>
          </a:p>
          <a:p>
            <a:pPr>
              <a:lnSpc>
                <a:spcPct val="90000"/>
              </a:lnSpc>
            </a:pPr>
            <a:r>
              <a:rPr lang="he-IL" b="1" dirty="0"/>
              <a:t>בשיטה זו </a:t>
            </a:r>
            <a:r>
              <a:rPr lang="he-IL" b="1" dirty="0" smtClean="0"/>
              <a:t>מתחילים </a:t>
            </a:r>
            <a:r>
              <a:rPr lang="he-IL" b="1" dirty="0"/>
              <a:t>מהתוצאה ושואלים למה האירוע קרה.</a:t>
            </a:r>
          </a:p>
          <a:p>
            <a:pPr>
              <a:lnSpc>
                <a:spcPct val="90000"/>
              </a:lnSpc>
            </a:pPr>
            <a:r>
              <a:rPr lang="he-IL" b="1" dirty="0"/>
              <a:t>הסיבות לאירוע לרוב אינן סיבות השורש ולכם שואלים שוב עד קבלה של סיבה שורשית.</a:t>
            </a:r>
          </a:p>
          <a:p>
            <a:pPr>
              <a:lnSpc>
                <a:spcPct val="90000"/>
              </a:lnSpc>
            </a:pPr>
            <a:r>
              <a:rPr lang="he-IL" b="1" dirty="0"/>
              <a:t>לשיטה זו גם קוראים </a:t>
            </a:r>
            <a:r>
              <a:rPr lang="en-US" b="1" dirty="0"/>
              <a:t>5 Whys</a:t>
            </a:r>
            <a:endParaRPr lang="he-IL" b="1" dirty="0"/>
          </a:p>
        </p:txBody>
      </p:sp>
      <p:pic>
        <p:nvPicPr>
          <p:cNvPr id="6" name="מציין מיקום תוכן 1">
            <a:extLst>
              <a:ext uri="{FF2B5EF4-FFF2-40B4-BE49-F238E27FC236}">
                <a16:creationId xmlns:a16="http://schemas.microsoft.com/office/drawing/2014/main" id="{0713B0BC-D2F8-CA1A-278A-122DBF80F1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6328" y="3863463"/>
            <a:ext cx="3586954" cy="2301841"/>
          </a:xfrm>
          <a:prstGeom prst="rect">
            <a:avLst/>
          </a:prstGeom>
        </p:spPr>
      </p:pic>
    </p:spTree>
    <p:extLst>
      <p:ext uri="{BB962C8B-B14F-4D97-AF65-F5344CB8AC3E}">
        <p14:creationId xmlns:p14="http://schemas.microsoft.com/office/powerpoint/2010/main" val="412308678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2000"/>
                                        <p:tgtEl>
                                          <p:spTgt spid="6"/>
                                        </p:tgtEl>
                                      </p:cBhvr>
                                    </p:animEffect>
                                  </p:childTnLst>
                                </p:cTn>
                              </p:par>
                              <p:par>
                                <p:cTn id="8" presetID="22" presetClass="entr" presetSubtype="8"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20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C0A8F-9878-85B2-DE72-1D6EAE7C8310}"/>
              </a:ext>
            </a:extLst>
          </p:cNvPr>
          <p:cNvSpPr>
            <a:spLocks noGrp="1"/>
          </p:cNvSpPr>
          <p:nvPr>
            <p:ph type="title"/>
          </p:nvPr>
        </p:nvSpPr>
        <p:spPr/>
        <p:txBody>
          <a:bodyPr>
            <a:normAutofit/>
          </a:bodyPr>
          <a:lstStyle/>
          <a:p>
            <a:r>
              <a:rPr lang="he-IL" sz="4400" b="1" dirty="0">
                <a:latin typeface="Arial" pitchFamily="34" charset="0"/>
                <a:cs typeface="Arial" pitchFamily="34" charset="0"/>
              </a:rPr>
              <a:t>דוגמא </a:t>
            </a:r>
            <a:r>
              <a:rPr lang="he-IL" b="1" dirty="0">
                <a:latin typeface="Arial" pitchFamily="34" charset="0"/>
                <a:cs typeface="Arial" pitchFamily="34" charset="0"/>
              </a:rPr>
              <a:t>לאנליזת סיבת שורש </a:t>
            </a:r>
            <a:endParaRPr lang="LID4096" dirty="0"/>
          </a:p>
        </p:txBody>
      </p:sp>
      <p:sp>
        <p:nvSpPr>
          <p:cNvPr id="3" name="Content Placeholder 2">
            <a:extLst>
              <a:ext uri="{FF2B5EF4-FFF2-40B4-BE49-F238E27FC236}">
                <a16:creationId xmlns:a16="http://schemas.microsoft.com/office/drawing/2014/main" id="{E1D34B77-4B74-3C47-5738-63F82D40EEF4}"/>
              </a:ext>
            </a:extLst>
          </p:cNvPr>
          <p:cNvSpPr>
            <a:spLocks noGrp="1"/>
          </p:cNvSpPr>
          <p:nvPr>
            <p:ph idx="1"/>
          </p:nvPr>
        </p:nvSpPr>
        <p:spPr>
          <a:xfrm>
            <a:off x="457200" y="1600201"/>
            <a:ext cx="8229600" cy="4205064"/>
          </a:xfrm>
        </p:spPr>
        <p:txBody>
          <a:bodyPr>
            <a:normAutofit lnSpcReduction="10000"/>
          </a:bodyPr>
          <a:lstStyle/>
          <a:p>
            <a:r>
              <a:rPr lang="he-IL" sz="2800" dirty="0" smtClean="0"/>
              <a:t>בפלאק משתמשים על מנת להקרין גידולים בעיניים.</a:t>
            </a:r>
          </a:p>
          <a:p>
            <a:r>
              <a:rPr lang="he-IL" sz="2800" dirty="0" smtClean="0"/>
              <a:t>הפלאק עשוי מכיפה מתכתית אשר מכילה מקורות קרינת ביטא או </a:t>
            </a:r>
            <a:r>
              <a:rPr lang="he-IL" sz="2800" dirty="0" err="1" smtClean="0"/>
              <a:t>גאמא</a:t>
            </a:r>
            <a:r>
              <a:rPr lang="he-IL" sz="2800" dirty="0" smtClean="0"/>
              <a:t>.</a:t>
            </a:r>
          </a:p>
          <a:p>
            <a:r>
              <a:rPr lang="he-IL" sz="2800" dirty="0" smtClean="0"/>
              <a:t>את הפלאק מחדירים בפרוצדורה ניתוחית לתוך העין.</a:t>
            </a:r>
          </a:p>
          <a:p>
            <a:r>
              <a:rPr lang="he-IL" sz="2800" dirty="0" smtClean="0"/>
              <a:t>בכדי למקם את הפלאק בעין ולפני שמכניסים את המקור משתמשים בפלאק מדומה עשוי מפלסטיק שקוף אשר באמצעותו מסמנים את המיקום הרצוי לפלאק האקטיבי.</a:t>
            </a:r>
          </a:p>
          <a:p>
            <a:r>
              <a:rPr lang="he-IL" sz="2800" dirty="0" smtClean="0"/>
              <a:t>הפלאק מוחדר לעין ומקרין אותו למשך זמן מוגדר מראש עד קבלת המנה הרצויה ואז מסירים אותו.</a:t>
            </a:r>
          </a:p>
        </p:txBody>
      </p:sp>
      <p:pic>
        <p:nvPicPr>
          <p:cNvPr id="4" name="תמונה 4">
            <a:extLst>
              <a:ext uri="{FF2B5EF4-FFF2-40B4-BE49-F238E27FC236}">
                <a16:creationId xmlns:a16="http://schemas.microsoft.com/office/drawing/2014/main" id="{1E83DDEB-A6B0-CCC4-AFAB-53975972E0E5}"/>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25290" b="77992" l="13833" r="87500">
                        <a14:foregroundMark x1="67333" y1="38417" x2="67333" y2="38417"/>
                        <a14:foregroundMark x1="20000" y1="69884" x2="20000" y2="69884"/>
                        <a14:foregroundMark x1="58833" y1="36680" x2="58833" y2="36680"/>
                        <a14:foregroundMark x1="76833" y1="48263" x2="76833" y2="48263"/>
                        <a14:foregroundMark x1="87500" y1="45946" x2="87500" y2="45946"/>
                        <a14:foregroundMark x1="72667" y1="44015" x2="72667" y2="44015"/>
                        <a14:foregroundMark x1="61500" y1="40347" x2="61500" y2="40347"/>
                      </a14:backgroundRemoval>
                    </a14:imgEffect>
                  </a14:imgLayer>
                </a14:imgProps>
              </a:ext>
              <a:ext uri="{28A0092B-C50C-407E-A947-70E740481C1C}">
                <a14:useLocalDpi xmlns:a14="http://schemas.microsoft.com/office/drawing/2010/main" val="0"/>
              </a:ext>
            </a:extLst>
          </a:blip>
          <a:srcRect l="5205" t="18800" r="7155" b="15370"/>
          <a:stretch>
            <a:fillRect/>
          </a:stretch>
        </p:blipFill>
        <p:spPr>
          <a:xfrm flipH="1">
            <a:off x="457200" y="4930360"/>
            <a:ext cx="2602632" cy="1687768"/>
          </a:xfrm>
          <a:prstGeom prst="rect">
            <a:avLst/>
          </a:prstGeom>
        </p:spPr>
      </p:pic>
    </p:spTree>
    <p:extLst>
      <p:ext uri="{BB962C8B-B14F-4D97-AF65-F5344CB8AC3E}">
        <p14:creationId xmlns:p14="http://schemas.microsoft.com/office/powerpoint/2010/main" val="71833640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C0A8F-9878-85B2-DE72-1D6EAE7C8310}"/>
              </a:ext>
            </a:extLst>
          </p:cNvPr>
          <p:cNvSpPr>
            <a:spLocks noGrp="1"/>
          </p:cNvSpPr>
          <p:nvPr>
            <p:ph type="title"/>
          </p:nvPr>
        </p:nvSpPr>
        <p:spPr/>
        <p:txBody>
          <a:bodyPr>
            <a:normAutofit/>
          </a:bodyPr>
          <a:lstStyle/>
          <a:p>
            <a:r>
              <a:rPr lang="he-IL" b="1" dirty="0">
                <a:latin typeface="Arial" pitchFamily="34" charset="0"/>
                <a:cs typeface="Arial" pitchFamily="34" charset="0"/>
              </a:rPr>
              <a:t>דוגמא לאנליזת סיבת שורש </a:t>
            </a:r>
            <a:endParaRPr lang="LID4096" dirty="0"/>
          </a:p>
        </p:txBody>
      </p:sp>
      <p:sp>
        <p:nvSpPr>
          <p:cNvPr id="3" name="Content Placeholder 2">
            <a:extLst>
              <a:ext uri="{FF2B5EF4-FFF2-40B4-BE49-F238E27FC236}">
                <a16:creationId xmlns:a16="http://schemas.microsoft.com/office/drawing/2014/main" id="{E1D34B77-4B74-3C47-5738-63F82D40EEF4}"/>
              </a:ext>
            </a:extLst>
          </p:cNvPr>
          <p:cNvSpPr>
            <a:spLocks noGrp="1"/>
          </p:cNvSpPr>
          <p:nvPr>
            <p:ph idx="1"/>
          </p:nvPr>
        </p:nvSpPr>
        <p:spPr>
          <a:xfrm>
            <a:off x="2862940" y="1380226"/>
            <a:ext cx="6084483" cy="5001101"/>
          </a:xfrm>
        </p:spPr>
        <p:txBody>
          <a:bodyPr>
            <a:noAutofit/>
          </a:bodyPr>
          <a:lstStyle/>
          <a:p>
            <a:pPr marL="514350" indent="-514350" algn="r">
              <a:buFont typeface="+mj-lt"/>
              <a:buAutoNum type="arabicPeriod"/>
            </a:pPr>
            <a:r>
              <a:rPr lang="he-IL" sz="2400" dirty="0"/>
              <a:t>טיפול ראשון באמצעות הפלאק עבר בהצלחה.</a:t>
            </a:r>
            <a:endParaRPr lang="en-US" sz="2400" dirty="0"/>
          </a:p>
          <a:p>
            <a:pPr marL="514350" indent="-514350" algn="r">
              <a:buFont typeface="+mj-lt"/>
              <a:buAutoNum type="arabicPeriod"/>
            </a:pPr>
            <a:r>
              <a:rPr lang="he-IL" sz="2400" dirty="0" smtClean="0"/>
              <a:t>לאחר הוצאת הפלאק, הוא חוזר </a:t>
            </a:r>
            <a:r>
              <a:rPr lang="he-IL" sz="2400" dirty="0"/>
              <a:t>למחלקה לפיזיקה.</a:t>
            </a:r>
          </a:p>
          <a:p>
            <a:pPr marL="514350" indent="-514350" algn="r">
              <a:buFont typeface="+mj-lt"/>
              <a:buAutoNum type="arabicPeriod"/>
            </a:pPr>
            <a:r>
              <a:rPr lang="he-IL" sz="2400" dirty="0"/>
              <a:t>הפלאק </a:t>
            </a:r>
            <a:r>
              <a:rPr lang="he-IL" sz="2400" dirty="0" smtClean="0"/>
              <a:t>הוכנס </a:t>
            </a:r>
            <a:r>
              <a:rPr lang="he-IL" sz="2400" dirty="0"/>
              <a:t>למיכל פלסטיק וחוזר למצודה שלו. </a:t>
            </a:r>
            <a:r>
              <a:rPr lang="he-IL" sz="2400" i="1" u="sng" dirty="0"/>
              <a:t>לפי הוראות היצרן הפלאק צריך להיות בתוך המצודה בלבד. מיכל הפלסטיק היה שייך למקורות המדומים.</a:t>
            </a:r>
          </a:p>
          <a:p>
            <a:pPr marL="514350" indent="-514350" algn="r">
              <a:buFont typeface="+mj-lt"/>
              <a:buAutoNum type="arabicPeriod"/>
            </a:pPr>
            <a:r>
              <a:rPr lang="he-IL" sz="2400" dirty="0"/>
              <a:t>יום לפני מועד טיפול שני, מתבקש פיזיקאי לבדוק את הפלאק ולוודא שהמקור הוא הנכון ולשלוח אותו לעיקור</a:t>
            </a:r>
            <a:r>
              <a:rPr lang="he-IL" sz="2400" dirty="0" smtClean="0"/>
              <a:t>.</a:t>
            </a:r>
            <a:endParaRPr lang="he-IL" sz="2400" dirty="0"/>
          </a:p>
        </p:txBody>
      </p:sp>
      <p:pic>
        <p:nvPicPr>
          <p:cNvPr id="4" name="תמונה 4">
            <a:extLst>
              <a:ext uri="{FF2B5EF4-FFF2-40B4-BE49-F238E27FC236}">
                <a16:creationId xmlns:a16="http://schemas.microsoft.com/office/drawing/2014/main" id="{1E83DDEB-A6B0-CCC4-AFAB-53975972E0E5}"/>
              </a:ext>
            </a:extLst>
          </p:cNvPr>
          <p:cNvPicPr>
            <a:picLocks noChangeAspect="1"/>
          </p:cNvPicPr>
          <p:nvPr/>
        </p:nvPicPr>
        <p:blipFill>
          <a:blip r:embed="rId2" cstate="print">
            <a:extLst>
              <a:ext uri="{BEBA8EAE-BF5A-486C-A8C5-ECC9F3942E4B}">
                <a14:imgProps xmlns:a14="http://schemas.microsoft.com/office/drawing/2010/main">
                  <a14:imgLayer r:embed="rId3">
                    <a14:imgEffect>
                      <a14:backgroundRemoval t="25290" b="77992" l="13833" r="87500">
                        <a14:foregroundMark x1="67333" y1="38417" x2="67333" y2="38417"/>
                        <a14:foregroundMark x1="20000" y1="69884" x2="20000" y2="69884"/>
                        <a14:foregroundMark x1="58833" y1="36680" x2="58833" y2="36680"/>
                        <a14:foregroundMark x1="76833" y1="48263" x2="76833" y2="48263"/>
                        <a14:foregroundMark x1="87500" y1="45946" x2="87500" y2="45946"/>
                        <a14:foregroundMark x1="72667" y1="44015" x2="72667" y2="44015"/>
                        <a14:foregroundMark x1="61500" y1="40347" x2="61500" y2="40347"/>
                      </a14:backgroundRemoval>
                    </a14:imgEffect>
                  </a14:imgLayer>
                </a14:imgProps>
              </a:ext>
              <a:ext uri="{28A0092B-C50C-407E-A947-70E740481C1C}">
                <a14:useLocalDpi xmlns:a14="http://schemas.microsoft.com/office/drawing/2010/main" val="0"/>
              </a:ext>
            </a:extLst>
          </a:blip>
          <a:srcRect l="5205" t="18800" r="7155" b="15370"/>
          <a:stretch>
            <a:fillRect/>
          </a:stretch>
        </p:blipFill>
        <p:spPr>
          <a:xfrm>
            <a:off x="251520" y="1166188"/>
            <a:ext cx="1800200" cy="1167403"/>
          </a:xfrm>
          <a:prstGeom prst="rect">
            <a:avLst/>
          </a:prstGeom>
        </p:spPr>
      </p:pic>
      <p:pic>
        <p:nvPicPr>
          <p:cNvPr id="5" name="תמונה 4"/>
          <p:cNvPicPr>
            <a:picLocks noChangeAspect="1"/>
          </p:cNvPicPr>
          <p:nvPr/>
        </p:nvPicPr>
        <p:blipFill>
          <a:blip r:embed="rId4"/>
          <a:stretch>
            <a:fillRect/>
          </a:stretch>
        </p:blipFill>
        <p:spPr>
          <a:xfrm>
            <a:off x="179512" y="4152304"/>
            <a:ext cx="1680187" cy="2016224"/>
          </a:xfrm>
          <a:prstGeom prst="rect">
            <a:avLst/>
          </a:prstGeom>
        </p:spPr>
      </p:pic>
      <p:pic>
        <p:nvPicPr>
          <p:cNvPr id="6" name="תמונה 5"/>
          <p:cNvPicPr>
            <a:picLocks noChangeAspect="1"/>
          </p:cNvPicPr>
          <p:nvPr/>
        </p:nvPicPr>
        <p:blipFill>
          <a:blip r:embed="rId5"/>
          <a:stretch>
            <a:fillRect/>
          </a:stretch>
        </p:blipFill>
        <p:spPr>
          <a:xfrm>
            <a:off x="2339752" y="5131227"/>
            <a:ext cx="1868113" cy="1656184"/>
          </a:xfrm>
          <a:prstGeom prst="rect">
            <a:avLst/>
          </a:prstGeom>
        </p:spPr>
      </p:pic>
      <p:pic>
        <p:nvPicPr>
          <p:cNvPr id="7" name="תמונה 6"/>
          <p:cNvPicPr>
            <a:picLocks noChangeAspect="1"/>
          </p:cNvPicPr>
          <p:nvPr/>
        </p:nvPicPr>
        <p:blipFill>
          <a:blip r:embed="rId6"/>
          <a:stretch>
            <a:fillRect/>
          </a:stretch>
        </p:blipFill>
        <p:spPr>
          <a:xfrm>
            <a:off x="179512" y="2333591"/>
            <a:ext cx="2571502" cy="1728192"/>
          </a:xfrm>
          <a:prstGeom prst="rect">
            <a:avLst/>
          </a:prstGeom>
        </p:spPr>
      </p:pic>
      <p:pic>
        <p:nvPicPr>
          <p:cNvPr id="8" name="תמונה 7"/>
          <p:cNvPicPr>
            <a:picLocks noChangeAspect="1"/>
          </p:cNvPicPr>
          <p:nvPr/>
        </p:nvPicPr>
        <p:blipFill>
          <a:blip r:embed="rId7"/>
          <a:stretch>
            <a:fillRect/>
          </a:stretch>
        </p:blipFill>
        <p:spPr>
          <a:xfrm>
            <a:off x="4327690" y="5509381"/>
            <a:ext cx="3228975" cy="1276350"/>
          </a:xfrm>
          <a:prstGeom prst="rect">
            <a:avLst/>
          </a:prstGeom>
        </p:spPr>
      </p:pic>
    </p:spTree>
    <p:extLst>
      <p:ext uri="{BB962C8B-B14F-4D97-AF65-F5344CB8AC3E}">
        <p14:creationId xmlns:p14="http://schemas.microsoft.com/office/powerpoint/2010/main" val="3718247514"/>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C0A8F-9878-85B2-DE72-1D6EAE7C8310}"/>
              </a:ext>
            </a:extLst>
          </p:cNvPr>
          <p:cNvSpPr>
            <a:spLocks noGrp="1"/>
          </p:cNvSpPr>
          <p:nvPr>
            <p:ph type="title"/>
          </p:nvPr>
        </p:nvSpPr>
        <p:spPr/>
        <p:txBody>
          <a:bodyPr>
            <a:normAutofit/>
          </a:bodyPr>
          <a:lstStyle/>
          <a:p>
            <a:r>
              <a:rPr lang="he-IL" b="1" dirty="0">
                <a:latin typeface="Arial" pitchFamily="34" charset="0"/>
                <a:cs typeface="Arial" pitchFamily="34" charset="0"/>
              </a:rPr>
              <a:t>דוגמא לאנליזת סיבת שורש </a:t>
            </a:r>
            <a:endParaRPr lang="LID4096" dirty="0"/>
          </a:p>
        </p:txBody>
      </p:sp>
      <p:sp>
        <p:nvSpPr>
          <p:cNvPr id="3" name="Content Placeholder 2">
            <a:extLst>
              <a:ext uri="{FF2B5EF4-FFF2-40B4-BE49-F238E27FC236}">
                <a16:creationId xmlns:a16="http://schemas.microsoft.com/office/drawing/2014/main" id="{E1D34B77-4B74-3C47-5738-63F82D40EEF4}"/>
              </a:ext>
            </a:extLst>
          </p:cNvPr>
          <p:cNvSpPr>
            <a:spLocks noGrp="1"/>
          </p:cNvSpPr>
          <p:nvPr>
            <p:ph idx="1"/>
          </p:nvPr>
        </p:nvSpPr>
        <p:spPr>
          <a:xfrm>
            <a:off x="2987824" y="1844825"/>
            <a:ext cx="5698976" cy="3528392"/>
          </a:xfrm>
        </p:spPr>
        <p:txBody>
          <a:bodyPr>
            <a:normAutofit/>
          </a:bodyPr>
          <a:lstStyle/>
          <a:p>
            <a:pPr marL="514350" indent="-514350" algn="r">
              <a:buFont typeface="+mj-lt"/>
              <a:buAutoNum type="arabicPeriod" startAt="5"/>
            </a:pPr>
            <a:r>
              <a:rPr lang="he-IL" sz="2400" dirty="0" smtClean="0"/>
              <a:t>הפיזיקאי </a:t>
            </a:r>
            <a:r>
              <a:rPr lang="he-IL" sz="2400" dirty="0"/>
              <a:t>בודק חזותית את המקור דרך מיכל הפלסטיק מוודא את סוג המקור ושולח אותו לעיקור.</a:t>
            </a:r>
          </a:p>
          <a:p>
            <a:pPr marL="514350" indent="-514350" algn="r">
              <a:buFont typeface="+mj-lt"/>
              <a:buAutoNum type="arabicPeriod" startAt="5"/>
            </a:pPr>
            <a:r>
              <a:rPr lang="he-IL" sz="2400" dirty="0"/>
              <a:t>הרופא המטפל פותח את הפלאק תוך כדי ניתוח כאשר המטופל </a:t>
            </a:r>
            <a:r>
              <a:rPr lang="he-IL" sz="2400" dirty="0" smtClean="0"/>
              <a:t>בהרדמה </a:t>
            </a:r>
            <a:r>
              <a:rPr lang="he-IL" sz="2400" dirty="0"/>
              <a:t>ומגלה שהפלאק תקוע בתוך מיכל פלסטיק מומס.</a:t>
            </a:r>
          </a:p>
          <a:p>
            <a:pPr marL="514350" indent="-514350" algn="r">
              <a:buFont typeface="+mj-lt"/>
              <a:buAutoNum type="arabicPeriod" startAt="5"/>
            </a:pPr>
            <a:r>
              <a:rPr lang="he-IL" sz="2400" dirty="0"/>
              <a:t>הרופא משחרר בהצלחה את הפלאק והניתוח ממשיך כמתוכנן.</a:t>
            </a:r>
          </a:p>
          <a:p>
            <a:endParaRPr lang="LID4096" sz="2400" dirty="0"/>
          </a:p>
        </p:txBody>
      </p:sp>
      <p:pic>
        <p:nvPicPr>
          <p:cNvPr id="4" name="תמונה 4">
            <a:extLst>
              <a:ext uri="{FF2B5EF4-FFF2-40B4-BE49-F238E27FC236}">
                <a16:creationId xmlns:a16="http://schemas.microsoft.com/office/drawing/2014/main" id="{1E83DDEB-A6B0-CCC4-AFAB-53975972E0E5}"/>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25290" b="77992" l="13833" r="87500">
                        <a14:foregroundMark x1="67333" y1="38417" x2="67333" y2="38417"/>
                        <a14:foregroundMark x1="20000" y1="69884" x2="20000" y2="69884"/>
                        <a14:foregroundMark x1="58833" y1="36680" x2="58833" y2="36680"/>
                        <a14:foregroundMark x1="76833" y1="48263" x2="76833" y2="48263"/>
                        <a14:foregroundMark x1="87500" y1="45946" x2="87500" y2="45946"/>
                        <a14:foregroundMark x1="72667" y1="44015" x2="72667" y2="44015"/>
                        <a14:foregroundMark x1="61500" y1="40347" x2="61500" y2="40347"/>
                      </a14:backgroundRemoval>
                    </a14:imgEffect>
                  </a14:imgLayer>
                </a14:imgProps>
              </a:ext>
              <a:ext uri="{28A0092B-C50C-407E-A947-70E740481C1C}">
                <a14:useLocalDpi xmlns:a14="http://schemas.microsoft.com/office/drawing/2010/main" val="0"/>
              </a:ext>
            </a:extLst>
          </a:blip>
          <a:srcRect l="5205" t="18800" r="7155" b="15370"/>
          <a:stretch>
            <a:fillRect/>
          </a:stretch>
        </p:blipFill>
        <p:spPr>
          <a:xfrm>
            <a:off x="179512" y="980728"/>
            <a:ext cx="2251881" cy="1460311"/>
          </a:xfrm>
          <a:prstGeom prst="rect">
            <a:avLst/>
          </a:prstGeom>
        </p:spPr>
      </p:pic>
      <p:pic>
        <p:nvPicPr>
          <p:cNvPr id="5" name="תמונה 4"/>
          <p:cNvPicPr>
            <a:picLocks noChangeAspect="1"/>
          </p:cNvPicPr>
          <p:nvPr/>
        </p:nvPicPr>
        <p:blipFill>
          <a:blip r:embed="rId4"/>
          <a:stretch>
            <a:fillRect/>
          </a:stretch>
        </p:blipFill>
        <p:spPr>
          <a:xfrm>
            <a:off x="206118" y="4462676"/>
            <a:ext cx="2592288" cy="1555372"/>
          </a:xfrm>
          <a:prstGeom prst="rect">
            <a:avLst/>
          </a:prstGeom>
        </p:spPr>
      </p:pic>
      <p:pic>
        <p:nvPicPr>
          <p:cNvPr id="6" name="תמונה 5"/>
          <p:cNvPicPr>
            <a:picLocks noChangeAspect="1"/>
          </p:cNvPicPr>
          <p:nvPr/>
        </p:nvPicPr>
        <p:blipFill>
          <a:blip r:embed="rId5"/>
          <a:stretch>
            <a:fillRect/>
          </a:stretch>
        </p:blipFill>
        <p:spPr>
          <a:xfrm>
            <a:off x="206118" y="2564904"/>
            <a:ext cx="2619375" cy="1743075"/>
          </a:xfrm>
          <a:prstGeom prst="rect">
            <a:avLst/>
          </a:prstGeom>
        </p:spPr>
      </p:pic>
      <p:pic>
        <p:nvPicPr>
          <p:cNvPr id="7" name="תמונה 6"/>
          <p:cNvPicPr>
            <a:picLocks noChangeAspect="1"/>
          </p:cNvPicPr>
          <p:nvPr/>
        </p:nvPicPr>
        <p:blipFill>
          <a:blip r:embed="rId6"/>
          <a:stretch>
            <a:fillRect/>
          </a:stretch>
        </p:blipFill>
        <p:spPr>
          <a:xfrm>
            <a:off x="2979566" y="4810226"/>
            <a:ext cx="2096489" cy="1813816"/>
          </a:xfrm>
          <a:prstGeom prst="rect">
            <a:avLst/>
          </a:prstGeom>
        </p:spPr>
      </p:pic>
    </p:spTree>
    <p:extLst>
      <p:ext uri="{BB962C8B-B14F-4D97-AF65-F5344CB8AC3E}">
        <p14:creationId xmlns:p14="http://schemas.microsoft.com/office/powerpoint/2010/main" val="3948001781"/>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3839D-607C-3E23-29B3-48F668CC1D81}"/>
              </a:ext>
            </a:extLst>
          </p:cNvPr>
          <p:cNvSpPr>
            <a:spLocks noGrp="1"/>
          </p:cNvSpPr>
          <p:nvPr>
            <p:ph type="title"/>
          </p:nvPr>
        </p:nvSpPr>
        <p:spPr>
          <a:xfrm>
            <a:off x="457200" y="102457"/>
            <a:ext cx="8229600" cy="1243038"/>
          </a:xfrm>
        </p:spPr>
        <p:txBody>
          <a:bodyPr>
            <a:normAutofit/>
          </a:bodyPr>
          <a:lstStyle/>
          <a:p>
            <a:r>
              <a:rPr lang="he-IL" b="1" dirty="0">
                <a:latin typeface="Arial" pitchFamily="34" charset="0"/>
                <a:cs typeface="Arial" pitchFamily="34" charset="0"/>
              </a:rPr>
              <a:t>דוגמא לאנליזת סיבת שורש </a:t>
            </a:r>
            <a:endParaRPr lang="LID4096" dirty="0"/>
          </a:p>
        </p:txBody>
      </p:sp>
      <p:sp>
        <p:nvSpPr>
          <p:cNvPr id="6" name="TextBox 5">
            <a:extLst>
              <a:ext uri="{FF2B5EF4-FFF2-40B4-BE49-F238E27FC236}">
                <a16:creationId xmlns:a16="http://schemas.microsoft.com/office/drawing/2014/main" id="{1578FE82-7B06-B353-B9A6-70710265F52E}"/>
              </a:ext>
            </a:extLst>
          </p:cNvPr>
          <p:cNvSpPr txBox="1"/>
          <p:nvPr/>
        </p:nvSpPr>
        <p:spPr>
          <a:xfrm>
            <a:off x="2661899" y="1340768"/>
            <a:ext cx="3960440" cy="369332"/>
          </a:xfrm>
          <a:prstGeom prst="rect">
            <a:avLst/>
          </a:prstGeom>
          <a:solidFill>
            <a:schemeClr val="bg1"/>
          </a:solidFill>
          <a:ln>
            <a:solidFill>
              <a:schemeClr val="accent6">
                <a:lumMod val="75000"/>
              </a:schemeClr>
            </a:solidFill>
          </a:ln>
        </p:spPr>
        <p:txBody>
          <a:bodyPr wrap="square" rtlCol="1">
            <a:spAutoFit/>
          </a:bodyPr>
          <a:lstStyle/>
          <a:p>
            <a:pPr algn="ctr" rtl="0"/>
            <a:r>
              <a:rPr lang="he-IL"/>
              <a:t>פלסטיק מומס עוטף את הפלאק</a:t>
            </a:r>
          </a:p>
        </p:txBody>
      </p:sp>
      <p:sp>
        <p:nvSpPr>
          <p:cNvPr id="7" name="TextBox 6">
            <a:extLst>
              <a:ext uri="{FF2B5EF4-FFF2-40B4-BE49-F238E27FC236}">
                <a16:creationId xmlns:a16="http://schemas.microsoft.com/office/drawing/2014/main" id="{0D5504A3-D8A4-0684-1135-42C76D7D5B0F}"/>
              </a:ext>
            </a:extLst>
          </p:cNvPr>
          <p:cNvSpPr txBox="1"/>
          <p:nvPr/>
        </p:nvSpPr>
        <p:spPr>
          <a:xfrm>
            <a:off x="7588083" y="1331476"/>
            <a:ext cx="768159" cy="369332"/>
          </a:xfrm>
          <a:prstGeom prst="rect">
            <a:avLst/>
          </a:prstGeom>
          <a:noFill/>
        </p:spPr>
        <p:txBody>
          <a:bodyPr wrap="none" rtlCol="1">
            <a:spAutoFit/>
          </a:bodyPr>
          <a:lstStyle/>
          <a:p>
            <a:r>
              <a:rPr lang="he-IL" dirty="0"/>
              <a:t>הבעיה</a:t>
            </a:r>
          </a:p>
        </p:txBody>
      </p:sp>
      <p:sp>
        <p:nvSpPr>
          <p:cNvPr id="8" name="TextBox 7">
            <a:extLst>
              <a:ext uri="{FF2B5EF4-FFF2-40B4-BE49-F238E27FC236}">
                <a16:creationId xmlns:a16="http://schemas.microsoft.com/office/drawing/2014/main" id="{590D41D9-B49B-15B9-CBB8-46BE82DBCFA8}"/>
              </a:ext>
            </a:extLst>
          </p:cNvPr>
          <p:cNvSpPr txBox="1"/>
          <p:nvPr/>
        </p:nvSpPr>
        <p:spPr>
          <a:xfrm>
            <a:off x="7622547" y="1772816"/>
            <a:ext cx="699230" cy="369332"/>
          </a:xfrm>
          <a:prstGeom prst="rect">
            <a:avLst/>
          </a:prstGeom>
          <a:noFill/>
        </p:spPr>
        <p:txBody>
          <a:bodyPr wrap="none" rtlCol="1">
            <a:spAutoFit/>
          </a:bodyPr>
          <a:lstStyle/>
          <a:p>
            <a:r>
              <a:rPr lang="he-IL"/>
              <a:t>למה?</a:t>
            </a:r>
          </a:p>
        </p:txBody>
      </p:sp>
      <p:sp>
        <p:nvSpPr>
          <p:cNvPr id="9" name="TextBox 8">
            <a:extLst>
              <a:ext uri="{FF2B5EF4-FFF2-40B4-BE49-F238E27FC236}">
                <a16:creationId xmlns:a16="http://schemas.microsoft.com/office/drawing/2014/main" id="{BEABED57-5D4F-3292-F10C-CE0BCA6FC27E}"/>
              </a:ext>
            </a:extLst>
          </p:cNvPr>
          <p:cNvSpPr txBox="1"/>
          <p:nvPr/>
        </p:nvSpPr>
        <p:spPr>
          <a:xfrm>
            <a:off x="2404205" y="2129039"/>
            <a:ext cx="2164017" cy="738664"/>
          </a:xfrm>
          <a:prstGeom prst="rect">
            <a:avLst/>
          </a:prstGeom>
          <a:solidFill>
            <a:schemeClr val="bg1"/>
          </a:solidFill>
          <a:ln>
            <a:solidFill>
              <a:schemeClr val="accent6">
                <a:lumMod val="75000"/>
              </a:schemeClr>
            </a:solidFill>
          </a:ln>
        </p:spPr>
        <p:txBody>
          <a:bodyPr wrap="square" rtlCol="1">
            <a:spAutoFit/>
          </a:bodyPr>
          <a:lstStyle/>
          <a:p>
            <a:pPr algn="r"/>
            <a:r>
              <a:rPr lang="he-IL" sz="1400" dirty="0"/>
              <a:t>פיזיקאי הכניס את הפלאק לאחר הטיפול </a:t>
            </a:r>
            <a:r>
              <a:rPr lang="he-IL" sz="1400" dirty="0" smtClean="0"/>
              <a:t>הראשון למיכל </a:t>
            </a:r>
            <a:r>
              <a:rPr lang="he-IL" sz="1400" dirty="0"/>
              <a:t>פלסטיק</a:t>
            </a:r>
          </a:p>
        </p:txBody>
      </p:sp>
      <p:sp>
        <p:nvSpPr>
          <p:cNvPr id="10" name="TextBox 9">
            <a:extLst>
              <a:ext uri="{FF2B5EF4-FFF2-40B4-BE49-F238E27FC236}">
                <a16:creationId xmlns:a16="http://schemas.microsoft.com/office/drawing/2014/main" id="{CD88595A-B445-076B-224C-4837586B027C}"/>
              </a:ext>
            </a:extLst>
          </p:cNvPr>
          <p:cNvSpPr txBox="1"/>
          <p:nvPr/>
        </p:nvSpPr>
        <p:spPr>
          <a:xfrm>
            <a:off x="4712239" y="2138383"/>
            <a:ext cx="2092009" cy="738664"/>
          </a:xfrm>
          <a:prstGeom prst="rect">
            <a:avLst/>
          </a:prstGeom>
          <a:solidFill>
            <a:schemeClr val="bg1"/>
          </a:solidFill>
          <a:ln>
            <a:solidFill>
              <a:schemeClr val="accent6">
                <a:lumMod val="75000"/>
              </a:schemeClr>
            </a:solidFill>
          </a:ln>
        </p:spPr>
        <p:txBody>
          <a:bodyPr wrap="square" rtlCol="1">
            <a:spAutoFit/>
          </a:bodyPr>
          <a:lstStyle/>
          <a:p>
            <a:pPr rtl="0"/>
            <a:r>
              <a:rPr lang="he-IL" sz="1400"/>
              <a:t>פיזיקאי שבדק את המקור לא הוציא את הפלאק מהפלסטיק</a:t>
            </a:r>
          </a:p>
        </p:txBody>
      </p:sp>
      <p:sp>
        <p:nvSpPr>
          <p:cNvPr id="12" name="TextBox 11">
            <a:extLst>
              <a:ext uri="{FF2B5EF4-FFF2-40B4-BE49-F238E27FC236}">
                <a16:creationId xmlns:a16="http://schemas.microsoft.com/office/drawing/2014/main" id="{73C2A175-4718-F990-37A8-4B9387D312DE}"/>
              </a:ext>
            </a:extLst>
          </p:cNvPr>
          <p:cNvSpPr txBox="1"/>
          <p:nvPr/>
        </p:nvSpPr>
        <p:spPr>
          <a:xfrm>
            <a:off x="2395361" y="3092692"/>
            <a:ext cx="2164017" cy="1169551"/>
          </a:xfrm>
          <a:prstGeom prst="rect">
            <a:avLst/>
          </a:prstGeom>
          <a:solidFill>
            <a:schemeClr val="bg1"/>
          </a:solidFill>
          <a:ln>
            <a:solidFill>
              <a:schemeClr val="accent6">
                <a:lumMod val="75000"/>
              </a:schemeClr>
            </a:solidFill>
          </a:ln>
        </p:spPr>
        <p:txBody>
          <a:bodyPr wrap="square" rtlCol="1">
            <a:spAutoFit/>
          </a:bodyPr>
          <a:lstStyle/>
          <a:p>
            <a:pPr algn="r"/>
            <a:r>
              <a:rPr lang="he-IL" sz="1400">
                <a:latin typeface="Symbol" panose="05050102010706020507" pitchFamily="18" charset="2"/>
              </a:rPr>
              <a:t>המצודה עשויה מעופרת ולכן קרינת </a:t>
            </a:r>
            <a:r>
              <a:rPr lang="en-US" sz="1400">
                <a:latin typeface="Symbol" panose="05050102010706020507" pitchFamily="18" charset="2"/>
              </a:rPr>
              <a:t>b</a:t>
            </a:r>
            <a:r>
              <a:rPr lang="he-IL" sz="1400">
                <a:latin typeface="Symbol" panose="05050102010706020507" pitchFamily="18" charset="2"/>
              </a:rPr>
              <a:t> מייצרת קרינת רנטגן. הפיזיקאי הכניס את המקור למיכל הפלסטיק כדי למנוע קרינת רנטגן.</a:t>
            </a:r>
          </a:p>
        </p:txBody>
      </p:sp>
      <p:sp>
        <p:nvSpPr>
          <p:cNvPr id="13" name="TextBox 12">
            <a:extLst>
              <a:ext uri="{FF2B5EF4-FFF2-40B4-BE49-F238E27FC236}">
                <a16:creationId xmlns:a16="http://schemas.microsoft.com/office/drawing/2014/main" id="{9A7E6446-A3D1-CC7B-5D08-62C287B79FB1}"/>
              </a:ext>
            </a:extLst>
          </p:cNvPr>
          <p:cNvSpPr txBox="1"/>
          <p:nvPr/>
        </p:nvSpPr>
        <p:spPr>
          <a:xfrm>
            <a:off x="4712240" y="3338408"/>
            <a:ext cx="2092008" cy="738664"/>
          </a:xfrm>
          <a:prstGeom prst="rect">
            <a:avLst/>
          </a:prstGeom>
          <a:solidFill>
            <a:schemeClr val="bg1"/>
          </a:solidFill>
          <a:ln>
            <a:solidFill>
              <a:schemeClr val="accent6">
                <a:lumMod val="75000"/>
              </a:schemeClr>
            </a:solidFill>
          </a:ln>
        </p:spPr>
        <p:txBody>
          <a:bodyPr wrap="square" rtlCol="1">
            <a:spAutoFit/>
          </a:bodyPr>
          <a:lstStyle/>
          <a:p>
            <a:pPr algn="r"/>
            <a:r>
              <a:rPr lang="he-IL" sz="1400"/>
              <a:t>הפיזיקאי שבדק את המקור לא הבין שהמקור לא אמור להיות בתוך המיכל פלסטיק</a:t>
            </a:r>
          </a:p>
        </p:txBody>
      </p:sp>
      <p:sp>
        <p:nvSpPr>
          <p:cNvPr id="15" name="TextBox 14">
            <a:extLst>
              <a:ext uri="{FF2B5EF4-FFF2-40B4-BE49-F238E27FC236}">
                <a16:creationId xmlns:a16="http://schemas.microsoft.com/office/drawing/2014/main" id="{67804951-36D9-BB3E-B23F-83F56165F49C}"/>
              </a:ext>
            </a:extLst>
          </p:cNvPr>
          <p:cNvSpPr txBox="1"/>
          <p:nvPr/>
        </p:nvSpPr>
        <p:spPr>
          <a:xfrm>
            <a:off x="2263967" y="4505647"/>
            <a:ext cx="4756305" cy="400110"/>
          </a:xfrm>
          <a:prstGeom prst="rect">
            <a:avLst/>
          </a:prstGeom>
          <a:solidFill>
            <a:schemeClr val="bg1"/>
          </a:solidFill>
          <a:ln>
            <a:solidFill>
              <a:schemeClr val="accent6">
                <a:lumMod val="75000"/>
              </a:schemeClr>
            </a:solidFill>
          </a:ln>
        </p:spPr>
        <p:txBody>
          <a:bodyPr wrap="square" rtlCol="1">
            <a:spAutoFit/>
          </a:bodyPr>
          <a:lstStyle/>
          <a:p>
            <a:pPr algn="ctr"/>
            <a:r>
              <a:rPr lang="he-IL" sz="2000" b="1"/>
              <a:t>הכשרה לקויה עבור פרוצדורה חדשה</a:t>
            </a:r>
          </a:p>
        </p:txBody>
      </p:sp>
      <p:cxnSp>
        <p:nvCxnSpPr>
          <p:cNvPr id="16" name="מחבר מרפקי 16">
            <a:extLst>
              <a:ext uri="{FF2B5EF4-FFF2-40B4-BE49-F238E27FC236}">
                <a16:creationId xmlns:a16="http://schemas.microsoft.com/office/drawing/2014/main" id="{42F88E89-0D0D-A375-1253-F2C81B27596B}"/>
              </a:ext>
            </a:extLst>
          </p:cNvPr>
          <p:cNvCxnSpPr>
            <a:stCxn id="6" idx="2"/>
            <a:endCxn id="9" idx="0"/>
          </p:cNvCxnSpPr>
          <p:nvPr/>
        </p:nvCxnSpPr>
        <p:spPr>
          <a:xfrm rot="5400000">
            <a:off x="3854698" y="1341617"/>
            <a:ext cx="418939" cy="1155905"/>
          </a:xfrm>
          <a:prstGeom prst="bentConnector3">
            <a:avLst>
              <a:gd name="adj1" fmla="val 35586"/>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מחבר מרפקי 20">
            <a:extLst>
              <a:ext uri="{FF2B5EF4-FFF2-40B4-BE49-F238E27FC236}">
                <a16:creationId xmlns:a16="http://schemas.microsoft.com/office/drawing/2014/main" id="{55836799-9CCC-FC3A-4869-E1EBEAC0C51A}"/>
              </a:ext>
            </a:extLst>
          </p:cNvPr>
          <p:cNvCxnSpPr>
            <a:endCxn id="10" idx="0"/>
          </p:cNvCxnSpPr>
          <p:nvPr/>
        </p:nvCxnSpPr>
        <p:spPr>
          <a:xfrm>
            <a:off x="4642120" y="1855233"/>
            <a:ext cx="1116124" cy="283150"/>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מחבר חץ ישר 23">
            <a:extLst>
              <a:ext uri="{FF2B5EF4-FFF2-40B4-BE49-F238E27FC236}">
                <a16:creationId xmlns:a16="http://schemas.microsoft.com/office/drawing/2014/main" id="{BD66BD7F-7E85-4A78-0CFF-988F7CD52315}"/>
              </a:ext>
            </a:extLst>
          </p:cNvPr>
          <p:cNvCxnSpPr>
            <a:stCxn id="9" idx="2"/>
            <a:endCxn id="12" idx="0"/>
          </p:cNvCxnSpPr>
          <p:nvPr/>
        </p:nvCxnSpPr>
        <p:spPr>
          <a:xfrm flipH="1">
            <a:off x="3477370" y="2867703"/>
            <a:ext cx="8844" cy="22498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מחבר חץ ישר 25">
            <a:extLst>
              <a:ext uri="{FF2B5EF4-FFF2-40B4-BE49-F238E27FC236}">
                <a16:creationId xmlns:a16="http://schemas.microsoft.com/office/drawing/2014/main" id="{F31A5040-22F4-2388-DE80-1E7CF5F3A6F4}"/>
              </a:ext>
            </a:extLst>
          </p:cNvPr>
          <p:cNvCxnSpPr>
            <a:stCxn id="10" idx="2"/>
            <a:endCxn id="13" idx="0"/>
          </p:cNvCxnSpPr>
          <p:nvPr/>
        </p:nvCxnSpPr>
        <p:spPr>
          <a:xfrm>
            <a:off x="5758244" y="2877047"/>
            <a:ext cx="0" cy="46136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מחבר מרפקי 27">
            <a:extLst>
              <a:ext uri="{FF2B5EF4-FFF2-40B4-BE49-F238E27FC236}">
                <a16:creationId xmlns:a16="http://schemas.microsoft.com/office/drawing/2014/main" id="{C9A9CB76-13AC-0DE0-E328-F348ED30CDCA}"/>
              </a:ext>
            </a:extLst>
          </p:cNvPr>
          <p:cNvCxnSpPr>
            <a:stCxn id="12" idx="2"/>
            <a:endCxn id="15" idx="0"/>
          </p:cNvCxnSpPr>
          <p:nvPr/>
        </p:nvCxnSpPr>
        <p:spPr>
          <a:xfrm rot="16200000" flipH="1">
            <a:off x="3938043" y="3801570"/>
            <a:ext cx="243404" cy="1164750"/>
          </a:xfrm>
          <a:prstGeom prst="bentConnector3">
            <a:avLst>
              <a:gd name="adj1" fmla="val 35824"/>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מחבר מרפקי 29">
            <a:extLst>
              <a:ext uri="{FF2B5EF4-FFF2-40B4-BE49-F238E27FC236}">
                <a16:creationId xmlns:a16="http://schemas.microsoft.com/office/drawing/2014/main" id="{EEDFFCA2-2154-D481-9636-49BA17D2B99E}"/>
              </a:ext>
            </a:extLst>
          </p:cNvPr>
          <p:cNvCxnSpPr>
            <a:stCxn id="13" idx="2"/>
            <a:endCxn id="15" idx="0"/>
          </p:cNvCxnSpPr>
          <p:nvPr/>
        </p:nvCxnSpPr>
        <p:spPr>
          <a:xfrm rot="5400000">
            <a:off x="4985895" y="3733297"/>
            <a:ext cx="428575" cy="1116124"/>
          </a:xfrm>
          <a:prstGeom prst="bentConnector3">
            <a:avLst>
              <a:gd name="adj1" fmla="val 62077"/>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9E5F9AE5-6420-E85C-85F0-BC787151D5C8}"/>
              </a:ext>
            </a:extLst>
          </p:cNvPr>
          <p:cNvSpPr txBox="1"/>
          <p:nvPr/>
        </p:nvSpPr>
        <p:spPr>
          <a:xfrm>
            <a:off x="7248246" y="5579948"/>
            <a:ext cx="1447832" cy="369332"/>
          </a:xfrm>
          <a:prstGeom prst="rect">
            <a:avLst/>
          </a:prstGeom>
          <a:solidFill>
            <a:schemeClr val="accent3">
              <a:lumMod val="40000"/>
              <a:lumOff val="60000"/>
            </a:schemeClr>
          </a:solidFill>
        </p:spPr>
        <p:txBody>
          <a:bodyPr wrap="none" rtlCol="1">
            <a:spAutoFit/>
          </a:bodyPr>
          <a:lstStyle/>
          <a:p>
            <a:pPr algn="l" rtl="0"/>
            <a:r>
              <a:rPr lang="he-IL"/>
              <a:t>פעולה מתקנת</a:t>
            </a:r>
          </a:p>
        </p:txBody>
      </p:sp>
      <p:sp>
        <p:nvSpPr>
          <p:cNvPr id="23" name="TextBox 22">
            <a:extLst>
              <a:ext uri="{FF2B5EF4-FFF2-40B4-BE49-F238E27FC236}">
                <a16:creationId xmlns:a16="http://schemas.microsoft.com/office/drawing/2014/main" id="{A820C176-BF95-09AF-3374-1803A8AD089C}"/>
              </a:ext>
            </a:extLst>
          </p:cNvPr>
          <p:cNvSpPr txBox="1"/>
          <p:nvPr/>
        </p:nvSpPr>
        <p:spPr>
          <a:xfrm>
            <a:off x="2263966" y="5100680"/>
            <a:ext cx="4756305" cy="1323439"/>
          </a:xfrm>
          <a:prstGeom prst="rect">
            <a:avLst/>
          </a:prstGeom>
          <a:solidFill>
            <a:schemeClr val="bg1"/>
          </a:solidFill>
          <a:ln>
            <a:solidFill>
              <a:schemeClr val="accent6">
                <a:lumMod val="75000"/>
              </a:schemeClr>
            </a:solidFill>
          </a:ln>
        </p:spPr>
        <p:txBody>
          <a:bodyPr wrap="square" rtlCol="1">
            <a:spAutoFit/>
          </a:bodyPr>
          <a:lstStyle/>
          <a:p>
            <a:pPr marL="457200" indent="-457200" algn="r">
              <a:buFont typeface="+mj-lt"/>
              <a:buAutoNum type="arabicPeriod"/>
            </a:pPr>
            <a:r>
              <a:rPr lang="he-IL" sz="2000" b="1"/>
              <a:t>יש להכשיר את הצוות לפני ביצוע הפרוצדורה</a:t>
            </a:r>
            <a:endParaRPr lang="en-US" sz="2000" b="1"/>
          </a:p>
          <a:p>
            <a:pPr marL="457200" indent="-457200" algn="r">
              <a:buFont typeface="+mj-lt"/>
              <a:buAutoNum type="arabicPeriod"/>
            </a:pPr>
            <a:r>
              <a:rPr lang="en-US" sz="2000" b="1"/>
              <a:t> </a:t>
            </a:r>
            <a:r>
              <a:rPr lang="he-IL" sz="2000" b="1"/>
              <a:t>יש לייצר נוהל עבודה כתוב לפני ביצוע פרוצדורה ראשונה. </a:t>
            </a:r>
          </a:p>
        </p:txBody>
      </p:sp>
      <p:cxnSp>
        <p:nvCxnSpPr>
          <p:cNvPr id="24" name="מחבר חץ ישר 35">
            <a:extLst>
              <a:ext uri="{FF2B5EF4-FFF2-40B4-BE49-F238E27FC236}">
                <a16:creationId xmlns:a16="http://schemas.microsoft.com/office/drawing/2014/main" id="{D76EA6D2-1746-9125-9F3F-A3922DF93414}"/>
              </a:ext>
            </a:extLst>
          </p:cNvPr>
          <p:cNvCxnSpPr>
            <a:stCxn id="15" idx="2"/>
            <a:endCxn id="23" idx="0"/>
          </p:cNvCxnSpPr>
          <p:nvPr/>
        </p:nvCxnSpPr>
        <p:spPr>
          <a:xfrm flipH="1">
            <a:off x="4642119" y="4905757"/>
            <a:ext cx="1" cy="19492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5D391690-BDED-4FFE-861D-FEBF4C3DB088}"/>
              </a:ext>
            </a:extLst>
          </p:cNvPr>
          <p:cNvSpPr txBox="1"/>
          <p:nvPr/>
        </p:nvSpPr>
        <p:spPr>
          <a:xfrm>
            <a:off x="7622547" y="2960501"/>
            <a:ext cx="699230" cy="369332"/>
          </a:xfrm>
          <a:prstGeom prst="rect">
            <a:avLst/>
          </a:prstGeom>
          <a:noFill/>
        </p:spPr>
        <p:txBody>
          <a:bodyPr wrap="none" rtlCol="1">
            <a:spAutoFit/>
          </a:bodyPr>
          <a:lstStyle/>
          <a:p>
            <a:r>
              <a:rPr lang="he-IL"/>
              <a:t>למה?</a:t>
            </a:r>
          </a:p>
        </p:txBody>
      </p:sp>
      <p:sp>
        <p:nvSpPr>
          <p:cNvPr id="32" name="TextBox 31">
            <a:extLst>
              <a:ext uri="{FF2B5EF4-FFF2-40B4-BE49-F238E27FC236}">
                <a16:creationId xmlns:a16="http://schemas.microsoft.com/office/drawing/2014/main" id="{16196446-3189-5561-4414-8FADA186FE85}"/>
              </a:ext>
            </a:extLst>
          </p:cNvPr>
          <p:cNvSpPr txBox="1"/>
          <p:nvPr/>
        </p:nvSpPr>
        <p:spPr>
          <a:xfrm>
            <a:off x="7622547" y="4077072"/>
            <a:ext cx="699230" cy="369332"/>
          </a:xfrm>
          <a:prstGeom prst="rect">
            <a:avLst/>
          </a:prstGeom>
          <a:noFill/>
        </p:spPr>
        <p:txBody>
          <a:bodyPr wrap="none" rtlCol="1">
            <a:spAutoFit/>
          </a:bodyPr>
          <a:lstStyle/>
          <a:p>
            <a:r>
              <a:rPr lang="he-IL"/>
              <a:t>למה?</a:t>
            </a:r>
          </a:p>
        </p:txBody>
      </p:sp>
      <p:pic>
        <p:nvPicPr>
          <p:cNvPr id="3" name="תמונה 4">
            <a:extLst>
              <a:ext uri="{FF2B5EF4-FFF2-40B4-BE49-F238E27FC236}">
                <a16:creationId xmlns:a16="http://schemas.microsoft.com/office/drawing/2014/main" id="{84313E13-1681-514F-7567-A8093E322B82}"/>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25290" b="77992" l="13833" r="87500">
                        <a14:foregroundMark x1="67333" y1="38417" x2="67333" y2="38417"/>
                        <a14:foregroundMark x1="20000" y1="69884" x2="20000" y2="69884"/>
                        <a14:foregroundMark x1="58833" y1="36680" x2="58833" y2="36680"/>
                        <a14:foregroundMark x1="76833" y1="48263" x2="76833" y2="48263"/>
                        <a14:foregroundMark x1="87500" y1="45946" x2="87500" y2="45946"/>
                        <a14:foregroundMark x1="72667" y1="44015" x2="72667" y2="44015"/>
                        <a14:foregroundMark x1="61500" y1="40347" x2="61500" y2="40347"/>
                      </a14:backgroundRemoval>
                    </a14:imgEffect>
                  </a14:imgLayer>
                </a14:imgProps>
              </a:ext>
              <a:ext uri="{28A0092B-C50C-407E-A947-70E740481C1C}">
                <a14:useLocalDpi xmlns:a14="http://schemas.microsoft.com/office/drawing/2010/main" val="0"/>
              </a:ext>
            </a:extLst>
          </a:blip>
          <a:srcRect l="5205" t="18800" r="7155" b="15370"/>
          <a:stretch>
            <a:fillRect/>
          </a:stretch>
        </p:blipFill>
        <p:spPr>
          <a:xfrm>
            <a:off x="251520" y="1124744"/>
            <a:ext cx="2251881" cy="1460311"/>
          </a:xfrm>
          <a:prstGeom prst="rect">
            <a:avLst/>
          </a:prstGeom>
        </p:spPr>
      </p:pic>
      <p:sp>
        <p:nvSpPr>
          <p:cNvPr id="28" name="TextBox 27">
            <a:extLst>
              <a:ext uri="{FF2B5EF4-FFF2-40B4-BE49-F238E27FC236}">
                <a16:creationId xmlns:a16="http://schemas.microsoft.com/office/drawing/2014/main" id="{0D5504A3-D8A4-0684-1135-42C76D7D5B0F}"/>
              </a:ext>
            </a:extLst>
          </p:cNvPr>
          <p:cNvSpPr txBox="1"/>
          <p:nvPr/>
        </p:nvSpPr>
        <p:spPr>
          <a:xfrm>
            <a:off x="7297939" y="4536425"/>
            <a:ext cx="1348447" cy="369332"/>
          </a:xfrm>
          <a:prstGeom prst="rect">
            <a:avLst/>
          </a:prstGeom>
          <a:noFill/>
        </p:spPr>
        <p:txBody>
          <a:bodyPr wrap="none" rtlCol="1">
            <a:spAutoFit/>
          </a:bodyPr>
          <a:lstStyle/>
          <a:p>
            <a:r>
              <a:rPr lang="he-IL" dirty="0" smtClean="0"/>
              <a:t>סיבת השורש</a:t>
            </a:r>
            <a:endParaRPr lang="he-IL" dirty="0"/>
          </a:p>
        </p:txBody>
      </p:sp>
    </p:spTree>
    <p:extLst>
      <p:ext uri="{BB962C8B-B14F-4D97-AF65-F5344CB8AC3E}">
        <p14:creationId xmlns:p14="http://schemas.microsoft.com/office/powerpoint/2010/main" val="276262190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dur="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dur="1"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dur="1"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dur="1"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dur="1"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p:stCondLst>
                              <p:cond delay="0"/>
                            </p:stCondLst>
                            <p:childTnLst>
                              <p:par>
                                <p:cTn id="21" presetID="1" presetClass="entr" presetSubtype="0" dur="1"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p:stCondLst>
                              <p:cond delay="0"/>
                            </p:stCondLst>
                            <p:childTnLst>
                              <p:par>
                                <p:cTn id="25" presetID="1" presetClass="entr" presetSubtype="0" dur="1"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p:stCondLst>
                              <p:cond delay="0"/>
                            </p:stCondLst>
                            <p:childTnLst>
                              <p:par>
                                <p:cTn id="29" presetID="1" presetClass="entr" presetSubtype="0" dur="1"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dur="1"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dur="1"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p:stCondLst>
                              <p:cond delay="0"/>
                            </p:stCondLst>
                            <p:childTnLst>
                              <p:par>
                                <p:cTn id="37" presetID="1" presetClass="entr" presetSubtype="0" dur="1"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p:stCondLst>
                              <p:cond delay="0"/>
                            </p:stCondLst>
                            <p:childTnLst>
                              <p:par>
                                <p:cTn id="41" presetID="1" presetClass="entr" presetSubtype="0" dur="1"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p:stCondLst>
                              <p:cond delay="0"/>
                            </p:stCondLst>
                            <p:childTnLst>
                              <p:par>
                                <p:cTn id="45" presetID="1" presetClass="entr" presetSubtype="0" dur="1"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par>
                                <p:cTn id="47" presetID="1" presetClass="entr" presetSubtype="0" dur="1" fill="hold" nodeType="with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par>
                                <p:cTn id="49" presetID="1" presetClass="entr" presetSubtype="0" dur="1" fill="hold" grpId="0" nodeType="with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p:stCondLst>
                              <p:cond delay="0"/>
                            </p:stCondLst>
                            <p:childTnLst>
                              <p:par>
                                <p:cTn id="53" presetID="1" presetClass="entr" presetSubtype="0" dur="1"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dur="1" fill="hold" grpId="0" nodeType="clickEffect">
                                  <p:stCondLst>
                                    <p:cond delay="0"/>
                                  </p:stCondLst>
                                  <p:childTnLst>
                                    <p:set>
                                      <p:cBhvr>
                                        <p:cTn id="58" dur="1" fill="hold">
                                          <p:stCondLst>
                                            <p:cond delay="0"/>
                                          </p:stCondLst>
                                        </p:cTn>
                                        <p:tgtEl>
                                          <p:spTgt spid="28"/>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p:stCondLst>
                              <p:cond delay="0"/>
                            </p:stCondLst>
                            <p:childTnLst>
                              <p:par>
                                <p:cTn id="61" presetID="1" presetClass="entr" presetSubtype="0" dur="1" fill="hold" nodeType="clickEffect">
                                  <p:stCondLst>
                                    <p:cond delay="0"/>
                                  </p:stCondLst>
                                  <p:childTnLst>
                                    <p:set>
                                      <p:cBhvr>
                                        <p:cTn id="62" dur="1" fill="hold">
                                          <p:stCondLst>
                                            <p:cond delay="0"/>
                                          </p:stCondLst>
                                        </p:cTn>
                                        <p:tgtEl>
                                          <p:spTgt spid="24"/>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p:stCondLst>
                              <p:cond delay="0"/>
                            </p:stCondLst>
                            <p:childTnLst>
                              <p:par>
                                <p:cTn id="65" presetID="1" presetClass="entr" presetSubtype="0" dur="1" fill="hold" grpId="0" nodeType="clickEffect">
                                  <p:stCondLst>
                                    <p:cond delay="0"/>
                                  </p:stCondLst>
                                  <p:childTnLst>
                                    <p:set>
                                      <p:cBhvr>
                                        <p:cTn id="66" dur="1" fill="hold">
                                          <p:stCondLst>
                                            <p:cond delay="0"/>
                                          </p:stCondLst>
                                        </p:cTn>
                                        <p:tgtEl>
                                          <p:spTgt spid="22"/>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p:stCondLst>
                              <p:cond delay="0"/>
                            </p:stCondLst>
                            <p:childTnLst>
                              <p:par>
                                <p:cTn id="69" presetID="1" presetClass="entr" presetSubtype="0" dur="1"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p:bldP spid="9" grpId="0" animBg="1"/>
      <p:bldP spid="10" grpId="0" animBg="1"/>
      <p:bldP spid="12" grpId="0" animBg="1"/>
      <p:bldP spid="13" grpId="0" animBg="1"/>
      <p:bldP spid="15" grpId="0" animBg="1"/>
      <p:bldP spid="22" grpId="0" animBg="1"/>
      <p:bldP spid="23" grpId="0" animBg="1"/>
      <p:bldP spid="31" grpId="0"/>
      <p:bldP spid="32" grpId="0"/>
      <p:bldP spid="2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כותרת 3"/>
          <p:cNvSpPr txBox="1">
            <a:spLocks/>
          </p:cNvSpPr>
          <p:nvPr/>
        </p:nvSpPr>
        <p:spPr>
          <a:xfrm>
            <a:off x="457200" y="274638"/>
            <a:ext cx="8229600" cy="1143000"/>
          </a:xfrm>
          <a:prstGeom prst="rect">
            <a:avLst/>
          </a:prstGeom>
        </p:spPr>
        <p:txBody>
          <a:bodyPr vert="horz" lIns="91440" tIns="45720" rIns="91440" bIns="45720" rtlCol="1" anchor="ctr">
            <a:normAutofit/>
          </a:bodyPr>
          <a:lstStyle>
            <a:lvl1pPr algn="ctr" defTabSz="914400" rtl="1" eaLnBrk="1" latinLnBrk="0" hangingPunct="1">
              <a:spcBef>
                <a:spcPct val="0"/>
              </a:spcBef>
              <a:buNone/>
              <a:defRPr sz="4400" kern="1200">
                <a:solidFill>
                  <a:schemeClr val="tx1"/>
                </a:solidFill>
                <a:latin typeface="+mj-lt"/>
                <a:ea typeface="+mj-ea"/>
                <a:cs typeface="+mj-cs"/>
              </a:defRPr>
            </a:lvl1pPr>
          </a:lstStyle>
          <a:p>
            <a:pPr rtl="0" fontAlgn="auto">
              <a:spcAft>
                <a:spcPts val="0"/>
              </a:spcAft>
            </a:pPr>
            <a:r>
              <a:rPr lang="he-IL" b="1" dirty="0" smtClean="0"/>
              <a:t>קטגוריות של סיכון</a:t>
            </a:r>
            <a:endParaRPr lang="he-IL" b="1" dirty="0"/>
          </a:p>
        </p:txBody>
      </p:sp>
      <p:pic>
        <p:nvPicPr>
          <p:cNvPr id="4" name="מציין מיקום תוכן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870" y="1398524"/>
            <a:ext cx="4516813" cy="4525963"/>
          </a:xfrm>
          <a:prstGeom prst="rect">
            <a:avLst/>
          </a:prstGeom>
        </p:spPr>
      </p:pic>
      <p:sp>
        <p:nvSpPr>
          <p:cNvPr id="5" name="TextBox 4"/>
          <p:cNvSpPr txBox="1"/>
          <p:nvPr/>
        </p:nvSpPr>
        <p:spPr>
          <a:xfrm>
            <a:off x="4543682" y="1556792"/>
            <a:ext cx="4600317" cy="3970318"/>
          </a:xfrm>
          <a:prstGeom prst="rect">
            <a:avLst/>
          </a:prstGeom>
          <a:solidFill>
            <a:schemeClr val="bg1"/>
          </a:solidFill>
        </p:spPr>
        <p:txBody>
          <a:bodyPr wrap="square" rtlCol="1">
            <a:spAutoFit/>
          </a:bodyPr>
          <a:lstStyle/>
          <a:p>
            <a:pPr marL="285750" indent="-285750" algn="r">
              <a:buFont typeface="Arial" panose="020B0604020202020204" pitchFamily="34" charset="0"/>
              <a:buChar char="•"/>
            </a:pPr>
            <a:r>
              <a:rPr lang="he-IL" sz="2400" b="1" dirty="0" smtClean="0"/>
              <a:t>מה הסיכון?</a:t>
            </a:r>
            <a:endParaRPr lang="en-US" sz="2400" b="1" dirty="0" smtClean="0"/>
          </a:p>
          <a:p>
            <a:pPr marL="742950" lvl="1" indent="-285750" algn="r">
              <a:buFont typeface="Arial" panose="020B0604020202020204" pitchFamily="34" charset="0"/>
              <a:buChar char="•"/>
            </a:pPr>
            <a:r>
              <a:rPr lang="he-IL" dirty="0" smtClean="0"/>
              <a:t>סכנת חשיפה של הצוות לקרינה ופגיעה בפלאק.</a:t>
            </a:r>
            <a:endParaRPr lang="en-US" dirty="0" smtClean="0"/>
          </a:p>
          <a:p>
            <a:pPr marL="285750" indent="-285750" algn="r">
              <a:buFont typeface="Arial" panose="020B0604020202020204" pitchFamily="34" charset="0"/>
              <a:buChar char="•"/>
            </a:pPr>
            <a:r>
              <a:rPr lang="he-IL" sz="2400" b="1" dirty="0" smtClean="0"/>
              <a:t>כמה חמור?</a:t>
            </a:r>
            <a:endParaRPr lang="en-US" sz="2400" b="1" dirty="0" smtClean="0"/>
          </a:p>
          <a:p>
            <a:pPr marL="742950" lvl="1" indent="-285750" algn="r">
              <a:buFont typeface="Arial" panose="020B0604020202020204" pitchFamily="34" charset="0"/>
              <a:buChar char="•"/>
            </a:pPr>
            <a:r>
              <a:rPr lang="he-IL" dirty="0" smtClean="0"/>
              <a:t>לפני הניתוח, ניתן לבטל את הפרוצדורה.</a:t>
            </a:r>
            <a:endParaRPr lang="en-US" dirty="0" smtClean="0"/>
          </a:p>
          <a:p>
            <a:pPr marL="1200150" lvl="2" indent="-285750" algn="r">
              <a:buFont typeface="Arial" panose="020B0604020202020204" pitchFamily="34" charset="0"/>
              <a:buChar char="•"/>
            </a:pPr>
            <a:r>
              <a:rPr lang="he-IL" dirty="0" smtClean="0"/>
              <a:t>חומרה 1.</a:t>
            </a:r>
            <a:endParaRPr lang="en-US" dirty="0" smtClean="0"/>
          </a:p>
          <a:p>
            <a:pPr marL="742950" lvl="1" indent="-285750" algn="r">
              <a:buFont typeface="Arial" panose="020B0604020202020204" pitchFamily="34" charset="0"/>
              <a:buChar char="•"/>
            </a:pPr>
            <a:r>
              <a:rPr lang="he-IL" dirty="0" smtClean="0"/>
              <a:t>במהלך הפרוצדורה קיימת סכנת חשיפה ממשית.</a:t>
            </a:r>
            <a:endParaRPr lang="en-US" dirty="0" smtClean="0"/>
          </a:p>
          <a:p>
            <a:pPr marL="1200150" lvl="2" indent="-285750" algn="r">
              <a:buFont typeface="Arial" panose="020B0604020202020204" pitchFamily="34" charset="0"/>
              <a:buChar char="•"/>
            </a:pPr>
            <a:r>
              <a:rPr lang="he-IL" dirty="0" smtClean="0"/>
              <a:t>חומרה 3.</a:t>
            </a:r>
            <a:endParaRPr lang="en-US" dirty="0" smtClean="0"/>
          </a:p>
          <a:p>
            <a:pPr marL="285750" indent="-285750" algn="r">
              <a:buFont typeface="Arial" panose="020B0604020202020204" pitchFamily="34" charset="0"/>
              <a:buChar char="•"/>
            </a:pPr>
            <a:r>
              <a:rPr lang="he-IL" sz="2400" b="1" dirty="0" smtClean="0"/>
              <a:t>מה היא הסבירות שיקרה?</a:t>
            </a:r>
            <a:endParaRPr lang="en-US" sz="2400" b="1" dirty="0" smtClean="0"/>
          </a:p>
          <a:p>
            <a:pPr marL="742950" lvl="1" indent="-285750" algn="r">
              <a:buFont typeface="Arial" panose="020B0604020202020204" pitchFamily="34" charset="0"/>
              <a:buChar char="•"/>
            </a:pPr>
            <a:r>
              <a:rPr lang="he-IL" dirty="0" smtClean="0"/>
              <a:t>יכול לקרות בתהליכים חדשים וצוות לא מנוסה.</a:t>
            </a:r>
            <a:endParaRPr lang="en-US" dirty="0" smtClean="0"/>
          </a:p>
          <a:p>
            <a:pPr marL="742950" lvl="1" indent="-285750" algn="r">
              <a:buFont typeface="Arial" panose="020B0604020202020204" pitchFamily="34" charset="0"/>
              <a:buChar char="•"/>
            </a:pPr>
            <a:r>
              <a:rPr lang="he-IL" dirty="0" smtClean="0"/>
              <a:t>חומרה 2.</a:t>
            </a:r>
            <a:endParaRPr lang="he-IL" dirty="0"/>
          </a:p>
        </p:txBody>
      </p:sp>
      <p:sp>
        <p:nvSpPr>
          <p:cNvPr id="6" name="תרשים זרימה: מחבר 5"/>
          <p:cNvSpPr/>
          <p:nvPr/>
        </p:nvSpPr>
        <p:spPr>
          <a:xfrm>
            <a:off x="2010172" y="3135342"/>
            <a:ext cx="216024" cy="219199"/>
          </a:xfrm>
          <a:prstGeom prst="flowChartConnector">
            <a:avLst/>
          </a:prstGeom>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תרשים זרימה: מחבר 6"/>
          <p:cNvSpPr/>
          <p:nvPr/>
        </p:nvSpPr>
        <p:spPr>
          <a:xfrm>
            <a:off x="3008076" y="3132885"/>
            <a:ext cx="216024" cy="219199"/>
          </a:xfrm>
          <a:prstGeom prst="flowChartConnector">
            <a:avLst/>
          </a:prstGeom>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242425374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כותרת 3"/>
          <p:cNvSpPr>
            <a:spLocks noGrp="1"/>
          </p:cNvSpPr>
          <p:nvPr>
            <p:ph type="title"/>
          </p:nvPr>
        </p:nvSpPr>
        <p:spPr/>
        <p:txBody>
          <a:bodyPr>
            <a:normAutofit/>
          </a:bodyPr>
          <a:lstStyle/>
          <a:p>
            <a:r>
              <a:rPr lang="he-IL" b="1" dirty="0" smtClean="0"/>
              <a:t>אנליזת סיבת שורש – מה למדנו?</a:t>
            </a:r>
            <a:endParaRPr lang="he-IL" b="1" dirty="0"/>
          </a:p>
        </p:txBody>
      </p:sp>
      <p:grpSp>
        <p:nvGrpSpPr>
          <p:cNvPr id="38" name="קבוצה 37"/>
          <p:cNvGrpSpPr/>
          <p:nvPr/>
        </p:nvGrpSpPr>
        <p:grpSpPr>
          <a:xfrm>
            <a:off x="107504" y="1451467"/>
            <a:ext cx="8862942" cy="4281789"/>
            <a:chOff x="107504" y="1451467"/>
            <a:chExt cx="8862942" cy="4281789"/>
          </a:xfrm>
        </p:grpSpPr>
        <p:grpSp>
          <p:nvGrpSpPr>
            <p:cNvPr id="37" name="קבוצה 36"/>
            <p:cNvGrpSpPr/>
            <p:nvPr/>
          </p:nvGrpSpPr>
          <p:grpSpPr>
            <a:xfrm>
              <a:off x="107504" y="1772816"/>
              <a:ext cx="8784976" cy="3960440"/>
              <a:chOff x="107504" y="1772816"/>
              <a:chExt cx="8784976" cy="3960440"/>
            </a:xfrm>
          </p:grpSpPr>
          <p:cxnSp>
            <p:nvCxnSpPr>
              <p:cNvPr id="3" name="מחבר ישר 2"/>
              <p:cNvCxnSpPr/>
              <p:nvPr/>
            </p:nvCxnSpPr>
            <p:spPr>
              <a:xfrm>
                <a:off x="107504" y="3577956"/>
                <a:ext cx="87849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מחבר ישר 6"/>
              <p:cNvCxnSpPr/>
              <p:nvPr/>
            </p:nvCxnSpPr>
            <p:spPr>
              <a:xfrm>
                <a:off x="107504" y="4725144"/>
                <a:ext cx="87849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מחבר ישר 8"/>
              <p:cNvCxnSpPr/>
              <p:nvPr/>
            </p:nvCxnSpPr>
            <p:spPr>
              <a:xfrm>
                <a:off x="107504" y="1772816"/>
                <a:ext cx="87849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מחבר ישר 9"/>
              <p:cNvCxnSpPr/>
              <p:nvPr/>
            </p:nvCxnSpPr>
            <p:spPr>
              <a:xfrm>
                <a:off x="107504" y="5733256"/>
                <a:ext cx="878497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מחבר ישר 10"/>
              <p:cNvCxnSpPr/>
              <p:nvPr/>
            </p:nvCxnSpPr>
            <p:spPr>
              <a:xfrm>
                <a:off x="107504" y="2746196"/>
                <a:ext cx="8784976"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6" name="קבוצה 35"/>
            <p:cNvGrpSpPr/>
            <p:nvPr/>
          </p:nvGrpSpPr>
          <p:grpSpPr>
            <a:xfrm>
              <a:off x="6466234" y="1451467"/>
              <a:ext cx="2504212" cy="3328433"/>
              <a:chOff x="6466234" y="1451467"/>
              <a:chExt cx="2504212" cy="3328433"/>
            </a:xfrm>
          </p:grpSpPr>
          <p:sp>
            <p:nvSpPr>
              <p:cNvPr id="8" name="TextBox 7"/>
              <p:cNvSpPr txBox="1"/>
              <p:nvPr/>
            </p:nvSpPr>
            <p:spPr>
              <a:xfrm>
                <a:off x="6466234" y="3258013"/>
                <a:ext cx="2504212" cy="369332"/>
              </a:xfrm>
              <a:prstGeom prst="rect">
                <a:avLst/>
              </a:prstGeom>
              <a:noFill/>
            </p:spPr>
            <p:txBody>
              <a:bodyPr wrap="none" rtlCol="1">
                <a:spAutoFit/>
              </a:bodyPr>
              <a:lstStyle/>
              <a:p>
                <a:r>
                  <a:rPr lang="he-IL" dirty="0" smtClean="0"/>
                  <a:t>שלבים של האירוע המרכזי</a:t>
                </a:r>
                <a:endParaRPr lang="he-IL" dirty="0"/>
              </a:p>
            </p:txBody>
          </p:sp>
          <p:sp>
            <p:nvSpPr>
              <p:cNvPr id="13" name="TextBox 12"/>
              <p:cNvSpPr txBox="1"/>
              <p:nvPr/>
            </p:nvSpPr>
            <p:spPr>
              <a:xfrm>
                <a:off x="7142702" y="4410568"/>
                <a:ext cx="1827744" cy="369332"/>
              </a:xfrm>
              <a:prstGeom prst="rect">
                <a:avLst/>
              </a:prstGeom>
              <a:noFill/>
            </p:spPr>
            <p:txBody>
              <a:bodyPr wrap="none" rtlCol="1">
                <a:spAutoFit/>
              </a:bodyPr>
              <a:lstStyle/>
              <a:p>
                <a:r>
                  <a:rPr lang="he-IL" dirty="0" smtClean="0"/>
                  <a:t>אירוע משני אפשרי</a:t>
                </a:r>
                <a:endParaRPr lang="he-IL" dirty="0"/>
              </a:p>
            </p:txBody>
          </p:sp>
          <p:sp>
            <p:nvSpPr>
              <p:cNvPr id="14" name="TextBox 13"/>
              <p:cNvSpPr txBox="1"/>
              <p:nvPr/>
            </p:nvSpPr>
            <p:spPr>
              <a:xfrm>
                <a:off x="7164122" y="2377574"/>
                <a:ext cx="1728358" cy="369332"/>
              </a:xfrm>
              <a:prstGeom prst="rect">
                <a:avLst/>
              </a:prstGeom>
              <a:noFill/>
            </p:spPr>
            <p:txBody>
              <a:bodyPr wrap="none" rtlCol="1">
                <a:spAutoFit/>
              </a:bodyPr>
              <a:lstStyle/>
              <a:p>
                <a:r>
                  <a:rPr lang="he-IL" dirty="0" smtClean="0"/>
                  <a:t>פרמטרים תומכים</a:t>
                </a:r>
                <a:endParaRPr lang="he-IL" dirty="0"/>
              </a:p>
            </p:txBody>
          </p:sp>
          <p:sp>
            <p:nvSpPr>
              <p:cNvPr id="40" name="TextBox 39"/>
              <p:cNvSpPr txBox="1"/>
              <p:nvPr/>
            </p:nvSpPr>
            <p:spPr>
              <a:xfrm>
                <a:off x="7301399" y="1451467"/>
                <a:ext cx="1669047" cy="369332"/>
              </a:xfrm>
              <a:prstGeom prst="rect">
                <a:avLst/>
              </a:prstGeom>
              <a:noFill/>
            </p:spPr>
            <p:txBody>
              <a:bodyPr wrap="none" rtlCol="1">
                <a:spAutoFit/>
              </a:bodyPr>
              <a:lstStyle/>
              <a:p>
                <a:r>
                  <a:rPr lang="he-IL" dirty="0" smtClean="0"/>
                  <a:t>סיבות מערכתיות</a:t>
                </a:r>
                <a:endParaRPr lang="he-IL" dirty="0"/>
              </a:p>
            </p:txBody>
          </p:sp>
        </p:grpSp>
      </p:grpSp>
      <p:sp>
        <p:nvSpPr>
          <p:cNvPr id="17" name="TextBox 16"/>
          <p:cNvSpPr txBox="1"/>
          <p:nvPr/>
        </p:nvSpPr>
        <p:spPr>
          <a:xfrm>
            <a:off x="7305094" y="3784672"/>
            <a:ext cx="1578730" cy="646331"/>
          </a:xfrm>
          <a:prstGeom prst="rect">
            <a:avLst/>
          </a:prstGeom>
          <a:solidFill>
            <a:schemeClr val="bg1"/>
          </a:solidFill>
          <a:ln>
            <a:solidFill>
              <a:schemeClr val="accent6">
                <a:lumMod val="75000"/>
              </a:schemeClr>
            </a:solidFill>
          </a:ln>
        </p:spPr>
        <p:txBody>
          <a:bodyPr wrap="square" rtlCol="1">
            <a:spAutoFit/>
          </a:bodyPr>
          <a:lstStyle/>
          <a:p>
            <a:pPr algn="r"/>
            <a:r>
              <a:rPr lang="he-IL" dirty="0" smtClean="0"/>
              <a:t>לאחר הטיפול הראשון</a:t>
            </a:r>
            <a:endParaRPr lang="he-IL" dirty="0"/>
          </a:p>
        </p:txBody>
      </p:sp>
      <p:sp>
        <p:nvSpPr>
          <p:cNvPr id="19" name="TextBox 18"/>
          <p:cNvSpPr txBox="1"/>
          <p:nvPr/>
        </p:nvSpPr>
        <p:spPr>
          <a:xfrm>
            <a:off x="7744573" y="2061497"/>
            <a:ext cx="1072313" cy="276999"/>
          </a:xfrm>
          <a:prstGeom prst="rect">
            <a:avLst/>
          </a:prstGeom>
          <a:solidFill>
            <a:schemeClr val="bg1"/>
          </a:solidFill>
          <a:ln>
            <a:solidFill>
              <a:schemeClr val="accent6">
                <a:lumMod val="75000"/>
              </a:schemeClr>
            </a:solidFill>
          </a:ln>
        </p:spPr>
        <p:txBody>
          <a:bodyPr wrap="square" rtlCol="1">
            <a:spAutoFit/>
          </a:bodyPr>
          <a:lstStyle/>
          <a:p>
            <a:pPr algn="r"/>
            <a:r>
              <a:rPr lang="he-IL" sz="1200" dirty="0" smtClean="0"/>
              <a:t>הכשרה לקויה</a:t>
            </a:r>
            <a:endParaRPr lang="he-IL" sz="1200" dirty="0"/>
          </a:p>
        </p:txBody>
      </p:sp>
      <p:sp>
        <p:nvSpPr>
          <p:cNvPr id="21" name="TextBox 20"/>
          <p:cNvSpPr txBox="1"/>
          <p:nvPr/>
        </p:nvSpPr>
        <p:spPr>
          <a:xfrm>
            <a:off x="5169926" y="3784672"/>
            <a:ext cx="1800200" cy="646331"/>
          </a:xfrm>
          <a:prstGeom prst="rect">
            <a:avLst/>
          </a:prstGeom>
          <a:solidFill>
            <a:schemeClr val="bg1"/>
          </a:solidFill>
          <a:ln>
            <a:solidFill>
              <a:schemeClr val="accent6">
                <a:lumMod val="75000"/>
              </a:schemeClr>
            </a:solidFill>
          </a:ln>
        </p:spPr>
        <p:txBody>
          <a:bodyPr wrap="square" rtlCol="1">
            <a:spAutoFit/>
          </a:bodyPr>
          <a:lstStyle/>
          <a:p>
            <a:r>
              <a:rPr lang="he-IL" dirty="0" smtClean="0"/>
              <a:t>הפלאק מוכנס למיכל פלסטיק</a:t>
            </a:r>
            <a:endParaRPr lang="en-US" dirty="0" smtClean="0"/>
          </a:p>
        </p:txBody>
      </p:sp>
      <p:sp>
        <p:nvSpPr>
          <p:cNvPr id="22" name="TextBox 21"/>
          <p:cNvSpPr txBox="1"/>
          <p:nvPr/>
        </p:nvSpPr>
        <p:spPr>
          <a:xfrm>
            <a:off x="5189944" y="4980419"/>
            <a:ext cx="1647001" cy="461665"/>
          </a:xfrm>
          <a:prstGeom prst="rect">
            <a:avLst/>
          </a:prstGeom>
          <a:solidFill>
            <a:schemeClr val="bg1"/>
          </a:solidFill>
          <a:ln>
            <a:solidFill>
              <a:schemeClr val="accent6">
                <a:lumMod val="75000"/>
              </a:schemeClr>
            </a:solidFill>
          </a:ln>
        </p:spPr>
        <p:txBody>
          <a:bodyPr wrap="square" rtlCol="1">
            <a:spAutoFit/>
          </a:bodyPr>
          <a:lstStyle/>
          <a:p>
            <a:pPr algn="r"/>
            <a:r>
              <a:rPr lang="he-IL" sz="1200" dirty="0" smtClean="0"/>
              <a:t>חשיפה אפשרית מיותרת לצוות</a:t>
            </a:r>
            <a:endParaRPr lang="en-US" sz="1200" dirty="0" smtClean="0"/>
          </a:p>
        </p:txBody>
      </p:sp>
      <p:sp>
        <p:nvSpPr>
          <p:cNvPr id="23" name="TextBox 22"/>
          <p:cNvSpPr txBox="1"/>
          <p:nvPr/>
        </p:nvSpPr>
        <p:spPr>
          <a:xfrm>
            <a:off x="5922869" y="1969164"/>
            <a:ext cx="1309398" cy="461665"/>
          </a:xfrm>
          <a:prstGeom prst="rect">
            <a:avLst/>
          </a:prstGeom>
          <a:solidFill>
            <a:schemeClr val="bg1"/>
          </a:solidFill>
          <a:ln>
            <a:solidFill>
              <a:schemeClr val="accent6">
                <a:lumMod val="75000"/>
              </a:schemeClr>
            </a:solidFill>
          </a:ln>
        </p:spPr>
        <p:txBody>
          <a:bodyPr wrap="square" rtlCol="1">
            <a:spAutoFit/>
          </a:bodyPr>
          <a:lstStyle/>
          <a:p>
            <a:pPr algn="r"/>
            <a:r>
              <a:rPr lang="he-IL" sz="1200" dirty="0" smtClean="0"/>
              <a:t>לא קראו את חוברת היצרן</a:t>
            </a:r>
            <a:endParaRPr lang="he-IL" sz="1200" dirty="0"/>
          </a:p>
        </p:txBody>
      </p:sp>
      <p:sp>
        <p:nvSpPr>
          <p:cNvPr id="24" name="TextBox 23"/>
          <p:cNvSpPr txBox="1"/>
          <p:nvPr/>
        </p:nvSpPr>
        <p:spPr>
          <a:xfrm>
            <a:off x="5825025" y="2902527"/>
            <a:ext cx="1011920" cy="461665"/>
          </a:xfrm>
          <a:prstGeom prst="rect">
            <a:avLst/>
          </a:prstGeom>
          <a:solidFill>
            <a:schemeClr val="bg1"/>
          </a:solidFill>
          <a:ln>
            <a:solidFill>
              <a:schemeClr val="accent6">
                <a:lumMod val="75000"/>
              </a:schemeClr>
            </a:solidFill>
          </a:ln>
        </p:spPr>
        <p:txBody>
          <a:bodyPr wrap="square" rtlCol="1">
            <a:spAutoFit/>
          </a:bodyPr>
          <a:lstStyle/>
          <a:p>
            <a:pPr algn="r"/>
            <a:r>
              <a:rPr lang="he-IL" sz="1200" dirty="0" smtClean="0"/>
              <a:t>טכנולוגיה חדשה במכון</a:t>
            </a:r>
            <a:endParaRPr lang="he-IL" sz="1200" dirty="0"/>
          </a:p>
        </p:txBody>
      </p:sp>
      <p:sp>
        <p:nvSpPr>
          <p:cNvPr id="27" name="TextBox 26"/>
          <p:cNvSpPr txBox="1"/>
          <p:nvPr/>
        </p:nvSpPr>
        <p:spPr>
          <a:xfrm>
            <a:off x="4779569" y="2827058"/>
            <a:ext cx="958765" cy="276999"/>
          </a:xfrm>
          <a:prstGeom prst="rect">
            <a:avLst/>
          </a:prstGeom>
          <a:solidFill>
            <a:schemeClr val="bg1"/>
          </a:solidFill>
          <a:ln>
            <a:solidFill>
              <a:schemeClr val="accent6">
                <a:lumMod val="75000"/>
              </a:schemeClr>
            </a:solidFill>
          </a:ln>
        </p:spPr>
        <p:txBody>
          <a:bodyPr wrap="square" rtlCol="1">
            <a:spAutoFit/>
          </a:bodyPr>
          <a:lstStyle/>
          <a:p>
            <a:pPr algn="r"/>
            <a:r>
              <a:rPr lang="he-IL" sz="1200" dirty="0" smtClean="0"/>
              <a:t>חוסר נסיון</a:t>
            </a:r>
            <a:endParaRPr lang="he-IL" sz="1200" dirty="0"/>
          </a:p>
        </p:txBody>
      </p:sp>
      <p:sp>
        <p:nvSpPr>
          <p:cNvPr id="29" name="TextBox 28"/>
          <p:cNvSpPr txBox="1"/>
          <p:nvPr/>
        </p:nvSpPr>
        <p:spPr>
          <a:xfrm>
            <a:off x="3034759" y="3646172"/>
            <a:ext cx="1800200" cy="923330"/>
          </a:xfrm>
          <a:prstGeom prst="rect">
            <a:avLst/>
          </a:prstGeom>
          <a:solidFill>
            <a:schemeClr val="bg1"/>
          </a:solidFill>
          <a:ln>
            <a:solidFill>
              <a:schemeClr val="accent6">
                <a:lumMod val="75000"/>
              </a:schemeClr>
            </a:solidFill>
          </a:ln>
        </p:spPr>
        <p:txBody>
          <a:bodyPr wrap="square" rtlCol="1">
            <a:spAutoFit/>
          </a:bodyPr>
          <a:lstStyle/>
          <a:p>
            <a:r>
              <a:rPr lang="he-IL" dirty="0" smtClean="0"/>
              <a:t>בקרת איכות של הפלאק לפני הפרוצדורה</a:t>
            </a:r>
            <a:endParaRPr lang="en-US" dirty="0" smtClean="0"/>
          </a:p>
        </p:txBody>
      </p:sp>
      <p:sp>
        <p:nvSpPr>
          <p:cNvPr id="30" name="TextBox 29"/>
          <p:cNvSpPr txBox="1"/>
          <p:nvPr/>
        </p:nvSpPr>
        <p:spPr>
          <a:xfrm>
            <a:off x="2903276" y="2902527"/>
            <a:ext cx="1727220" cy="461665"/>
          </a:xfrm>
          <a:prstGeom prst="rect">
            <a:avLst/>
          </a:prstGeom>
          <a:solidFill>
            <a:schemeClr val="bg1"/>
          </a:solidFill>
          <a:ln>
            <a:solidFill>
              <a:schemeClr val="accent6">
                <a:lumMod val="75000"/>
              </a:schemeClr>
            </a:solidFill>
          </a:ln>
        </p:spPr>
        <p:txBody>
          <a:bodyPr wrap="square" rtlCol="1">
            <a:spAutoFit/>
          </a:bodyPr>
          <a:lstStyle/>
          <a:p>
            <a:pPr algn="r"/>
            <a:r>
              <a:rPr lang="he-IL" sz="1200" dirty="0" smtClean="0"/>
              <a:t>חוסר ידע. לא ידע שה-מיכל פלסטיק מיותר</a:t>
            </a:r>
            <a:endParaRPr lang="he-IL" sz="1200" dirty="0"/>
          </a:p>
        </p:txBody>
      </p:sp>
      <p:sp>
        <p:nvSpPr>
          <p:cNvPr id="31" name="TextBox 30"/>
          <p:cNvSpPr txBox="1"/>
          <p:nvPr/>
        </p:nvSpPr>
        <p:spPr>
          <a:xfrm>
            <a:off x="179512" y="3784672"/>
            <a:ext cx="2520280" cy="646331"/>
          </a:xfrm>
          <a:prstGeom prst="rect">
            <a:avLst/>
          </a:prstGeom>
          <a:solidFill>
            <a:schemeClr val="bg1"/>
          </a:solidFill>
          <a:ln>
            <a:solidFill>
              <a:schemeClr val="accent6">
                <a:lumMod val="75000"/>
              </a:schemeClr>
            </a:solidFill>
          </a:ln>
        </p:spPr>
        <p:txBody>
          <a:bodyPr wrap="square" rtlCol="1">
            <a:spAutoFit/>
          </a:bodyPr>
          <a:lstStyle/>
          <a:p>
            <a:r>
              <a:rPr lang="he-IL" dirty="0" smtClean="0"/>
              <a:t>פלסטיק מומס עוטף את הפלאק</a:t>
            </a:r>
            <a:endParaRPr lang="en-US" dirty="0" smtClean="0"/>
          </a:p>
        </p:txBody>
      </p:sp>
      <p:sp>
        <p:nvSpPr>
          <p:cNvPr id="32" name="TextBox 31"/>
          <p:cNvSpPr txBox="1"/>
          <p:nvPr/>
        </p:nvSpPr>
        <p:spPr>
          <a:xfrm>
            <a:off x="1779260" y="5014917"/>
            <a:ext cx="1275624" cy="461665"/>
          </a:xfrm>
          <a:prstGeom prst="rect">
            <a:avLst/>
          </a:prstGeom>
          <a:solidFill>
            <a:schemeClr val="bg1"/>
          </a:solidFill>
          <a:ln>
            <a:solidFill>
              <a:schemeClr val="accent6">
                <a:lumMod val="75000"/>
              </a:schemeClr>
            </a:solidFill>
          </a:ln>
        </p:spPr>
        <p:txBody>
          <a:bodyPr wrap="square" rtlCol="1">
            <a:spAutoFit/>
          </a:bodyPr>
          <a:lstStyle/>
          <a:p>
            <a:r>
              <a:rPr lang="he-IL" sz="1200" dirty="0" smtClean="0"/>
              <a:t>חשיפה עודפת לצוות</a:t>
            </a:r>
            <a:endParaRPr lang="en-US" sz="1200" dirty="0" smtClean="0"/>
          </a:p>
        </p:txBody>
      </p:sp>
      <p:sp>
        <p:nvSpPr>
          <p:cNvPr id="33" name="TextBox 32"/>
          <p:cNvSpPr txBox="1"/>
          <p:nvPr/>
        </p:nvSpPr>
        <p:spPr>
          <a:xfrm>
            <a:off x="703939" y="2994860"/>
            <a:ext cx="920176" cy="276999"/>
          </a:xfrm>
          <a:prstGeom prst="rect">
            <a:avLst/>
          </a:prstGeom>
          <a:solidFill>
            <a:schemeClr val="bg1"/>
          </a:solidFill>
          <a:ln>
            <a:solidFill>
              <a:schemeClr val="accent6">
                <a:lumMod val="75000"/>
              </a:schemeClr>
            </a:solidFill>
          </a:ln>
        </p:spPr>
        <p:txBody>
          <a:bodyPr wrap="square" rtlCol="1">
            <a:spAutoFit/>
          </a:bodyPr>
          <a:lstStyle/>
          <a:p>
            <a:pPr algn="r"/>
            <a:r>
              <a:rPr lang="he-IL" sz="1200" dirty="0" smtClean="0"/>
              <a:t>לחץ זמן</a:t>
            </a:r>
            <a:endParaRPr lang="he-IL" sz="1200" dirty="0"/>
          </a:p>
        </p:txBody>
      </p:sp>
      <p:sp>
        <p:nvSpPr>
          <p:cNvPr id="34" name="TextBox 33"/>
          <p:cNvSpPr txBox="1"/>
          <p:nvPr/>
        </p:nvSpPr>
        <p:spPr>
          <a:xfrm>
            <a:off x="129835" y="4830251"/>
            <a:ext cx="1494280" cy="830997"/>
          </a:xfrm>
          <a:prstGeom prst="rect">
            <a:avLst/>
          </a:prstGeom>
          <a:solidFill>
            <a:schemeClr val="bg1"/>
          </a:solidFill>
          <a:ln>
            <a:solidFill>
              <a:schemeClr val="accent6">
                <a:lumMod val="75000"/>
              </a:schemeClr>
            </a:solidFill>
          </a:ln>
        </p:spPr>
        <p:txBody>
          <a:bodyPr wrap="square" rtlCol="1">
            <a:spAutoFit/>
          </a:bodyPr>
          <a:lstStyle/>
          <a:p>
            <a:pPr algn="r"/>
            <a:r>
              <a:rPr lang="he-IL" sz="1200" dirty="0" smtClean="0"/>
              <a:t>פגיעה אפשרית לפלאק מאפשרת זיהום רדיואקטיבי של חדר ניתוח</a:t>
            </a:r>
            <a:endParaRPr lang="he-IL" sz="1200" dirty="0"/>
          </a:p>
        </p:txBody>
      </p:sp>
      <p:sp>
        <p:nvSpPr>
          <p:cNvPr id="35" name="TextBox 34"/>
          <p:cNvSpPr txBox="1"/>
          <p:nvPr/>
        </p:nvSpPr>
        <p:spPr>
          <a:xfrm>
            <a:off x="936694" y="1876831"/>
            <a:ext cx="1798010" cy="646331"/>
          </a:xfrm>
          <a:prstGeom prst="rect">
            <a:avLst/>
          </a:prstGeom>
          <a:solidFill>
            <a:schemeClr val="bg1"/>
          </a:solidFill>
          <a:ln>
            <a:solidFill>
              <a:schemeClr val="accent6">
                <a:lumMod val="75000"/>
              </a:schemeClr>
            </a:solidFill>
          </a:ln>
        </p:spPr>
        <p:txBody>
          <a:bodyPr wrap="square" rtlCol="1">
            <a:spAutoFit/>
          </a:bodyPr>
          <a:lstStyle/>
          <a:p>
            <a:pPr algn="r"/>
            <a:r>
              <a:rPr lang="he-IL" sz="1200" dirty="0" smtClean="0"/>
              <a:t>לא קיים פיזיקאי מוביל אשר ינהל את הפרויקט (הכנסה של פרוצדורה החדשה)</a:t>
            </a:r>
            <a:endParaRPr lang="he-IL" sz="1200" dirty="0"/>
          </a:p>
        </p:txBody>
      </p:sp>
      <p:sp>
        <p:nvSpPr>
          <p:cNvPr id="39" name="TextBox 38"/>
          <p:cNvSpPr txBox="1"/>
          <p:nvPr/>
        </p:nvSpPr>
        <p:spPr>
          <a:xfrm>
            <a:off x="3748049" y="1876831"/>
            <a:ext cx="1158755" cy="646331"/>
          </a:xfrm>
          <a:prstGeom prst="rect">
            <a:avLst/>
          </a:prstGeom>
          <a:solidFill>
            <a:schemeClr val="bg1"/>
          </a:solidFill>
          <a:ln>
            <a:solidFill>
              <a:schemeClr val="accent6">
                <a:lumMod val="75000"/>
              </a:schemeClr>
            </a:solidFill>
          </a:ln>
        </p:spPr>
        <p:txBody>
          <a:bodyPr wrap="square" rtlCol="1">
            <a:spAutoFit/>
          </a:bodyPr>
          <a:lstStyle/>
          <a:p>
            <a:pPr algn="r"/>
            <a:r>
              <a:rPr lang="he-IL" sz="1200" dirty="0" smtClean="0"/>
              <a:t>תהליך הטיפול לא קיים ולא תורגל</a:t>
            </a:r>
            <a:endParaRPr lang="he-IL" sz="1200" dirty="0"/>
          </a:p>
        </p:txBody>
      </p:sp>
      <p:cxnSp>
        <p:nvCxnSpPr>
          <p:cNvPr id="5" name="מחבר חץ ישר 4"/>
          <p:cNvCxnSpPr>
            <a:stCxn id="17" idx="1"/>
            <a:endCxn id="21" idx="3"/>
          </p:cNvCxnSpPr>
          <p:nvPr/>
        </p:nvCxnSpPr>
        <p:spPr>
          <a:xfrm flipH="1">
            <a:off x="6970126" y="4107838"/>
            <a:ext cx="334968"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מחבר חץ ישר 15"/>
          <p:cNvCxnSpPr>
            <a:stCxn id="21" idx="1"/>
            <a:endCxn id="29" idx="3"/>
          </p:cNvCxnSpPr>
          <p:nvPr/>
        </p:nvCxnSpPr>
        <p:spPr>
          <a:xfrm flipH="1" flipV="1">
            <a:off x="4834959" y="4107837"/>
            <a:ext cx="334967" cy="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 name="מחבר חץ ישר 19"/>
          <p:cNvCxnSpPr>
            <a:stCxn id="29" idx="1"/>
            <a:endCxn id="31" idx="3"/>
          </p:cNvCxnSpPr>
          <p:nvPr/>
        </p:nvCxnSpPr>
        <p:spPr>
          <a:xfrm flipH="1">
            <a:off x="2699792" y="4107837"/>
            <a:ext cx="334967" cy="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4776622" y="3140231"/>
            <a:ext cx="958765" cy="276999"/>
          </a:xfrm>
          <a:prstGeom prst="rect">
            <a:avLst/>
          </a:prstGeom>
          <a:solidFill>
            <a:schemeClr val="bg1"/>
          </a:solidFill>
          <a:ln>
            <a:solidFill>
              <a:schemeClr val="accent6">
                <a:lumMod val="75000"/>
              </a:schemeClr>
            </a:solidFill>
          </a:ln>
        </p:spPr>
        <p:txBody>
          <a:bodyPr wrap="square" rtlCol="1">
            <a:spAutoFit/>
          </a:bodyPr>
          <a:lstStyle/>
          <a:p>
            <a:pPr algn="r"/>
            <a:r>
              <a:rPr lang="he-IL" sz="1200" dirty="0" smtClean="0"/>
              <a:t>חוסר ידע</a:t>
            </a:r>
            <a:endParaRPr lang="he-IL" sz="1200" dirty="0"/>
          </a:p>
        </p:txBody>
      </p:sp>
    </p:spTree>
    <p:extLst>
      <p:ext uri="{BB962C8B-B14F-4D97-AF65-F5344CB8AC3E}">
        <p14:creationId xmlns:p14="http://schemas.microsoft.com/office/powerpoint/2010/main" val="383728224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9"/>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3"/>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9"/>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1" grpId="0" animBg="1"/>
      <p:bldP spid="22" grpId="0" animBg="1"/>
      <p:bldP spid="23" grpId="0" animBg="1"/>
      <p:bldP spid="24" grpId="0" animBg="1"/>
      <p:bldP spid="27" grpId="0" animBg="1"/>
      <p:bldP spid="29" grpId="0" animBg="1"/>
      <p:bldP spid="30" grpId="0" animBg="1"/>
      <p:bldP spid="31" grpId="0" animBg="1"/>
      <p:bldP spid="32" grpId="0" animBg="1"/>
      <p:bldP spid="33" grpId="0" animBg="1"/>
      <p:bldP spid="34" grpId="0" animBg="1"/>
      <p:bldP spid="35" grpId="0" animBg="1"/>
      <p:bldP spid="39" grpId="0" animBg="1"/>
      <p:bldP spid="4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79512" y="72840"/>
            <a:ext cx="8712968" cy="1143000"/>
          </a:xfrm>
        </p:spPr>
        <p:txBody>
          <a:bodyPr/>
          <a:lstStyle/>
          <a:p>
            <a:r>
              <a:rPr lang="he-IL" sz="3200" b="1" dirty="0" smtClean="0"/>
              <a:t>מערכת למידה - </a:t>
            </a:r>
            <a:r>
              <a:rPr lang="en-US" sz="3200" b="1" dirty="0" smtClean="0"/>
              <a:t>Incident </a:t>
            </a:r>
            <a:r>
              <a:rPr lang="en-US" sz="3200" b="1" dirty="0"/>
              <a:t>Learning System (ILS)</a:t>
            </a:r>
            <a:endParaRPr lang="he-IL" sz="3200" b="1" dirty="0"/>
          </a:p>
        </p:txBody>
      </p:sp>
      <p:sp>
        <p:nvSpPr>
          <p:cNvPr id="6" name="TextBox 5"/>
          <p:cNvSpPr txBox="1"/>
          <p:nvPr/>
        </p:nvSpPr>
        <p:spPr>
          <a:xfrm>
            <a:off x="430332" y="4172887"/>
            <a:ext cx="8065595" cy="1815882"/>
          </a:xfrm>
          <a:prstGeom prst="rect">
            <a:avLst/>
          </a:prstGeom>
          <a:solidFill>
            <a:schemeClr val="tx2">
              <a:lumMod val="20000"/>
              <a:lumOff val="80000"/>
            </a:schemeClr>
          </a:solidFill>
        </p:spPr>
        <p:txBody>
          <a:bodyPr wrap="square" rtlCol="1">
            <a:spAutoFit/>
          </a:bodyPr>
          <a:lstStyle/>
          <a:p>
            <a:pPr algn="l" rtl="0"/>
            <a:r>
              <a:rPr lang="en-US" sz="2800"/>
              <a:t>“An ILS is the process of reporting and analyzing safety events and designing and implementing interventions intended to prevent future safety events from occurring.”</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30333" y="1299751"/>
            <a:ext cx="6304851" cy="27053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63362469"/>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394760" y="136152"/>
            <a:ext cx="6354479" cy="864096"/>
          </a:xfrm>
        </p:spPr>
        <p:txBody>
          <a:bodyPr/>
          <a:lstStyle/>
          <a:p>
            <a:r>
              <a:rPr lang="he-IL" sz="4000" b="1" dirty="0"/>
              <a:t>מעגל הלמידה</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067944" y="2864548"/>
            <a:ext cx="4968552" cy="28773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827959" y="1139260"/>
            <a:ext cx="7776489" cy="1569660"/>
          </a:xfrm>
          <a:prstGeom prst="rect">
            <a:avLst/>
          </a:prstGeom>
          <a:noFill/>
        </p:spPr>
        <p:txBody>
          <a:bodyPr wrap="none" rtlCol="1">
            <a:spAutoFit/>
          </a:bodyPr>
          <a:lstStyle/>
          <a:p>
            <a:pPr marL="285750" indent="-285750" algn="r">
              <a:buFont typeface="Arial" pitchFamily="34" charset="0"/>
              <a:buChar char="•"/>
            </a:pPr>
            <a:r>
              <a:rPr lang="he-IL" sz="2400" dirty="0"/>
              <a:t>מעגל הלמידה מאפשר שיפור מתמיד באיכות הטיפול.</a:t>
            </a:r>
            <a:endParaRPr lang="en-US" sz="2400" dirty="0"/>
          </a:p>
          <a:p>
            <a:pPr marL="285750" indent="-285750" algn="r">
              <a:buFont typeface="Arial" pitchFamily="34" charset="0"/>
              <a:buChar char="•"/>
            </a:pPr>
            <a:r>
              <a:rPr lang="he-IL" sz="2400" dirty="0"/>
              <a:t>מייצר תשתית ארגונית ללמידה מתוך אירועים.</a:t>
            </a:r>
            <a:endParaRPr lang="en-US" sz="2400" dirty="0"/>
          </a:p>
          <a:p>
            <a:pPr marL="285750" indent="-285750" algn="r">
              <a:buFont typeface="Arial" pitchFamily="34" charset="0"/>
              <a:buChar char="•"/>
            </a:pPr>
            <a:r>
              <a:rPr lang="he-IL" sz="2400" dirty="0"/>
              <a:t>מאפשר ביצוע אנליזות מתקדמות וחקירה של אירועים מדווחים.</a:t>
            </a:r>
            <a:endParaRPr lang="en-US" sz="2400" dirty="0"/>
          </a:p>
          <a:p>
            <a:pPr marL="285750" indent="-285750" algn="r">
              <a:buFont typeface="Arial" pitchFamily="34" charset="0"/>
              <a:buChar char="•"/>
            </a:pPr>
            <a:r>
              <a:rPr lang="he-IL" sz="2400" dirty="0"/>
              <a:t>מאפשר ביצוע למידה באמצעות פעולות מתקנות.</a:t>
            </a:r>
            <a:endParaRPr lang="en-US" sz="2400" dirty="0"/>
          </a:p>
        </p:txBody>
      </p:sp>
      <p:sp>
        <p:nvSpPr>
          <p:cNvPr id="6" name="TextBox 5"/>
          <p:cNvSpPr txBox="1"/>
          <p:nvPr/>
        </p:nvSpPr>
        <p:spPr>
          <a:xfrm>
            <a:off x="5868144" y="4984842"/>
            <a:ext cx="977756" cy="261610"/>
          </a:xfrm>
          <a:prstGeom prst="rect">
            <a:avLst/>
          </a:prstGeom>
          <a:noFill/>
        </p:spPr>
        <p:txBody>
          <a:bodyPr wrap="square" rtlCol="1">
            <a:spAutoFit/>
          </a:bodyPr>
          <a:lstStyle/>
          <a:p>
            <a:r>
              <a:rPr lang="he-IL" sz="1100" dirty="0" smtClean="0"/>
              <a:t>(תהליך טיפול)</a:t>
            </a:r>
            <a:endParaRPr lang="he-IL" sz="1100" dirty="0"/>
          </a:p>
        </p:txBody>
      </p:sp>
      <p:pic>
        <p:nvPicPr>
          <p:cNvPr id="5" name="Picture 3">
            <a:extLst>
              <a:ext uri="{FF2B5EF4-FFF2-40B4-BE49-F238E27FC236}">
                <a16:creationId xmlns:a16="http://schemas.microsoft.com/office/drawing/2014/main" id="{3C3906AE-F691-FF7C-4D4F-D5CAD3B07A2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07504" y="3536279"/>
            <a:ext cx="3779912" cy="13328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4067944" y="5003324"/>
            <a:ext cx="1255581" cy="261610"/>
          </a:xfrm>
          <a:prstGeom prst="rect">
            <a:avLst/>
          </a:prstGeom>
          <a:noFill/>
        </p:spPr>
        <p:txBody>
          <a:bodyPr wrap="square" rtlCol="1">
            <a:spAutoFit/>
          </a:bodyPr>
          <a:lstStyle/>
          <a:p>
            <a:r>
              <a:rPr lang="he-IL" sz="1100" dirty="0" smtClean="0"/>
              <a:t>(קבלת מטופל חדש)</a:t>
            </a:r>
            <a:endParaRPr lang="he-IL" sz="1100" dirty="0"/>
          </a:p>
        </p:txBody>
      </p:sp>
    </p:spTree>
    <p:extLst>
      <p:ext uri="{BB962C8B-B14F-4D97-AF65-F5344CB8AC3E}">
        <p14:creationId xmlns:p14="http://schemas.microsoft.com/office/powerpoint/2010/main" val="3576615162"/>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3884" y="28575"/>
            <a:ext cx="8229600" cy="1143000"/>
          </a:xfrm>
        </p:spPr>
        <p:txBody>
          <a:bodyPr>
            <a:normAutofit/>
          </a:bodyPr>
          <a:lstStyle/>
          <a:p>
            <a:pPr rtl="0"/>
            <a:r>
              <a:rPr lang="he-IL" sz="4000" dirty="0"/>
              <a:t>סגירת מעגל הלמידה</a:t>
            </a:r>
          </a:p>
        </p:txBody>
      </p:sp>
      <p:sp>
        <p:nvSpPr>
          <p:cNvPr id="11" name="Content Placeholder 10"/>
          <p:cNvSpPr>
            <a:spLocks noGrp="1"/>
          </p:cNvSpPr>
          <p:nvPr>
            <p:ph idx="1"/>
          </p:nvPr>
        </p:nvSpPr>
        <p:spPr>
          <a:xfrm>
            <a:off x="457200" y="1052736"/>
            <a:ext cx="8001000" cy="843570"/>
          </a:xfrm>
        </p:spPr>
        <p:txBody>
          <a:bodyPr>
            <a:noAutofit/>
          </a:bodyPr>
          <a:lstStyle/>
          <a:p>
            <a:r>
              <a:rPr lang="he-IL" sz="1400" dirty="0" smtClean="0"/>
              <a:t>בתרשים ניתן לראות את מסלול הלמידה הארגונית ברדיותרפיה מרכז רפואי רבין. </a:t>
            </a:r>
          </a:p>
          <a:p>
            <a:r>
              <a:rPr lang="he-IL" sz="1400" dirty="0" smtClean="0"/>
              <a:t>המסלול מורכב משני רכיבים; העברת מידע ויישום והטמעה של מדיניות.</a:t>
            </a:r>
          </a:p>
          <a:p>
            <a:r>
              <a:rPr lang="he-IL" sz="1400" dirty="0" smtClean="0"/>
              <a:t>קיים צורך לעבודה </a:t>
            </a:r>
            <a:r>
              <a:rPr lang="he-IL" sz="1400" dirty="0"/>
              <a:t>עם נהלים </a:t>
            </a:r>
            <a:r>
              <a:rPr lang="he-IL" sz="1400" dirty="0" smtClean="0"/>
              <a:t>כתובים וברורים על מנת לבנות מערכות בקרה ובטיחות אחידות בין המטפלים.</a:t>
            </a:r>
            <a:endParaRPr lang="he-IL" sz="1400" dirty="0"/>
          </a:p>
        </p:txBody>
      </p:sp>
      <p:grpSp>
        <p:nvGrpSpPr>
          <p:cNvPr id="20" name="Group 19"/>
          <p:cNvGrpSpPr/>
          <p:nvPr/>
        </p:nvGrpSpPr>
        <p:grpSpPr>
          <a:xfrm>
            <a:off x="1974776" y="2132856"/>
            <a:ext cx="6096000" cy="3998566"/>
            <a:chOff x="1524000" y="2362200"/>
            <a:chExt cx="6096000" cy="3998566"/>
          </a:xfrm>
        </p:grpSpPr>
        <p:sp>
          <p:nvSpPr>
            <p:cNvPr id="6" name="Flowchart: Process 5"/>
            <p:cNvSpPr/>
            <p:nvPr/>
          </p:nvSpPr>
          <p:spPr>
            <a:xfrm>
              <a:off x="3674983" y="2408837"/>
              <a:ext cx="1053701" cy="323747"/>
            </a:xfrm>
            <a:prstGeom prst="flowChartProcess">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400" dirty="0" smtClean="0"/>
                <a:t>QI reports</a:t>
              </a:r>
              <a:endParaRPr lang="he-IL" sz="1400" dirty="0"/>
            </a:p>
          </p:txBody>
        </p:sp>
        <p:sp>
          <p:nvSpPr>
            <p:cNvPr id="7" name="Right Arrow 6"/>
            <p:cNvSpPr/>
            <p:nvPr/>
          </p:nvSpPr>
          <p:spPr>
            <a:xfrm>
              <a:off x="4926026" y="2362200"/>
              <a:ext cx="751640" cy="417019"/>
            </a:xfrm>
            <a:prstGeom prst="right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1400"/>
            </a:p>
          </p:txBody>
        </p:sp>
        <p:sp>
          <p:nvSpPr>
            <p:cNvPr id="8" name="Flowchart: Process 7"/>
            <p:cNvSpPr/>
            <p:nvPr/>
          </p:nvSpPr>
          <p:spPr>
            <a:xfrm>
              <a:off x="1826190" y="2416376"/>
              <a:ext cx="702467" cy="308667"/>
            </a:xfrm>
            <a:prstGeom prst="flowChartProcess">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400" dirty="0" smtClean="0"/>
                <a:t>Staff</a:t>
              </a:r>
              <a:endParaRPr lang="he-IL" sz="1400" dirty="0"/>
            </a:p>
          </p:txBody>
        </p:sp>
        <p:sp>
          <p:nvSpPr>
            <p:cNvPr id="9" name="Right Arrow 8"/>
            <p:cNvSpPr/>
            <p:nvPr/>
          </p:nvSpPr>
          <p:spPr>
            <a:xfrm>
              <a:off x="2726000" y="2362200"/>
              <a:ext cx="751640" cy="417019"/>
            </a:xfrm>
            <a:prstGeom prst="right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1400"/>
            </a:p>
          </p:txBody>
        </p:sp>
        <p:sp>
          <p:nvSpPr>
            <p:cNvPr id="10" name="Flowchart: Process 9"/>
            <p:cNvSpPr/>
            <p:nvPr/>
          </p:nvSpPr>
          <p:spPr>
            <a:xfrm>
              <a:off x="5875008" y="2399535"/>
              <a:ext cx="1117561" cy="342350"/>
            </a:xfrm>
            <a:prstGeom prst="flowChartProcess">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400" dirty="0" smtClean="0"/>
                <a:t>QI meeting</a:t>
              </a:r>
              <a:endParaRPr lang="he-IL" sz="1400" dirty="0"/>
            </a:p>
          </p:txBody>
        </p:sp>
        <p:sp>
          <p:nvSpPr>
            <p:cNvPr id="12" name="Down Arrow 11"/>
            <p:cNvSpPr/>
            <p:nvPr/>
          </p:nvSpPr>
          <p:spPr>
            <a:xfrm>
              <a:off x="6264558" y="2820479"/>
              <a:ext cx="338462" cy="590121"/>
            </a:xfrm>
            <a:prstGeom prst="down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1400"/>
            </a:p>
          </p:txBody>
        </p:sp>
        <p:sp>
          <p:nvSpPr>
            <p:cNvPr id="14" name="Flowchart: Process 13"/>
            <p:cNvSpPr/>
            <p:nvPr/>
          </p:nvSpPr>
          <p:spPr>
            <a:xfrm>
              <a:off x="5875008" y="3489195"/>
              <a:ext cx="1117561" cy="327845"/>
            </a:xfrm>
            <a:prstGeom prst="flowChartProcess">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400" dirty="0" smtClean="0"/>
                <a:t>Summary</a:t>
              </a:r>
              <a:endParaRPr lang="he-IL" sz="1400" dirty="0"/>
            </a:p>
          </p:txBody>
        </p:sp>
        <p:sp>
          <p:nvSpPr>
            <p:cNvPr id="15" name="Bent Arrow 14"/>
            <p:cNvSpPr/>
            <p:nvPr/>
          </p:nvSpPr>
          <p:spPr>
            <a:xfrm rot="16200000">
              <a:off x="3466515" y="1478375"/>
              <a:ext cx="655691" cy="3863569"/>
            </a:xfrm>
            <a:prstGeom prst="bentArrow">
              <a:avLst>
                <a:gd name="adj1" fmla="val 25000"/>
                <a:gd name="adj2" fmla="val 50000"/>
                <a:gd name="adj3" fmla="val 25000"/>
                <a:gd name="adj4" fmla="val 43750"/>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1400">
                <a:solidFill>
                  <a:schemeClr val="tx1"/>
                </a:solidFill>
              </a:endParaRPr>
            </a:p>
          </p:txBody>
        </p:sp>
        <p:sp>
          <p:nvSpPr>
            <p:cNvPr id="16" name="Down Arrow 15"/>
            <p:cNvSpPr/>
            <p:nvPr/>
          </p:nvSpPr>
          <p:spPr>
            <a:xfrm>
              <a:off x="6207616" y="3895635"/>
              <a:ext cx="452346" cy="524552"/>
            </a:xfrm>
            <a:prstGeom prst="down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1400"/>
            </a:p>
          </p:txBody>
        </p:sp>
        <p:sp>
          <p:nvSpPr>
            <p:cNvPr id="17" name="Flowchart: Process 16"/>
            <p:cNvSpPr/>
            <p:nvPr/>
          </p:nvSpPr>
          <p:spPr>
            <a:xfrm>
              <a:off x="5247577" y="4498781"/>
              <a:ext cx="2372423" cy="655691"/>
            </a:xfrm>
            <a:prstGeom prst="flowChartProcess">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400" dirty="0" smtClean="0"/>
                <a:t>QI procedure development team</a:t>
              </a:r>
              <a:endParaRPr lang="he-IL" sz="1400" dirty="0"/>
            </a:p>
          </p:txBody>
        </p:sp>
        <p:sp>
          <p:nvSpPr>
            <p:cNvPr id="18" name="Down Arrow 17"/>
            <p:cNvSpPr/>
            <p:nvPr/>
          </p:nvSpPr>
          <p:spPr>
            <a:xfrm>
              <a:off x="6186595" y="5233066"/>
              <a:ext cx="494388" cy="524552"/>
            </a:xfrm>
            <a:prstGeom prst="down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1400"/>
            </a:p>
          </p:txBody>
        </p:sp>
        <p:sp>
          <p:nvSpPr>
            <p:cNvPr id="19" name="Flowchart: Process 18"/>
            <p:cNvSpPr/>
            <p:nvPr/>
          </p:nvSpPr>
          <p:spPr>
            <a:xfrm>
              <a:off x="5316228" y="5836214"/>
              <a:ext cx="2235123" cy="524552"/>
            </a:xfrm>
            <a:prstGeom prst="flowChartProcess">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400" dirty="0" smtClean="0"/>
                <a:t>Policy development</a:t>
              </a:r>
              <a:endParaRPr lang="he-IL" sz="1400" dirty="0"/>
            </a:p>
          </p:txBody>
        </p:sp>
        <p:cxnSp>
          <p:nvCxnSpPr>
            <p:cNvPr id="21" name="Straight Arrow Connector 20"/>
            <p:cNvCxnSpPr/>
            <p:nvPr/>
          </p:nvCxnSpPr>
          <p:spPr>
            <a:xfrm flipH="1">
              <a:off x="4386006" y="6098490"/>
              <a:ext cx="702467"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2753317" y="5836214"/>
              <a:ext cx="1404934" cy="524552"/>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400" dirty="0" smtClean="0"/>
                <a:t>implementation</a:t>
              </a:r>
              <a:endParaRPr lang="he-IL" sz="1400" dirty="0"/>
            </a:p>
          </p:txBody>
        </p:sp>
        <p:cxnSp>
          <p:nvCxnSpPr>
            <p:cNvPr id="27" name="Elbow Connector 26"/>
            <p:cNvCxnSpPr/>
            <p:nvPr/>
          </p:nvCxnSpPr>
          <p:spPr>
            <a:xfrm rot="16200000" flipV="1">
              <a:off x="1991840" y="5454091"/>
              <a:ext cx="827807" cy="460991"/>
            </a:xfrm>
            <a:prstGeom prst="bentConnector3">
              <a:avLst>
                <a:gd name="adj1" fmla="val -522"/>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1524000" y="4540595"/>
              <a:ext cx="1404934" cy="590121"/>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400" dirty="0" smtClean="0"/>
                <a:t>Monitoring</a:t>
              </a:r>
              <a:endParaRPr lang="he-IL" sz="1400" dirty="0"/>
            </a:p>
          </p:txBody>
        </p:sp>
        <p:cxnSp>
          <p:nvCxnSpPr>
            <p:cNvPr id="23" name="Straight Arrow Connector 22"/>
            <p:cNvCxnSpPr/>
            <p:nvPr/>
          </p:nvCxnSpPr>
          <p:spPr>
            <a:xfrm flipV="1">
              <a:off x="2226467" y="3939347"/>
              <a:ext cx="0" cy="458983"/>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grpSp>
      <p:sp>
        <p:nvSpPr>
          <p:cNvPr id="3" name="TextBox 2"/>
          <p:cNvSpPr txBox="1"/>
          <p:nvPr/>
        </p:nvSpPr>
        <p:spPr>
          <a:xfrm>
            <a:off x="3659066" y="2834400"/>
            <a:ext cx="1875976" cy="380553"/>
          </a:xfrm>
          <a:prstGeom prst="rect">
            <a:avLst/>
          </a:prstGeom>
          <a:noFill/>
          <a:ln>
            <a:solidFill>
              <a:schemeClr val="tx1"/>
            </a:solidFill>
          </a:ln>
        </p:spPr>
        <p:txBody>
          <a:bodyPr wrap="square" rtlCol="1">
            <a:spAutoFit/>
          </a:bodyPr>
          <a:lstStyle/>
          <a:p>
            <a:pPr algn="ctr" rtl="0"/>
            <a:r>
              <a:rPr lang="en-US" b="1" dirty="0" smtClean="0">
                <a:solidFill>
                  <a:schemeClr val="accent3">
                    <a:lumMod val="50000"/>
                  </a:schemeClr>
                </a:solidFill>
                <a:effectLst>
                  <a:outerShdw blurRad="38100" dist="38100" dir="2700000" algn="tl">
                    <a:srgbClr val="000000">
                      <a:alpha val="43137"/>
                    </a:srgbClr>
                  </a:outerShdw>
                </a:effectLst>
              </a:rPr>
              <a:t>Information flow</a:t>
            </a:r>
            <a:endParaRPr lang="he-IL" b="1" dirty="0">
              <a:solidFill>
                <a:schemeClr val="accent3">
                  <a:lumMod val="50000"/>
                </a:schemeClr>
              </a:solidFill>
              <a:effectLst>
                <a:outerShdw blurRad="38100" dist="38100" dir="2700000" algn="tl">
                  <a:srgbClr val="000000">
                    <a:alpha val="43137"/>
                  </a:srgbClr>
                </a:outerShdw>
              </a:effectLst>
            </a:endParaRPr>
          </a:p>
        </p:txBody>
      </p:sp>
      <p:sp>
        <p:nvSpPr>
          <p:cNvPr id="4" name="TextBox 3"/>
          <p:cNvSpPr txBox="1"/>
          <p:nvPr/>
        </p:nvSpPr>
        <p:spPr>
          <a:xfrm>
            <a:off x="3427642" y="4371379"/>
            <a:ext cx="2224478" cy="671941"/>
          </a:xfrm>
          <a:prstGeom prst="rect">
            <a:avLst/>
          </a:prstGeom>
          <a:noFill/>
          <a:ln>
            <a:solidFill>
              <a:schemeClr val="tx1"/>
            </a:solidFill>
          </a:ln>
        </p:spPr>
        <p:txBody>
          <a:bodyPr wrap="square" rtlCol="1">
            <a:spAutoFit/>
          </a:bodyPr>
          <a:lstStyle/>
          <a:p>
            <a:pPr algn="ctr" rtl="0"/>
            <a:r>
              <a:rPr lang="en-US" b="1" dirty="0" smtClean="0">
                <a:solidFill>
                  <a:schemeClr val="accent3">
                    <a:lumMod val="50000"/>
                  </a:schemeClr>
                </a:solidFill>
                <a:effectLst>
                  <a:outerShdw blurRad="38100" dist="38100" dir="2700000" algn="tl">
                    <a:srgbClr val="000000">
                      <a:alpha val="43137"/>
                    </a:srgbClr>
                  </a:outerShdw>
                </a:effectLst>
              </a:rPr>
              <a:t>Implementation and monitoring flow</a:t>
            </a:r>
            <a:endParaRPr lang="he-IL" b="1" dirty="0">
              <a:solidFill>
                <a:schemeClr val="accent3">
                  <a:lumMod val="50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417029418"/>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circle(out)">
                                      <p:cBhvr>
                                        <p:cTn id="7" dur="2000"/>
                                        <p:tgtEl>
                                          <p:spTgt spid="20"/>
                                        </p:tgtEl>
                                      </p:cBhvr>
                                    </p:animEffect>
                                  </p:childTnLst>
                                </p:cTn>
                              </p:par>
                            </p:childTnLst>
                          </p:cTn>
                        </p:par>
                        <p:par>
                          <p:cTn id="8" fill="hold">
                            <p:stCondLst>
                              <p:cond delay="20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100"/>
                                        <p:tgtEl>
                                          <p:spTgt spid="3"/>
                                        </p:tgtEl>
                                      </p:cBhvr>
                                    </p:animEffect>
                                  </p:childTnLst>
                                </p:cTn>
                              </p:par>
                            </p:childTnLst>
                          </p:cTn>
                        </p:par>
                        <p:par>
                          <p:cTn id="12" fill="hold">
                            <p:stCondLst>
                              <p:cond delay="310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11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8" fill="hold" grpId="0" nodeType="clickEffect">
                                  <p:stCondLst>
                                    <p:cond delay="400"/>
                                  </p:stCondLst>
                                  <p:childTnLst>
                                    <p:set>
                                      <p:cBhvr>
                                        <p:cTn id="19" dur="1" fill="hold">
                                          <p:stCondLst>
                                            <p:cond delay="0"/>
                                          </p:stCondLst>
                                        </p:cTn>
                                        <p:tgtEl>
                                          <p:spTgt spid="11">
                                            <p:txEl>
                                              <p:pRg st="0" end="0"/>
                                            </p:txEl>
                                          </p:spTgt>
                                        </p:tgtEl>
                                        <p:attrNameLst>
                                          <p:attrName>style.visibility</p:attrName>
                                        </p:attrNameLst>
                                      </p:cBhvr>
                                      <p:to>
                                        <p:strVal val="visible"/>
                                      </p:to>
                                    </p:set>
                                    <p:anim calcmode="lin" valueType="num">
                                      <p:cBhvr additive="base">
                                        <p:cTn id="20" dur="400" fill="hold"/>
                                        <p:tgtEl>
                                          <p:spTgt spid="11">
                                            <p:txEl>
                                              <p:pRg st="0" end="0"/>
                                            </p:txEl>
                                          </p:spTgt>
                                        </p:tgtEl>
                                        <p:attrNameLst>
                                          <p:attrName>ppt_x</p:attrName>
                                        </p:attrNameLst>
                                      </p:cBhvr>
                                      <p:tavLst>
                                        <p:tav tm="0">
                                          <p:val>
                                            <p:strVal val="0-#ppt_w/2"/>
                                          </p:val>
                                        </p:tav>
                                        <p:tav tm="100000">
                                          <p:val>
                                            <p:strVal val="#ppt_x"/>
                                          </p:val>
                                        </p:tav>
                                      </p:tavLst>
                                    </p:anim>
                                    <p:anim calcmode="lin" valueType="num">
                                      <p:cBhvr additive="base">
                                        <p:cTn id="21" dur="400" fill="hold"/>
                                        <p:tgtEl>
                                          <p:spTgt spid="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8" fill="hold" grpId="0" nodeType="clickEffect">
                                  <p:stCondLst>
                                    <p:cond delay="400"/>
                                  </p:stCondLst>
                                  <p:childTnLst>
                                    <p:set>
                                      <p:cBhvr>
                                        <p:cTn id="25" dur="1" fill="hold">
                                          <p:stCondLst>
                                            <p:cond delay="0"/>
                                          </p:stCondLst>
                                        </p:cTn>
                                        <p:tgtEl>
                                          <p:spTgt spid="11">
                                            <p:txEl>
                                              <p:pRg st="1" end="1"/>
                                            </p:txEl>
                                          </p:spTgt>
                                        </p:tgtEl>
                                        <p:attrNameLst>
                                          <p:attrName>style.visibility</p:attrName>
                                        </p:attrNameLst>
                                      </p:cBhvr>
                                      <p:to>
                                        <p:strVal val="visible"/>
                                      </p:to>
                                    </p:set>
                                    <p:anim calcmode="lin" valueType="num">
                                      <p:cBhvr additive="base">
                                        <p:cTn id="26" dur="400" fill="hold"/>
                                        <p:tgtEl>
                                          <p:spTgt spid="11">
                                            <p:txEl>
                                              <p:pRg st="1" end="1"/>
                                            </p:txEl>
                                          </p:spTgt>
                                        </p:tgtEl>
                                        <p:attrNameLst>
                                          <p:attrName>ppt_x</p:attrName>
                                        </p:attrNameLst>
                                      </p:cBhvr>
                                      <p:tavLst>
                                        <p:tav tm="0">
                                          <p:val>
                                            <p:strVal val="0-#ppt_w/2"/>
                                          </p:val>
                                        </p:tav>
                                        <p:tav tm="100000">
                                          <p:val>
                                            <p:strVal val="#ppt_x"/>
                                          </p:val>
                                        </p:tav>
                                      </p:tavLst>
                                    </p:anim>
                                    <p:anim calcmode="lin" valueType="num">
                                      <p:cBhvr additive="base">
                                        <p:cTn id="27" dur="400" fill="hold"/>
                                        <p:tgtEl>
                                          <p:spTgt spid="1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grpId="0" nodeType="clickEffect">
                                  <p:stCondLst>
                                    <p:cond delay="400"/>
                                  </p:stCondLst>
                                  <p:childTnLst>
                                    <p:set>
                                      <p:cBhvr>
                                        <p:cTn id="31" dur="1" fill="hold">
                                          <p:stCondLst>
                                            <p:cond delay="0"/>
                                          </p:stCondLst>
                                        </p:cTn>
                                        <p:tgtEl>
                                          <p:spTgt spid="11">
                                            <p:txEl>
                                              <p:pRg st="2" end="2"/>
                                            </p:txEl>
                                          </p:spTgt>
                                        </p:tgtEl>
                                        <p:attrNameLst>
                                          <p:attrName>style.visibility</p:attrName>
                                        </p:attrNameLst>
                                      </p:cBhvr>
                                      <p:to>
                                        <p:strVal val="visible"/>
                                      </p:to>
                                    </p:set>
                                    <p:anim calcmode="lin" valueType="num">
                                      <p:cBhvr additive="base">
                                        <p:cTn id="32" dur="400" fill="hold"/>
                                        <p:tgtEl>
                                          <p:spTgt spid="11">
                                            <p:txEl>
                                              <p:pRg st="2" end="2"/>
                                            </p:txEl>
                                          </p:spTgt>
                                        </p:tgtEl>
                                        <p:attrNameLst>
                                          <p:attrName>ppt_x</p:attrName>
                                        </p:attrNameLst>
                                      </p:cBhvr>
                                      <p:tavLst>
                                        <p:tav tm="0">
                                          <p:val>
                                            <p:strVal val="0-#ppt_w/2"/>
                                          </p:val>
                                        </p:tav>
                                        <p:tav tm="100000">
                                          <p:val>
                                            <p:strVal val="#ppt_x"/>
                                          </p:val>
                                        </p:tav>
                                      </p:tavLst>
                                    </p:anim>
                                    <p:anim calcmode="lin" valueType="num">
                                      <p:cBhvr additive="base">
                                        <p:cTn id="33" dur="400" fill="hold"/>
                                        <p:tgtEl>
                                          <p:spTgt spid="11">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3" grpId="0" animBg="1"/>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187624" y="95843"/>
            <a:ext cx="6768752" cy="720080"/>
          </a:xfrm>
        </p:spPr>
        <p:txBody>
          <a:bodyPr/>
          <a:lstStyle/>
          <a:p>
            <a:pPr rtl="0"/>
            <a:r>
              <a:rPr lang="he-IL" sz="3200"/>
              <a:t>מערכות למידה; מקומית, לאומית או בינלאומית</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b="1027"/>
          <a:stretch>
            <a:fillRect/>
          </a:stretch>
        </p:blipFill>
        <p:spPr bwMode="auto">
          <a:xfrm>
            <a:off x="3995936" y="692696"/>
            <a:ext cx="5040560" cy="16210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l="25371" r="24175"/>
          <a:stretch>
            <a:fillRect/>
          </a:stretch>
        </p:blipFill>
        <p:spPr bwMode="auto">
          <a:xfrm>
            <a:off x="940453" y="1066841"/>
            <a:ext cx="3018971" cy="9219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מציין מיקום תוכן 2"/>
          <p:cNvSpPr>
            <a:spLocks noGrp="1"/>
          </p:cNvSpPr>
          <p:nvPr>
            <p:ph idx="1"/>
          </p:nvPr>
        </p:nvSpPr>
        <p:spPr>
          <a:xfrm>
            <a:off x="118784" y="2348880"/>
            <a:ext cx="8856984" cy="3816424"/>
          </a:xfrm>
          <a:solidFill>
            <a:schemeClr val="tx2">
              <a:lumMod val="20000"/>
              <a:lumOff val="80000"/>
            </a:schemeClr>
          </a:solidFill>
        </p:spPr>
        <p:txBody>
          <a:bodyPr>
            <a:normAutofit lnSpcReduction="10000"/>
          </a:bodyPr>
          <a:lstStyle/>
          <a:p>
            <a:pPr algn="l" rtl="0"/>
            <a:r>
              <a:rPr lang="en-US" sz="2400" b="1" dirty="0">
                <a:solidFill>
                  <a:srgbClr val="00B050"/>
                </a:solidFill>
              </a:rPr>
              <a:t>Local ILS </a:t>
            </a:r>
            <a:r>
              <a:rPr lang="en-US" sz="2000" dirty="0"/>
              <a:t>– direct benefit of the department in which is established. i.e. Mallinckrodt institute or radiology, St. Luis ,Missouri (Med. Phys. 37(9); 5027)</a:t>
            </a:r>
          </a:p>
          <a:p>
            <a:pPr algn="l" rtl="0"/>
            <a:r>
              <a:rPr lang="en-US" sz="2400" b="1" dirty="0">
                <a:solidFill>
                  <a:srgbClr val="00B050"/>
                </a:solidFill>
              </a:rPr>
              <a:t>National ILS </a:t>
            </a:r>
            <a:r>
              <a:rPr lang="en-US" sz="2000" dirty="0"/>
              <a:t>– greater pool to learn from but needs standardized approach across centers in the country. i.e. RO-ILS (2014)</a:t>
            </a:r>
          </a:p>
          <a:p>
            <a:pPr algn="l" rtl="0"/>
            <a:r>
              <a:rPr lang="en-US" sz="2400" b="1" dirty="0">
                <a:solidFill>
                  <a:srgbClr val="00B050"/>
                </a:solidFill>
              </a:rPr>
              <a:t>International ILS </a:t>
            </a:r>
            <a:r>
              <a:rPr lang="en-US" sz="2000" dirty="0"/>
              <a:t>- information reaches an even wider audience and has additional benefits, where smaller or developing centers can learn from the experiences of more established centers. i.e. ROSIS/ROSEIS (2004) and SAFRON (2015)</a:t>
            </a:r>
          </a:p>
          <a:p>
            <a:pPr algn="l" rtl="0"/>
            <a:r>
              <a:rPr lang="en-US" sz="2000" b="1" i="1" dirty="0">
                <a:solidFill>
                  <a:srgbClr val="002060"/>
                </a:solidFill>
                <a:effectLst>
                  <a:outerShdw blurRad="38100" dist="38100" dir="2700000" algn="tl">
                    <a:srgbClr val="000000">
                      <a:alpha val="43137"/>
                    </a:srgbClr>
                  </a:outerShdw>
                </a:effectLst>
              </a:rPr>
              <a:t>A disadvantage of a national and international ILS is that only more severe incidents are being reported. That is Unsafe conditions and near misses are </a:t>
            </a:r>
            <a:r>
              <a:rPr lang="en-US" sz="2000" b="1" i="1" dirty="0" smtClean="0">
                <a:solidFill>
                  <a:srgbClr val="002060"/>
                </a:solidFill>
                <a:effectLst>
                  <a:outerShdw blurRad="38100" dist="38100" dir="2700000" algn="tl">
                    <a:srgbClr val="000000">
                      <a:alpha val="43137"/>
                    </a:srgbClr>
                  </a:outerShdw>
                </a:effectLst>
              </a:rPr>
              <a:t>mostly filtered </a:t>
            </a:r>
            <a:r>
              <a:rPr lang="en-US" sz="2000" b="1" i="1" dirty="0">
                <a:solidFill>
                  <a:srgbClr val="002060"/>
                </a:solidFill>
                <a:effectLst>
                  <a:outerShdw blurRad="38100" dist="38100" dir="2700000" algn="tl">
                    <a:srgbClr val="000000">
                      <a:alpha val="43137"/>
                    </a:srgbClr>
                  </a:outerShdw>
                </a:effectLst>
              </a:rPr>
              <a:t>out.</a:t>
            </a:r>
            <a:endParaRPr lang="he-IL" sz="2000" b="1" i="1" dirty="0">
              <a:solidFill>
                <a:srgbClr val="002060"/>
              </a:solidFill>
              <a:effectLst>
                <a:outerShdw blurRad="38100" dist="38100" dir="2700000" algn="tl">
                  <a:srgbClr val="000000">
                    <a:alpha val="43137"/>
                  </a:srgbClr>
                </a:outerShdw>
              </a:effectLst>
            </a:endParaRPr>
          </a:p>
          <a:p>
            <a:pPr algn="l" rtl="0"/>
            <a:endParaRPr lang="he-IL" sz="2000" dirty="0"/>
          </a:p>
        </p:txBody>
      </p:sp>
      <p:pic>
        <p:nvPicPr>
          <p:cNvPr id="7" name="Picture 3"/>
          <p:cNvPicPr>
            <a:picLocks noChangeAspect="1" noChangeArrowheads="1"/>
          </p:cNvPicPr>
          <p:nvPr/>
        </p:nvPicPr>
        <p:blipFill>
          <a:blip r:embed="rId3">
            <a:extLst>
              <a:ext uri="{28A0092B-C50C-407E-A947-70E740481C1C}">
                <a14:useLocalDpi xmlns:a14="http://schemas.microsoft.com/office/drawing/2010/main" val="0"/>
              </a:ext>
            </a:extLst>
          </a:blip>
          <a:srcRect l="-552" r="85518"/>
          <a:stretch>
            <a:fillRect/>
          </a:stretch>
        </p:blipFill>
        <p:spPr bwMode="auto">
          <a:xfrm>
            <a:off x="35496" y="1061896"/>
            <a:ext cx="899592" cy="9219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61839899"/>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BD224B7-5F63-BDFF-9579-51EA57375DFE}"/>
              </a:ext>
            </a:extLst>
          </p:cNvPr>
          <p:cNvSpPr>
            <a:spLocks noGrp="1"/>
          </p:cNvSpPr>
          <p:nvPr>
            <p:ph type="title"/>
          </p:nvPr>
        </p:nvSpPr>
        <p:spPr>
          <a:xfrm>
            <a:off x="446856" y="116632"/>
            <a:ext cx="8229600" cy="1143000"/>
          </a:xfrm>
        </p:spPr>
        <p:txBody>
          <a:bodyPr>
            <a:normAutofit fontScale="90000"/>
          </a:bodyPr>
          <a:lstStyle/>
          <a:p>
            <a:r>
              <a:rPr lang="he-IL" dirty="0"/>
              <a:t>ניהול סיכונים </a:t>
            </a:r>
            <a:r>
              <a:rPr lang="he-IL" dirty="0" err="1" smtClean="0"/>
              <a:t>ריאקטיבי</a:t>
            </a:r>
            <a:r>
              <a:rPr lang="he-IL" dirty="0" smtClean="0"/>
              <a:t> </a:t>
            </a:r>
            <a:r>
              <a:rPr lang="he-IL" dirty="0"/>
              <a:t>- מערכת למידה מקומית של מרכז רפואי רבין</a:t>
            </a:r>
            <a:endParaRPr lang="en-IL" dirty="0"/>
          </a:p>
        </p:txBody>
      </p:sp>
      <p:sp>
        <p:nvSpPr>
          <p:cNvPr id="3" name="מציין מיקום תוכן 2">
            <a:extLst>
              <a:ext uri="{FF2B5EF4-FFF2-40B4-BE49-F238E27FC236}">
                <a16:creationId xmlns:a16="http://schemas.microsoft.com/office/drawing/2014/main" id="{DBD1B137-B193-9547-D09F-310BA2DD3329}"/>
              </a:ext>
            </a:extLst>
          </p:cNvPr>
          <p:cNvSpPr>
            <a:spLocks noGrp="1"/>
          </p:cNvSpPr>
          <p:nvPr>
            <p:ph idx="1"/>
          </p:nvPr>
        </p:nvSpPr>
        <p:spPr>
          <a:xfrm>
            <a:off x="3707904" y="1554536"/>
            <a:ext cx="5218610" cy="4525963"/>
          </a:xfrm>
        </p:spPr>
        <p:txBody>
          <a:bodyPr>
            <a:normAutofit fontScale="62500" lnSpcReduction="20000"/>
          </a:bodyPr>
          <a:lstStyle/>
          <a:p>
            <a:r>
              <a:rPr lang="he-IL" dirty="0"/>
              <a:t>כל הצוותים ביחידה: רופאים, מזכירות, </a:t>
            </a:r>
            <a:r>
              <a:rPr lang="he-IL" dirty="0" err="1"/>
              <a:t>רנטגנאים</a:t>
            </a:r>
            <a:r>
              <a:rPr lang="he-IL" dirty="0"/>
              <a:t>, פיזיקאים אחיות ומהנדסים מדווחים באמצעות דו"ח למידה </a:t>
            </a:r>
            <a:r>
              <a:rPr lang="he-IL" dirty="0" err="1"/>
              <a:t>יעודי</a:t>
            </a:r>
            <a:r>
              <a:rPr lang="he-IL" dirty="0"/>
              <a:t>.</a:t>
            </a:r>
          </a:p>
          <a:p>
            <a:r>
              <a:rPr lang="he-IL" dirty="0"/>
              <a:t>כל שבועיים מתקיימת ישיבת </a:t>
            </a:r>
            <a:r>
              <a:rPr lang="en-US" dirty="0"/>
              <a:t>QI</a:t>
            </a:r>
            <a:r>
              <a:rPr lang="he-IL" dirty="0"/>
              <a:t> בנוכחות מנהלי היחידה: רופא ראשי, </a:t>
            </a:r>
            <a:r>
              <a:rPr lang="he-IL" dirty="0" err="1"/>
              <a:t>רנטגנאית</a:t>
            </a:r>
            <a:r>
              <a:rPr lang="he-IL" dirty="0"/>
              <a:t> ראשית, פיזיקאי ראשי, אחות ראשית, מנהל אדמיניסטרטיבי ואחראי איכות.</a:t>
            </a:r>
          </a:p>
          <a:p>
            <a:r>
              <a:rPr lang="he-IL" dirty="0"/>
              <a:t>פרוטוקול הישיבה נכתב ולאחר אישור מנהל היחידה נשלח לכלל הצוות המטפל, ליחידה לניהול סיכונים ולהנהלת מרכז דוידוף. </a:t>
            </a:r>
            <a:r>
              <a:rPr lang="he-IL" b="1" u="sng" dirty="0" smtClean="0">
                <a:effectLst>
                  <a:outerShdw blurRad="38100" dist="38100" dir="2700000" algn="tl">
                    <a:srgbClr val="000000">
                      <a:alpha val="43137"/>
                    </a:srgbClr>
                  </a:outerShdw>
                </a:effectLst>
              </a:rPr>
              <a:t>שלב </a:t>
            </a:r>
            <a:r>
              <a:rPr lang="he-IL" b="1" u="sng" dirty="0">
                <a:effectLst>
                  <a:outerShdw blurRad="38100" dist="38100" dir="2700000" algn="tl">
                    <a:srgbClr val="000000">
                      <a:alpha val="43137"/>
                    </a:srgbClr>
                  </a:outerShdw>
                </a:effectLst>
              </a:rPr>
              <a:t>זה </a:t>
            </a:r>
            <a:r>
              <a:rPr lang="he-IL" b="1" u="sng" dirty="0" smtClean="0">
                <a:effectLst>
                  <a:outerShdw blurRad="38100" dist="38100" dir="2700000" algn="tl">
                    <a:srgbClr val="000000">
                      <a:alpha val="43137"/>
                    </a:srgbClr>
                  </a:outerShdw>
                </a:effectLst>
              </a:rPr>
              <a:t>הינו קריטי </a:t>
            </a:r>
            <a:r>
              <a:rPr lang="he-IL" b="1" u="sng" dirty="0">
                <a:effectLst>
                  <a:outerShdw blurRad="38100" dist="38100" dir="2700000" algn="tl">
                    <a:srgbClr val="000000">
                      <a:alpha val="43137"/>
                    </a:srgbClr>
                  </a:outerShdw>
                </a:effectLst>
              </a:rPr>
              <a:t>להצלחת תהליך הלמידה והגברת המודעות לנושאי בטיחות </a:t>
            </a:r>
            <a:r>
              <a:rPr lang="he-IL" b="1" u="sng" dirty="0" smtClean="0">
                <a:effectLst>
                  <a:outerShdw blurRad="38100" dist="38100" dir="2700000" algn="tl">
                    <a:srgbClr val="000000">
                      <a:alpha val="43137"/>
                    </a:srgbClr>
                  </a:outerShdw>
                </a:effectLst>
              </a:rPr>
              <a:t>של </a:t>
            </a:r>
            <a:r>
              <a:rPr lang="he-IL" b="1" u="sng" dirty="0">
                <a:effectLst>
                  <a:outerShdw blurRad="38100" dist="38100" dir="2700000" algn="tl">
                    <a:srgbClr val="000000">
                      <a:alpha val="43137"/>
                    </a:srgbClr>
                  </a:outerShdw>
                </a:effectLst>
              </a:rPr>
              <a:t>הצוות המטפל.</a:t>
            </a:r>
          </a:p>
          <a:p>
            <a:r>
              <a:rPr lang="he-IL" dirty="0"/>
              <a:t>בישיבות </a:t>
            </a:r>
            <a:r>
              <a:rPr lang="en-US" dirty="0"/>
              <a:t>QI</a:t>
            </a:r>
            <a:r>
              <a:rPr lang="he-IL" dirty="0"/>
              <a:t> </a:t>
            </a:r>
            <a:r>
              <a:rPr lang="he-IL" dirty="0" smtClean="0"/>
              <a:t>מקבלים </a:t>
            </a:r>
            <a:r>
              <a:rPr lang="he-IL" dirty="0"/>
              <a:t>החלטות אופרטיביות ומגדירים </a:t>
            </a:r>
            <a:r>
              <a:rPr lang="he-IL" dirty="0" smtClean="0"/>
              <a:t>משימות ופרויקטים </a:t>
            </a:r>
            <a:r>
              <a:rPr lang="he-IL" dirty="0"/>
              <a:t>של בטיחות ביחידה.</a:t>
            </a:r>
          </a:p>
          <a:p>
            <a:r>
              <a:rPr lang="he-IL" dirty="0"/>
              <a:t>כל הדוחות מוזנים למסד הנתונים ומדוחים ליחידה לניהול סיכונים.</a:t>
            </a:r>
          </a:p>
          <a:p>
            <a:endParaRPr lang="en-IL" dirty="0"/>
          </a:p>
        </p:txBody>
      </p:sp>
      <p:pic>
        <p:nvPicPr>
          <p:cNvPr id="5" name="תמונה 4">
            <a:extLst>
              <a:ext uri="{FF2B5EF4-FFF2-40B4-BE49-F238E27FC236}">
                <a16:creationId xmlns:a16="http://schemas.microsoft.com/office/drawing/2014/main" id="{1224FD74-BA3C-1C53-9B19-6EA266557B48}"/>
              </a:ext>
            </a:extLst>
          </p:cNvPr>
          <p:cNvPicPr>
            <a:picLocks noChangeAspect="1"/>
          </p:cNvPicPr>
          <p:nvPr/>
        </p:nvPicPr>
        <p:blipFill>
          <a:blip r:embed="rId2"/>
          <a:stretch>
            <a:fillRect/>
          </a:stretch>
        </p:blipFill>
        <p:spPr>
          <a:xfrm>
            <a:off x="35496" y="1271760"/>
            <a:ext cx="3816424" cy="4990709"/>
          </a:xfrm>
          <a:prstGeom prst="rect">
            <a:avLst/>
          </a:prstGeom>
        </p:spPr>
      </p:pic>
    </p:spTree>
    <p:extLst>
      <p:ext uri="{BB962C8B-B14F-4D97-AF65-F5344CB8AC3E}">
        <p14:creationId xmlns:p14="http://schemas.microsoft.com/office/powerpoint/2010/main" val="402450677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dur="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dur="1"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dur="1"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p:stCondLst>
                              <p:cond delay="0"/>
                            </p:stCondLst>
                            <p:childTnLst>
                              <p:par>
                                <p:cTn id="17" presetID="1" presetClass="entr" presetSubtype="0" dur="1"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p:stCondLst>
                              <p:cond delay="0"/>
                            </p:stCondLst>
                            <p:childTnLst>
                              <p:par>
                                <p:cTn id="21" presetID="1" presetClass="entr" presetSubtype="0" dur="1"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BD224B7-5F63-BDFF-9579-51EA57375DFE}"/>
              </a:ext>
            </a:extLst>
          </p:cNvPr>
          <p:cNvSpPr>
            <a:spLocks noGrp="1"/>
          </p:cNvSpPr>
          <p:nvPr>
            <p:ph type="title"/>
          </p:nvPr>
        </p:nvSpPr>
        <p:spPr>
          <a:xfrm>
            <a:off x="446856" y="116632"/>
            <a:ext cx="8229600" cy="1143000"/>
          </a:xfrm>
        </p:spPr>
        <p:txBody>
          <a:bodyPr>
            <a:normAutofit fontScale="90000"/>
          </a:bodyPr>
          <a:lstStyle/>
          <a:p>
            <a:r>
              <a:rPr lang="he-IL" dirty="0"/>
              <a:t>ניהול סיכונים </a:t>
            </a:r>
            <a:r>
              <a:rPr lang="he-IL" dirty="0" err="1" smtClean="0"/>
              <a:t>ריאקטיבי</a:t>
            </a:r>
            <a:r>
              <a:rPr lang="he-IL" dirty="0" smtClean="0"/>
              <a:t> </a:t>
            </a:r>
            <a:r>
              <a:rPr lang="he-IL" dirty="0"/>
              <a:t>- מערכת למידה מקומית של מרכז רפואי רבין</a:t>
            </a:r>
            <a:endParaRPr lang="en-IL" dirty="0"/>
          </a:p>
        </p:txBody>
      </p:sp>
      <p:sp>
        <p:nvSpPr>
          <p:cNvPr id="3" name="מציין מיקום תוכן 2">
            <a:extLst>
              <a:ext uri="{FF2B5EF4-FFF2-40B4-BE49-F238E27FC236}">
                <a16:creationId xmlns:a16="http://schemas.microsoft.com/office/drawing/2014/main" id="{DBD1B137-B193-9547-D09F-310BA2DD3329}"/>
              </a:ext>
            </a:extLst>
          </p:cNvPr>
          <p:cNvSpPr>
            <a:spLocks noGrp="1"/>
          </p:cNvSpPr>
          <p:nvPr>
            <p:ph idx="1"/>
          </p:nvPr>
        </p:nvSpPr>
        <p:spPr>
          <a:xfrm>
            <a:off x="3851920" y="1554536"/>
            <a:ext cx="5074594" cy="4525963"/>
          </a:xfrm>
        </p:spPr>
        <p:txBody>
          <a:bodyPr>
            <a:normAutofit fontScale="77500" lnSpcReduction="20000"/>
          </a:bodyPr>
          <a:lstStyle/>
          <a:p>
            <a:r>
              <a:rPr lang="he-IL" dirty="0" smtClean="0"/>
              <a:t>דגשים למילוי דו"ח למידה:</a:t>
            </a:r>
          </a:p>
          <a:p>
            <a:pPr lvl="1"/>
            <a:r>
              <a:rPr lang="he-IL" b="1" dirty="0"/>
              <a:t>חשוב לזכור שהמטרה העליונה למילוי הדו"ח היא למידה </a:t>
            </a:r>
            <a:r>
              <a:rPr lang="he-IL" b="1" dirty="0" smtClean="0"/>
              <a:t>מהאירוע.</a:t>
            </a:r>
            <a:endParaRPr lang="he-IL" b="1" dirty="0"/>
          </a:p>
          <a:p>
            <a:pPr lvl="1"/>
            <a:r>
              <a:rPr lang="he-IL" dirty="0" smtClean="0"/>
              <a:t>חשוב להבין שהדו"ח מתאר אירוע שקרה </a:t>
            </a:r>
            <a:r>
              <a:rPr lang="he-IL" b="1" dirty="0" smtClean="0"/>
              <a:t>ולא נועד לצורך הבעת תלונות אישיות</a:t>
            </a:r>
            <a:r>
              <a:rPr lang="he-IL" dirty="0" smtClean="0"/>
              <a:t>. </a:t>
            </a:r>
          </a:p>
          <a:p>
            <a:pPr lvl="1"/>
            <a:r>
              <a:rPr lang="he-IL" dirty="0" smtClean="0"/>
              <a:t>לדווח על עובדות שקרו בפועל.</a:t>
            </a:r>
          </a:p>
          <a:p>
            <a:pPr lvl="1"/>
            <a:r>
              <a:rPr lang="he-IL" dirty="0" smtClean="0"/>
              <a:t>הבעה של תחושות ורגשות בדיווח רק אם נחוץ לצורך הבנת האירוע. אחרת יש להימנע ככל הניתן.</a:t>
            </a:r>
          </a:p>
          <a:p>
            <a:pPr lvl="1"/>
            <a:r>
              <a:rPr lang="he-IL" dirty="0" smtClean="0"/>
              <a:t>לתאר </a:t>
            </a:r>
            <a:r>
              <a:rPr lang="he-IL" u="sng" dirty="0" smtClean="0"/>
              <a:t>בתמציתיות</a:t>
            </a:r>
            <a:r>
              <a:rPr lang="he-IL" dirty="0" smtClean="0"/>
              <a:t> את מהלך האירוע מתחילתו עד סופו.</a:t>
            </a:r>
          </a:p>
          <a:p>
            <a:pPr lvl="1"/>
            <a:r>
              <a:rPr lang="he-IL" dirty="0" smtClean="0"/>
              <a:t>לציין השלכות של האירוע בדיווח.</a:t>
            </a:r>
          </a:p>
          <a:p>
            <a:pPr lvl="1"/>
            <a:r>
              <a:rPr lang="he-IL" dirty="0" smtClean="0"/>
              <a:t>להציע הצעות לשיפור וייעול.</a:t>
            </a:r>
          </a:p>
          <a:p>
            <a:pPr lvl="1"/>
            <a:endParaRPr lang="en-IL" dirty="0"/>
          </a:p>
        </p:txBody>
      </p:sp>
      <p:pic>
        <p:nvPicPr>
          <p:cNvPr id="5" name="תמונה 4">
            <a:extLst>
              <a:ext uri="{FF2B5EF4-FFF2-40B4-BE49-F238E27FC236}">
                <a16:creationId xmlns:a16="http://schemas.microsoft.com/office/drawing/2014/main" id="{1224FD74-BA3C-1C53-9B19-6EA266557B48}"/>
              </a:ext>
            </a:extLst>
          </p:cNvPr>
          <p:cNvPicPr>
            <a:picLocks noChangeAspect="1"/>
          </p:cNvPicPr>
          <p:nvPr/>
        </p:nvPicPr>
        <p:blipFill>
          <a:blip r:embed="rId2"/>
          <a:stretch>
            <a:fillRect/>
          </a:stretch>
        </p:blipFill>
        <p:spPr>
          <a:xfrm>
            <a:off x="35496" y="1271760"/>
            <a:ext cx="3816424" cy="4990709"/>
          </a:xfrm>
          <a:prstGeom prst="rect">
            <a:avLst/>
          </a:prstGeom>
        </p:spPr>
      </p:pic>
    </p:spTree>
    <p:extLst>
      <p:ext uri="{BB962C8B-B14F-4D97-AF65-F5344CB8AC3E}">
        <p14:creationId xmlns:p14="http://schemas.microsoft.com/office/powerpoint/2010/main" val="263604543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dur="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06243" y="83157"/>
            <a:ext cx="8229600" cy="1143000"/>
          </a:xfrm>
        </p:spPr>
        <p:txBody>
          <a:bodyPr>
            <a:normAutofit fontScale="90000"/>
          </a:bodyPr>
          <a:lstStyle/>
          <a:p>
            <a:r>
              <a:rPr lang="he-IL" dirty="0"/>
              <a:t>ניהול סיכונים </a:t>
            </a:r>
            <a:r>
              <a:rPr lang="he-IL" dirty="0" err="1"/>
              <a:t>ראקטיבי</a:t>
            </a:r>
            <a:r>
              <a:rPr lang="he-IL" dirty="0"/>
              <a:t> - מערכת למידה מקומית של מרכז רפואי רבין</a:t>
            </a:r>
          </a:p>
        </p:txBody>
      </p:sp>
      <p:pic>
        <p:nvPicPr>
          <p:cNvPr id="6" name="תמונה 5"/>
          <p:cNvPicPr>
            <a:picLocks noChangeAspect="1"/>
          </p:cNvPicPr>
          <p:nvPr/>
        </p:nvPicPr>
        <p:blipFill>
          <a:blip r:embed="rId2"/>
          <a:stretch>
            <a:fillRect/>
          </a:stretch>
        </p:blipFill>
        <p:spPr>
          <a:xfrm>
            <a:off x="564952" y="1402921"/>
            <a:ext cx="7919390" cy="2127688"/>
          </a:xfrm>
          <a:prstGeom prst="rect">
            <a:avLst/>
          </a:prstGeom>
        </p:spPr>
      </p:pic>
      <p:pic>
        <p:nvPicPr>
          <p:cNvPr id="10" name="תמונה 9"/>
          <p:cNvPicPr>
            <a:picLocks noChangeAspect="1"/>
          </p:cNvPicPr>
          <p:nvPr/>
        </p:nvPicPr>
        <p:blipFill>
          <a:blip r:embed="rId3"/>
          <a:stretch>
            <a:fillRect/>
          </a:stretch>
        </p:blipFill>
        <p:spPr>
          <a:xfrm>
            <a:off x="564952" y="3560512"/>
            <a:ext cx="7919390" cy="3097036"/>
          </a:xfrm>
          <a:prstGeom prst="rect">
            <a:avLst/>
          </a:prstGeom>
        </p:spPr>
      </p:pic>
    </p:spTree>
    <p:extLst>
      <p:ext uri="{BB962C8B-B14F-4D97-AF65-F5344CB8AC3E}">
        <p14:creationId xmlns:p14="http://schemas.microsoft.com/office/powerpoint/2010/main" val="4129509537"/>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תוצרים של מערכת הלמידה</a:t>
            </a:r>
          </a:p>
        </p:txBody>
      </p:sp>
      <p:sp>
        <p:nvSpPr>
          <p:cNvPr id="3" name="מציין מיקום תוכן 2"/>
          <p:cNvSpPr>
            <a:spLocks noGrp="1"/>
          </p:cNvSpPr>
          <p:nvPr>
            <p:ph idx="1"/>
          </p:nvPr>
        </p:nvSpPr>
        <p:spPr>
          <a:xfrm>
            <a:off x="5695020" y="1268760"/>
            <a:ext cx="3341476" cy="5328592"/>
          </a:xfrm>
        </p:spPr>
        <p:txBody>
          <a:bodyPr>
            <a:noAutofit/>
          </a:bodyPr>
          <a:lstStyle/>
          <a:p>
            <a:r>
              <a:rPr lang="he-IL" sz="1600" dirty="0" smtClean="0"/>
              <a:t>חשוב לשאול מה אנו לומדים מהתרשימים? ואיך ניתן לרתום את הידע ללמידה והבנה מעמיקה של התהליכים ביחידה.</a:t>
            </a:r>
          </a:p>
          <a:p>
            <a:r>
              <a:rPr lang="he-IL" sz="1600" dirty="0" smtClean="0"/>
              <a:t>למשל, צפוי שבשלבים שבהם יש אינטראקציה עם המטופל יהיו יותר דיווחים (מהלך הטיפול, סימולציה). בשלבים אלו בד"כ יש יותר צורך בעבודה יעילה ומתן פתרונות בזמן אמת.</a:t>
            </a:r>
          </a:p>
          <a:p>
            <a:r>
              <a:rPr lang="he-IL" sz="1600" dirty="0" smtClean="0"/>
              <a:t>למשל, אם מזהים </a:t>
            </a:r>
            <a:r>
              <a:rPr lang="he-IL" sz="1600" dirty="0" smtClean="0">
                <a:solidFill>
                  <a:srgbClr val="00B050"/>
                </a:solidFill>
              </a:rPr>
              <a:t>שמתקן </a:t>
            </a:r>
            <a:r>
              <a:rPr lang="he-IL" sz="1600" dirty="0" err="1" smtClean="0">
                <a:solidFill>
                  <a:srgbClr val="00B050"/>
                </a:solidFill>
              </a:rPr>
              <a:t>מסויים</a:t>
            </a:r>
            <a:r>
              <a:rPr lang="he-IL" sz="1600" dirty="0" smtClean="0"/>
              <a:t>/</a:t>
            </a:r>
            <a:r>
              <a:rPr lang="he-IL" sz="1600" dirty="0" smtClean="0">
                <a:solidFill>
                  <a:srgbClr val="002060"/>
                </a:solidFill>
              </a:rPr>
              <a:t>טכניקה מסוימת</a:t>
            </a:r>
            <a:r>
              <a:rPr lang="he-IL" sz="1600" dirty="0" smtClean="0"/>
              <a:t> מקבל יותר מדי דיווחים, אולי כדאי לבדוק אם ניתן לשפר את </a:t>
            </a:r>
            <a:r>
              <a:rPr lang="he-IL" sz="1600" dirty="0" smtClean="0">
                <a:solidFill>
                  <a:srgbClr val="00B050"/>
                </a:solidFill>
              </a:rPr>
              <a:t>תנאי העבודה במתקן זה</a:t>
            </a:r>
            <a:r>
              <a:rPr lang="he-IL" sz="1600" dirty="0" smtClean="0"/>
              <a:t>/ </a:t>
            </a:r>
            <a:r>
              <a:rPr lang="he-IL" sz="1600" dirty="0" smtClean="0">
                <a:solidFill>
                  <a:srgbClr val="002060"/>
                </a:solidFill>
              </a:rPr>
              <a:t>הידע וההבנה של הטכניקה</a:t>
            </a:r>
            <a:r>
              <a:rPr lang="he-IL" sz="1600" dirty="0" smtClean="0"/>
              <a:t>. אולי שווה, לבצע בדיקה מעמיקה יותר לסיבות של הדיווחים הספציפיים האלו.</a:t>
            </a:r>
          </a:p>
        </p:txBody>
      </p:sp>
      <p:grpSp>
        <p:nvGrpSpPr>
          <p:cNvPr id="4" name="Group 14">
            <a:extLst>
              <a:ext uri="{FF2B5EF4-FFF2-40B4-BE49-F238E27FC236}">
                <a16:creationId xmlns:a16="http://schemas.microsoft.com/office/drawing/2014/main" id="{7A7DD229-4704-26C4-C259-114C64A680E1}"/>
              </a:ext>
            </a:extLst>
          </p:cNvPr>
          <p:cNvGrpSpPr/>
          <p:nvPr/>
        </p:nvGrpSpPr>
        <p:grpSpPr>
          <a:xfrm>
            <a:off x="64604" y="1431596"/>
            <a:ext cx="5587516" cy="4733708"/>
            <a:chOff x="395536" y="1714636"/>
            <a:chExt cx="5587516" cy="4733708"/>
          </a:xfrm>
        </p:grpSpPr>
        <p:pic>
          <p:nvPicPr>
            <p:cNvPr id="5" name="Picture 8">
              <a:extLst>
                <a:ext uri="{FF2B5EF4-FFF2-40B4-BE49-F238E27FC236}">
                  <a16:creationId xmlns:a16="http://schemas.microsoft.com/office/drawing/2014/main" id="{21108AFE-EE31-40BE-DE94-334A33FF16DB}"/>
                </a:ext>
              </a:extLst>
            </p:cNvPr>
            <p:cNvPicPr>
              <a:picLocks noChangeAspect="1"/>
            </p:cNvPicPr>
            <p:nvPr/>
          </p:nvPicPr>
          <p:blipFill>
            <a:blip r:embed="rId2"/>
            <a:stretch>
              <a:fillRect/>
            </a:stretch>
          </p:blipFill>
          <p:spPr>
            <a:xfrm>
              <a:off x="395536" y="1725386"/>
              <a:ext cx="2743200" cy="2329274"/>
            </a:xfrm>
            <a:prstGeom prst="rect">
              <a:avLst/>
            </a:prstGeom>
          </p:spPr>
        </p:pic>
        <p:pic>
          <p:nvPicPr>
            <p:cNvPr id="7" name="Picture 10">
              <a:extLst>
                <a:ext uri="{FF2B5EF4-FFF2-40B4-BE49-F238E27FC236}">
                  <a16:creationId xmlns:a16="http://schemas.microsoft.com/office/drawing/2014/main" id="{948D2C5A-3CFF-9C6C-E099-CB66D41DCC28}"/>
                </a:ext>
              </a:extLst>
            </p:cNvPr>
            <p:cNvPicPr>
              <a:picLocks noChangeAspect="1"/>
            </p:cNvPicPr>
            <p:nvPr/>
          </p:nvPicPr>
          <p:blipFill>
            <a:blip r:embed="rId3"/>
            <a:stretch>
              <a:fillRect/>
            </a:stretch>
          </p:blipFill>
          <p:spPr>
            <a:xfrm>
              <a:off x="3239852" y="1714636"/>
              <a:ext cx="2743200" cy="2350775"/>
            </a:xfrm>
            <a:prstGeom prst="rect">
              <a:avLst/>
            </a:prstGeom>
          </p:spPr>
        </p:pic>
        <p:pic>
          <p:nvPicPr>
            <p:cNvPr id="8" name="Picture 11">
              <a:extLst>
                <a:ext uri="{FF2B5EF4-FFF2-40B4-BE49-F238E27FC236}">
                  <a16:creationId xmlns:a16="http://schemas.microsoft.com/office/drawing/2014/main" id="{9E467056-CE75-FE11-B837-1DDC15A47B46}"/>
                </a:ext>
              </a:extLst>
            </p:cNvPr>
            <p:cNvPicPr>
              <a:picLocks noChangeAspect="1"/>
            </p:cNvPicPr>
            <p:nvPr/>
          </p:nvPicPr>
          <p:blipFill>
            <a:blip r:embed="rId4"/>
            <a:stretch>
              <a:fillRect/>
            </a:stretch>
          </p:blipFill>
          <p:spPr>
            <a:xfrm>
              <a:off x="395536" y="4112662"/>
              <a:ext cx="2743200" cy="2335682"/>
            </a:xfrm>
            <a:prstGeom prst="rect">
              <a:avLst/>
            </a:prstGeom>
          </p:spPr>
        </p:pic>
        <p:pic>
          <p:nvPicPr>
            <p:cNvPr id="9" name="Picture 12">
              <a:extLst>
                <a:ext uri="{FF2B5EF4-FFF2-40B4-BE49-F238E27FC236}">
                  <a16:creationId xmlns:a16="http://schemas.microsoft.com/office/drawing/2014/main" id="{6B32B2D0-E799-4822-C5BB-36A2B7784CA4}"/>
                </a:ext>
              </a:extLst>
            </p:cNvPr>
            <p:cNvPicPr>
              <a:picLocks noChangeAspect="1"/>
            </p:cNvPicPr>
            <p:nvPr/>
          </p:nvPicPr>
          <p:blipFill>
            <a:blip r:embed="rId5"/>
            <a:stretch>
              <a:fillRect/>
            </a:stretch>
          </p:blipFill>
          <p:spPr>
            <a:xfrm>
              <a:off x="3239852" y="4119053"/>
              <a:ext cx="2743200" cy="2322901"/>
            </a:xfrm>
            <a:prstGeom prst="rect">
              <a:avLst/>
            </a:prstGeom>
          </p:spPr>
        </p:pic>
      </p:grpSp>
    </p:spTree>
    <p:extLst>
      <p:ext uri="{BB962C8B-B14F-4D97-AF65-F5344CB8AC3E}">
        <p14:creationId xmlns:p14="http://schemas.microsoft.com/office/powerpoint/2010/main" val="1916154563"/>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022B3-D310-CFB2-F0CA-BC05F46FCECD}"/>
              </a:ext>
            </a:extLst>
          </p:cNvPr>
          <p:cNvSpPr>
            <a:spLocks noGrp="1"/>
          </p:cNvSpPr>
          <p:nvPr>
            <p:ph type="title"/>
          </p:nvPr>
        </p:nvSpPr>
        <p:spPr>
          <a:xfrm>
            <a:off x="457200" y="44624"/>
            <a:ext cx="8229600" cy="1143000"/>
          </a:xfrm>
        </p:spPr>
        <p:txBody>
          <a:bodyPr/>
          <a:lstStyle/>
          <a:p>
            <a:r>
              <a:rPr lang="he-IL" dirty="0"/>
              <a:t>תוצרים של מערכת הלמידה</a:t>
            </a:r>
            <a:endParaRPr lang="LID4096" dirty="0"/>
          </a:p>
        </p:txBody>
      </p:sp>
      <p:grpSp>
        <p:nvGrpSpPr>
          <p:cNvPr id="15" name="Group 14">
            <a:extLst>
              <a:ext uri="{FF2B5EF4-FFF2-40B4-BE49-F238E27FC236}">
                <a16:creationId xmlns:a16="http://schemas.microsoft.com/office/drawing/2014/main" id="{7A7DD229-4704-26C4-C259-114C64A680E1}"/>
              </a:ext>
            </a:extLst>
          </p:cNvPr>
          <p:cNvGrpSpPr/>
          <p:nvPr/>
        </p:nvGrpSpPr>
        <p:grpSpPr>
          <a:xfrm>
            <a:off x="539552" y="1187624"/>
            <a:ext cx="2743200" cy="4743763"/>
            <a:chOff x="6084168" y="1700808"/>
            <a:chExt cx="2743200" cy="4743763"/>
          </a:xfrm>
        </p:grpSpPr>
        <p:pic>
          <p:nvPicPr>
            <p:cNvPr id="10" name="Picture 9">
              <a:extLst>
                <a:ext uri="{FF2B5EF4-FFF2-40B4-BE49-F238E27FC236}">
                  <a16:creationId xmlns:a16="http://schemas.microsoft.com/office/drawing/2014/main" id="{B4C16785-5F32-C0CA-30CE-F4862CD75246}"/>
                </a:ext>
              </a:extLst>
            </p:cNvPr>
            <p:cNvPicPr>
              <a:picLocks noChangeAspect="1"/>
            </p:cNvPicPr>
            <p:nvPr/>
          </p:nvPicPr>
          <p:blipFill>
            <a:blip r:embed="rId2"/>
            <a:stretch>
              <a:fillRect/>
            </a:stretch>
          </p:blipFill>
          <p:spPr>
            <a:xfrm>
              <a:off x="6084168" y="1700808"/>
              <a:ext cx="2743200" cy="2378430"/>
            </a:xfrm>
            <a:prstGeom prst="rect">
              <a:avLst/>
            </a:prstGeom>
          </p:spPr>
        </p:pic>
        <p:pic>
          <p:nvPicPr>
            <p:cNvPr id="14" name="Picture 13">
              <a:extLst>
                <a:ext uri="{FF2B5EF4-FFF2-40B4-BE49-F238E27FC236}">
                  <a16:creationId xmlns:a16="http://schemas.microsoft.com/office/drawing/2014/main" id="{D00D2078-D1C5-A915-F86E-EBD1C1EDE55C}"/>
                </a:ext>
              </a:extLst>
            </p:cNvPr>
            <p:cNvPicPr>
              <a:picLocks noChangeAspect="1"/>
            </p:cNvPicPr>
            <p:nvPr/>
          </p:nvPicPr>
          <p:blipFill>
            <a:blip r:embed="rId3"/>
            <a:stretch>
              <a:fillRect/>
            </a:stretch>
          </p:blipFill>
          <p:spPr>
            <a:xfrm>
              <a:off x="6084168" y="4116436"/>
              <a:ext cx="2743200" cy="2328135"/>
            </a:xfrm>
            <a:prstGeom prst="rect">
              <a:avLst/>
            </a:prstGeom>
          </p:spPr>
        </p:pic>
      </p:grpSp>
      <p:sp>
        <p:nvSpPr>
          <p:cNvPr id="3" name="מלבן 2"/>
          <p:cNvSpPr/>
          <p:nvPr/>
        </p:nvSpPr>
        <p:spPr>
          <a:xfrm>
            <a:off x="3563888" y="1379419"/>
            <a:ext cx="4572000" cy="1754326"/>
          </a:xfrm>
          <a:prstGeom prst="rect">
            <a:avLst/>
          </a:prstGeom>
        </p:spPr>
        <p:txBody>
          <a:bodyPr>
            <a:spAutoFit/>
          </a:bodyPr>
          <a:lstStyle/>
          <a:p>
            <a:pPr marL="285750" indent="-285750">
              <a:buFont typeface="Arial" panose="020B0604020202020204" pitchFamily="34" charset="0"/>
              <a:buChar char="•"/>
            </a:pPr>
            <a:r>
              <a:rPr lang="he-IL" dirty="0"/>
              <a:t>חשוב לזכור שהגרפים מתארים כמות דיווחים ולא בהכרח חומרה שלהם. </a:t>
            </a:r>
            <a:endParaRPr lang="he-IL" dirty="0" smtClean="0"/>
          </a:p>
          <a:p>
            <a:pPr marL="285750" indent="-285750">
              <a:buFont typeface="Arial" panose="020B0604020202020204" pitchFamily="34" charset="0"/>
              <a:buChar char="•"/>
            </a:pPr>
            <a:r>
              <a:rPr lang="he-IL" dirty="0" smtClean="0"/>
              <a:t>חשוב להיות במעקב על הסטטיסטיקות של היחידה ולזהות שינויים.</a:t>
            </a:r>
          </a:p>
          <a:p>
            <a:pPr marL="285750" indent="-285750">
              <a:buFont typeface="Arial" panose="020B0604020202020204" pitchFamily="34" charset="0"/>
              <a:buChar char="•"/>
            </a:pPr>
            <a:r>
              <a:rPr lang="he-IL" dirty="0" smtClean="0"/>
              <a:t>הכי חשוב להעביר את הידע הנצבר חזרה לצוות, לבצע שיפורים בתהליכים והטמיע אותם.</a:t>
            </a:r>
            <a:endParaRPr lang="he-IL" dirty="0"/>
          </a:p>
        </p:txBody>
      </p:sp>
      <p:pic>
        <p:nvPicPr>
          <p:cNvPr id="4" name="תמונה 3"/>
          <p:cNvPicPr>
            <a:picLocks noChangeAspect="1"/>
          </p:cNvPicPr>
          <p:nvPr/>
        </p:nvPicPr>
        <p:blipFill>
          <a:blip r:embed="rId4"/>
          <a:stretch>
            <a:fillRect/>
          </a:stretch>
        </p:blipFill>
        <p:spPr>
          <a:xfrm rot="20929544">
            <a:off x="3725811" y="3467935"/>
            <a:ext cx="2193558" cy="3122640"/>
          </a:xfrm>
          <a:prstGeom prst="rect">
            <a:avLst/>
          </a:prstGeom>
        </p:spPr>
      </p:pic>
      <p:pic>
        <p:nvPicPr>
          <p:cNvPr id="5" name="תמונה 4"/>
          <p:cNvPicPr>
            <a:picLocks noChangeAspect="1"/>
          </p:cNvPicPr>
          <p:nvPr/>
        </p:nvPicPr>
        <p:blipFill>
          <a:blip r:embed="rId5"/>
          <a:stretch>
            <a:fillRect/>
          </a:stretch>
        </p:blipFill>
        <p:spPr>
          <a:xfrm rot="875506">
            <a:off x="5495048" y="3546274"/>
            <a:ext cx="2160240" cy="3031182"/>
          </a:xfrm>
          <a:prstGeom prst="rect">
            <a:avLst/>
          </a:prstGeom>
        </p:spPr>
      </p:pic>
    </p:spTree>
    <p:extLst>
      <p:ext uri="{BB962C8B-B14F-4D97-AF65-F5344CB8AC3E}">
        <p14:creationId xmlns:p14="http://schemas.microsoft.com/office/powerpoint/2010/main" val="1304088515"/>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57200" y="44624"/>
            <a:ext cx="8229600" cy="1143000"/>
          </a:xfrm>
        </p:spPr>
        <p:txBody>
          <a:bodyPr>
            <a:normAutofit fontScale="90000"/>
          </a:bodyPr>
          <a:lstStyle/>
          <a:p>
            <a:r>
              <a:rPr lang="he-IL" dirty="0"/>
              <a:t>תוצרים של מערכת הלמידה</a:t>
            </a:r>
            <a:br>
              <a:rPr lang="he-IL" dirty="0"/>
            </a:br>
            <a:r>
              <a:rPr lang="he-IL" dirty="0"/>
              <a:t>מילון מונחים (</a:t>
            </a:r>
            <a:r>
              <a:rPr lang="en-US" dirty="0"/>
              <a:t>Taxonomy</a:t>
            </a:r>
            <a:r>
              <a:rPr lang="he-IL" dirty="0"/>
              <a:t>)</a:t>
            </a:r>
          </a:p>
        </p:txBody>
      </p:sp>
      <p:pic>
        <p:nvPicPr>
          <p:cNvPr id="4" name="תמונה 3"/>
          <p:cNvPicPr>
            <a:picLocks noChangeAspect="1"/>
          </p:cNvPicPr>
          <p:nvPr/>
        </p:nvPicPr>
        <p:blipFill>
          <a:blip r:embed="rId2"/>
          <a:stretch>
            <a:fillRect/>
          </a:stretch>
        </p:blipFill>
        <p:spPr>
          <a:xfrm>
            <a:off x="214139" y="1268760"/>
            <a:ext cx="8822357" cy="4826821"/>
          </a:xfrm>
          <a:prstGeom prst="rect">
            <a:avLst/>
          </a:prstGeom>
        </p:spPr>
      </p:pic>
    </p:spTree>
    <p:extLst>
      <p:ext uri="{BB962C8B-B14F-4D97-AF65-F5344CB8AC3E}">
        <p14:creationId xmlns:p14="http://schemas.microsoft.com/office/powerpoint/2010/main" val="2624746569"/>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fontScale="90000"/>
          </a:bodyPr>
          <a:lstStyle/>
          <a:p>
            <a:r>
              <a:rPr lang="he-IL" dirty="0" smtClean="0"/>
              <a:t>תוצרים של מערכת הלמידה</a:t>
            </a:r>
            <a:br>
              <a:rPr lang="he-IL" dirty="0" smtClean="0"/>
            </a:br>
            <a:r>
              <a:rPr lang="he-IL" dirty="0" smtClean="0"/>
              <a:t>מילון מונחים (</a:t>
            </a:r>
            <a:r>
              <a:rPr lang="en-US" dirty="0" smtClean="0"/>
              <a:t>Taxonomy</a:t>
            </a:r>
            <a:r>
              <a:rPr lang="he-IL" dirty="0" smtClean="0"/>
              <a:t>)</a:t>
            </a:r>
            <a:endParaRPr lang="he-IL" dirty="0"/>
          </a:p>
        </p:txBody>
      </p:sp>
      <p:pic>
        <p:nvPicPr>
          <p:cNvPr id="5" name="תמונה 4"/>
          <p:cNvPicPr>
            <a:picLocks noChangeAspect="1"/>
          </p:cNvPicPr>
          <p:nvPr/>
        </p:nvPicPr>
        <p:blipFill>
          <a:blip r:embed="rId2"/>
          <a:stretch>
            <a:fillRect/>
          </a:stretch>
        </p:blipFill>
        <p:spPr>
          <a:xfrm>
            <a:off x="395536" y="1628800"/>
            <a:ext cx="8568952" cy="2736304"/>
          </a:xfrm>
          <a:prstGeom prst="rect">
            <a:avLst/>
          </a:prstGeom>
        </p:spPr>
      </p:pic>
      <p:sp>
        <p:nvSpPr>
          <p:cNvPr id="3" name="TextBox 2"/>
          <p:cNvSpPr txBox="1"/>
          <p:nvPr/>
        </p:nvSpPr>
        <p:spPr>
          <a:xfrm>
            <a:off x="182642" y="4576266"/>
            <a:ext cx="8799204" cy="1200329"/>
          </a:xfrm>
          <a:prstGeom prst="rect">
            <a:avLst/>
          </a:prstGeom>
          <a:noFill/>
        </p:spPr>
        <p:txBody>
          <a:bodyPr wrap="none" rtlCol="1">
            <a:spAutoFit/>
          </a:bodyPr>
          <a:lstStyle/>
          <a:p>
            <a:pPr marL="285750" indent="-285750">
              <a:buFont typeface="Arial" panose="020B0604020202020204" pitchFamily="34" charset="0"/>
              <a:buChar char="•"/>
            </a:pPr>
            <a:r>
              <a:rPr lang="he-IL" dirty="0" smtClean="0"/>
              <a:t>חלוקה לקטגוריות משפרת את היעילות בהעברת מידע ע"י יצירת שפה משותפת בין אנשי הצוות</a:t>
            </a:r>
          </a:p>
          <a:p>
            <a:pPr marL="285750" indent="-285750">
              <a:buFont typeface="Arial" panose="020B0604020202020204" pitchFamily="34" charset="0"/>
              <a:buChar char="•"/>
            </a:pPr>
            <a:r>
              <a:rPr lang="he-IL" dirty="0" smtClean="0"/>
              <a:t>מקבצת אירועים שונים בעלי מכנה משותף. </a:t>
            </a:r>
          </a:p>
          <a:p>
            <a:pPr marL="285750" indent="-285750">
              <a:buFont typeface="Arial" panose="020B0604020202020204" pitchFamily="34" charset="0"/>
              <a:buChar char="•"/>
            </a:pPr>
            <a:r>
              <a:rPr lang="he-IL" dirty="0" smtClean="0"/>
              <a:t>יש מערכות עם מאות קטגוריות שונות ויש עם עשרות. </a:t>
            </a:r>
          </a:p>
          <a:p>
            <a:pPr marL="285750" indent="-285750">
              <a:buFont typeface="Arial" panose="020B0604020202020204" pitchFamily="34" charset="0"/>
              <a:buChar char="•"/>
            </a:pPr>
            <a:r>
              <a:rPr lang="he-IL" dirty="0" smtClean="0"/>
              <a:t>לדוגמא המערכת האמריקאית מכילה 7 קטגוריות </a:t>
            </a:r>
            <a:r>
              <a:rPr lang="he-IL" dirty="0" err="1" smtClean="0"/>
              <a:t>עקריות</a:t>
            </a:r>
            <a:r>
              <a:rPr lang="he-IL" smtClean="0"/>
              <a:t> וכ- </a:t>
            </a:r>
            <a:r>
              <a:rPr lang="he-IL" dirty="0" smtClean="0"/>
              <a:t>90 תת </a:t>
            </a:r>
            <a:r>
              <a:rPr lang="he-IL" smtClean="0"/>
              <a:t>קטגוריות. </a:t>
            </a:r>
            <a:endParaRPr lang="he-IL" dirty="0"/>
          </a:p>
        </p:txBody>
      </p:sp>
    </p:spTree>
    <p:extLst>
      <p:ext uri="{BB962C8B-B14F-4D97-AF65-F5344CB8AC3E}">
        <p14:creationId xmlns:p14="http://schemas.microsoft.com/office/powerpoint/2010/main" val="3059071844"/>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סיכום</a:t>
            </a:r>
          </a:p>
        </p:txBody>
      </p:sp>
      <p:sp>
        <p:nvSpPr>
          <p:cNvPr id="3" name="מציין מיקום תוכן 2"/>
          <p:cNvSpPr>
            <a:spLocks noGrp="1"/>
          </p:cNvSpPr>
          <p:nvPr>
            <p:ph idx="1"/>
          </p:nvPr>
        </p:nvSpPr>
        <p:spPr>
          <a:xfrm>
            <a:off x="457200" y="1412776"/>
            <a:ext cx="8229600" cy="5112568"/>
          </a:xfrm>
        </p:spPr>
        <p:txBody>
          <a:bodyPr>
            <a:normAutofit fontScale="85000" lnSpcReduction="20000"/>
          </a:bodyPr>
          <a:lstStyle/>
          <a:p>
            <a:r>
              <a:rPr lang="he-IL" dirty="0" smtClean="0"/>
              <a:t>בטיפול קרינתי קיים </a:t>
            </a:r>
            <a:r>
              <a:rPr lang="he-IL" dirty="0"/>
              <a:t>צורך מתמיד ללמוד ולשפר את איכות השירות באמצעות </a:t>
            </a:r>
            <a:r>
              <a:rPr lang="he-IL" b="1" dirty="0">
                <a:effectLst>
                  <a:outerShdw blurRad="38100" dist="38100" dir="2700000" algn="tl">
                    <a:srgbClr val="000000">
                      <a:alpha val="43137"/>
                    </a:srgbClr>
                  </a:outerShdw>
                </a:effectLst>
              </a:rPr>
              <a:t>ניהול איכות </a:t>
            </a:r>
            <a:r>
              <a:rPr lang="en-US" b="1" dirty="0">
                <a:effectLst>
                  <a:outerShdw blurRad="38100" dist="38100" dir="2700000" algn="tl">
                    <a:srgbClr val="000000">
                      <a:alpha val="43137"/>
                    </a:srgbClr>
                  </a:outerShdw>
                </a:effectLst>
              </a:rPr>
              <a:t>(QM)</a:t>
            </a:r>
            <a:r>
              <a:rPr lang="he-IL" dirty="0"/>
              <a:t>.</a:t>
            </a:r>
          </a:p>
          <a:p>
            <a:r>
              <a:rPr lang="he-IL" dirty="0"/>
              <a:t>יש ליצר סביבת עבודה בטוחה ולהכיל תרבות צודקת (</a:t>
            </a:r>
            <a:r>
              <a:rPr lang="en-US" b="1" dirty="0">
                <a:effectLst>
                  <a:outerShdw blurRad="38100" dist="38100" dir="2700000" algn="tl">
                    <a:srgbClr val="000000">
                      <a:alpha val="43137"/>
                    </a:srgbClr>
                  </a:outerShdw>
                </a:effectLst>
              </a:rPr>
              <a:t>Just Culture</a:t>
            </a:r>
            <a:r>
              <a:rPr lang="he-IL" dirty="0"/>
              <a:t>).</a:t>
            </a:r>
          </a:p>
          <a:p>
            <a:r>
              <a:rPr lang="he-IL" dirty="0" smtClean="0"/>
              <a:t>בניהול </a:t>
            </a:r>
            <a:r>
              <a:rPr lang="he-IL" dirty="0"/>
              <a:t>סיכונים </a:t>
            </a:r>
            <a:r>
              <a:rPr lang="he-IL" dirty="0" err="1" smtClean="0"/>
              <a:t>ריאקטיבי</a:t>
            </a:r>
            <a:r>
              <a:rPr lang="he-IL" dirty="0" smtClean="0"/>
              <a:t> אנו לומדים מאירועים שקרו ביחידה באמצעות מערכת למידה (</a:t>
            </a:r>
            <a:r>
              <a:rPr lang="en-US" b="1" dirty="0" smtClean="0">
                <a:effectLst>
                  <a:outerShdw blurRad="38100" dist="38100" dir="2700000" algn="tl">
                    <a:srgbClr val="000000">
                      <a:alpha val="43137"/>
                    </a:srgbClr>
                  </a:outerShdw>
                </a:effectLst>
              </a:rPr>
              <a:t>ILS</a:t>
            </a:r>
            <a:r>
              <a:rPr lang="he-IL" dirty="0" smtClean="0"/>
              <a:t>) </a:t>
            </a:r>
          </a:p>
          <a:p>
            <a:r>
              <a:rPr lang="he-IL" dirty="0" smtClean="0"/>
              <a:t>מערכת הלמידה מאפשרת לייצר מדדי איכות שניתן לעקוב אחריהם וללמוד מהם על הבטיחות של התהליכים ביחידה ואיכן ניתן לשפר. </a:t>
            </a:r>
            <a:endParaRPr lang="he-IL" dirty="0"/>
          </a:p>
          <a:p>
            <a:r>
              <a:rPr lang="he-IL" dirty="0" smtClean="0"/>
              <a:t>ניתן לשפר את האיכות ע"י כתיבת </a:t>
            </a:r>
            <a:r>
              <a:rPr lang="he-IL" dirty="0"/>
              <a:t>נהלי בטיחות ונהלי </a:t>
            </a:r>
            <a:r>
              <a:rPr lang="he-IL" dirty="0" smtClean="0"/>
              <a:t>עבודה, ע"י </a:t>
            </a:r>
            <a:r>
              <a:rPr lang="he-IL" dirty="0"/>
              <a:t>משוב חוזר </a:t>
            </a:r>
            <a:r>
              <a:rPr lang="he-IL" dirty="0" smtClean="0"/>
              <a:t>לצוות ולדרג הניהולי והגברת המודעות לנושאי בטיחות ביחידה</a:t>
            </a:r>
            <a:r>
              <a:rPr lang="he-IL" dirty="0"/>
              <a:t> </a:t>
            </a:r>
            <a:r>
              <a:rPr lang="he-IL" dirty="0" smtClean="0"/>
              <a:t>באמצעות הדרכות </a:t>
            </a:r>
            <a:r>
              <a:rPr lang="he-IL" dirty="0" smtClean="0"/>
              <a:t>והשתלמויות</a:t>
            </a:r>
            <a:r>
              <a:rPr lang="he-IL" dirty="0" smtClean="0"/>
              <a:t>.</a:t>
            </a:r>
            <a:endParaRPr lang="he-IL" dirty="0"/>
          </a:p>
        </p:txBody>
      </p:sp>
    </p:spTree>
    <p:extLst>
      <p:ext uri="{BB962C8B-B14F-4D97-AF65-F5344CB8AC3E}">
        <p14:creationId xmlns:p14="http://schemas.microsoft.com/office/powerpoint/2010/main" val="44595342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dur="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dur="1"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p:stCondLst>
                              <p:cond delay="0"/>
                            </p:stCondLst>
                            <p:childTnLst>
                              <p:par>
                                <p:cTn id="17" presetID="1" presetClass="entr" presetSubtype="0" dur="1"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p:stCondLst>
                              <p:cond delay="0"/>
                            </p:stCondLst>
                            <p:childTnLst>
                              <p:par>
                                <p:cTn id="21" presetID="1" presetClass="entr" presetSubtype="0" dur="1"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כותרת 4"/>
          <p:cNvSpPr>
            <a:spLocks noGrp="1"/>
          </p:cNvSpPr>
          <p:nvPr>
            <p:ph type="ctrTitle"/>
          </p:nvPr>
        </p:nvSpPr>
        <p:spPr/>
        <p:txBody>
          <a:bodyPr rtlCol="1">
            <a:normAutofit/>
          </a:bodyPr>
          <a:lstStyle/>
          <a:p>
            <a:pPr fontAlgn="auto">
              <a:spcAft>
                <a:spcPct val="0"/>
              </a:spcAft>
              <a:defRPr/>
            </a:pPr>
            <a:r>
              <a:rPr lang="he-IL" sz="7200" b="1" i="1">
                <a:solidFill>
                  <a:schemeClr val="accent4">
                    <a:lumMod val="75000"/>
                  </a:schemeClr>
                </a:solidFill>
                <a:effectLst>
                  <a:outerShdw blurRad="38100" dist="38100" dir="2700000" algn="tl">
                    <a:srgbClr val="000000">
                      <a:alpha val="43137"/>
                    </a:srgbClr>
                  </a:outerShdw>
                </a:effectLst>
              </a:rPr>
              <a:t>תודה</a:t>
            </a: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תרגול</a:t>
            </a:r>
            <a:endParaRPr lang="he-IL" dirty="0"/>
          </a:p>
        </p:txBody>
      </p:sp>
      <p:sp>
        <p:nvSpPr>
          <p:cNvPr id="3" name="מציין מיקום תוכן 2"/>
          <p:cNvSpPr>
            <a:spLocks noGrp="1"/>
          </p:cNvSpPr>
          <p:nvPr>
            <p:ph idx="1"/>
          </p:nvPr>
        </p:nvSpPr>
        <p:spPr/>
        <p:txBody>
          <a:bodyPr/>
          <a:lstStyle/>
          <a:p>
            <a:r>
              <a:rPr lang="he-IL" dirty="0" smtClean="0"/>
              <a:t>לפניכם דיווח על אירוע.</a:t>
            </a:r>
          </a:p>
          <a:p>
            <a:pPr lvl="1"/>
            <a:r>
              <a:rPr lang="he-IL" dirty="0" smtClean="0"/>
              <a:t>תכתבו מחדש את התיאור של המקרה באופן תמציתי ועניני</a:t>
            </a:r>
          </a:p>
          <a:p>
            <a:pPr lvl="1"/>
            <a:r>
              <a:rPr lang="he-IL" dirty="0" smtClean="0"/>
              <a:t>מלאו בדו"ח את סעיפים: 1,2,3,5,11</a:t>
            </a:r>
          </a:p>
          <a:p>
            <a:pPr lvl="1"/>
            <a:r>
              <a:rPr lang="he-IL" dirty="0" smtClean="0"/>
              <a:t>בחרו סיבת פגיעה עיקרית </a:t>
            </a:r>
            <a:r>
              <a:rPr lang="he-IL" smtClean="0"/>
              <a:t>אחת </a:t>
            </a:r>
          </a:p>
          <a:p>
            <a:pPr lvl="1"/>
            <a:r>
              <a:rPr lang="he-IL" smtClean="0"/>
              <a:t>בחרו </a:t>
            </a:r>
            <a:r>
              <a:rPr lang="he-IL" dirty="0" smtClean="0"/>
              <a:t>פרמטרים תומכים אם נראה לכם מתאים. פרמטר תומך אינו יכול להיות גם הסיבה העיקרית.</a:t>
            </a:r>
            <a:endParaRPr lang="he-IL" dirty="0"/>
          </a:p>
        </p:txBody>
      </p:sp>
    </p:spTree>
    <p:extLst>
      <p:ext uri="{BB962C8B-B14F-4D97-AF65-F5344CB8AC3E}">
        <p14:creationId xmlns:p14="http://schemas.microsoft.com/office/powerpoint/2010/main" val="1567780699"/>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תרגול</a:t>
            </a:r>
            <a:endParaRPr lang="he-IL" dirty="0"/>
          </a:p>
        </p:txBody>
      </p:sp>
      <p:graphicFrame>
        <p:nvGraphicFramePr>
          <p:cNvPr id="4" name="טבלה 3"/>
          <p:cNvGraphicFramePr>
            <a:graphicFrameLocks noGrp="1"/>
          </p:cNvGraphicFramePr>
          <p:nvPr>
            <p:extLst>
              <p:ext uri="{D42A27DB-BD31-4B8C-83A1-F6EECF244321}">
                <p14:modId xmlns:p14="http://schemas.microsoft.com/office/powerpoint/2010/main" val="1885417676"/>
              </p:ext>
            </p:extLst>
          </p:nvPr>
        </p:nvGraphicFramePr>
        <p:xfrm>
          <a:off x="179511" y="1484784"/>
          <a:ext cx="8540252" cy="4160520"/>
        </p:xfrm>
        <a:graphic>
          <a:graphicData uri="http://schemas.openxmlformats.org/drawingml/2006/table">
            <a:tbl>
              <a:tblPr rtl="1" firstRow="1" firstCol="1" bandRow="1">
                <a:tableStyleId>{5C22544A-7EE6-4342-B048-85BDC9FD1C3A}</a:tableStyleId>
              </a:tblPr>
              <a:tblGrid>
                <a:gridCol w="786167">
                  <a:extLst>
                    <a:ext uri="{9D8B030D-6E8A-4147-A177-3AD203B41FA5}">
                      <a16:colId xmlns:a16="http://schemas.microsoft.com/office/drawing/2014/main" val="1783372603"/>
                    </a:ext>
                  </a:extLst>
                </a:gridCol>
                <a:gridCol w="3736360">
                  <a:extLst>
                    <a:ext uri="{9D8B030D-6E8A-4147-A177-3AD203B41FA5}">
                      <a16:colId xmlns:a16="http://schemas.microsoft.com/office/drawing/2014/main" val="969728505"/>
                    </a:ext>
                  </a:extLst>
                </a:gridCol>
                <a:gridCol w="4017725">
                  <a:extLst>
                    <a:ext uri="{9D8B030D-6E8A-4147-A177-3AD203B41FA5}">
                      <a16:colId xmlns:a16="http://schemas.microsoft.com/office/drawing/2014/main" val="624007091"/>
                    </a:ext>
                  </a:extLst>
                </a:gridCol>
              </a:tblGrid>
              <a:tr h="685800">
                <a:tc>
                  <a:txBody>
                    <a:bodyPr/>
                    <a:lstStyle/>
                    <a:p>
                      <a:pPr algn="r" rtl="1">
                        <a:spcAft>
                          <a:spcPts val="0"/>
                        </a:spcAft>
                      </a:pPr>
                      <a:r>
                        <a:rPr lang="he-IL" sz="1200">
                          <a:effectLst/>
                        </a:rPr>
                        <a:t>סידור</a:t>
                      </a:r>
                      <a:endParaRPr lang="en-US" sz="12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r" rtl="1">
                        <a:spcAft>
                          <a:spcPts val="0"/>
                        </a:spcAft>
                      </a:pPr>
                      <a:r>
                        <a:rPr lang="he-IL" sz="1200" dirty="0">
                          <a:effectLst/>
                        </a:rPr>
                        <a:t>תקציר מקרה</a:t>
                      </a:r>
                      <a:endParaRPr lang="en-US" sz="12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r" rtl="1">
                        <a:spcAft>
                          <a:spcPts val="0"/>
                        </a:spcAft>
                      </a:pPr>
                      <a:r>
                        <a:rPr lang="he-IL" sz="1200">
                          <a:effectLst/>
                        </a:rPr>
                        <a:t>מסקנות ישיבה</a:t>
                      </a:r>
                      <a:endParaRPr lang="en-US" sz="12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981833204"/>
                  </a:ext>
                </a:extLst>
              </a:tr>
              <a:tr h="36195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200" dirty="0" smtClean="0">
                          <a:effectLst/>
                        </a:rPr>
                        <a:t>337</a:t>
                      </a:r>
                      <a:endParaRPr lang="en-US" sz="1100" dirty="0" smtClean="0">
                        <a:effectLst/>
                        <a:latin typeface="Times New Roman" panose="02020603050405020304" pitchFamily="18" charset="0"/>
                        <a:ea typeface="Times New Roman" panose="02020603050405020304" pitchFamily="18" charset="0"/>
                        <a:cs typeface="Arial" panose="020B0604020202020204" pitchFamily="34" charset="0"/>
                      </a:endParaRPr>
                    </a:p>
                    <a:p>
                      <a:pPr algn="r" rtl="0">
                        <a:spcAft>
                          <a:spcPts val="0"/>
                        </a:spcAft>
                      </a:pPr>
                      <a:endParaRPr lang="en-US" sz="12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r" rtl="1">
                        <a:spcAft>
                          <a:spcPts val="0"/>
                        </a:spcAft>
                      </a:pPr>
                      <a:r>
                        <a:rPr lang="he-IL" sz="1200" dirty="0" smtClean="0">
                          <a:effectLst/>
                          <a:latin typeface="Times New Roman" panose="02020603050405020304" pitchFamily="18" charset="0"/>
                          <a:ea typeface="Times New Roman" panose="02020603050405020304" pitchFamily="18" charset="0"/>
                          <a:cs typeface="+mn-cs"/>
                        </a:rPr>
                        <a:t>מתן טיפול שלא על פי הפרוטוקול  - תיק לא עבר </a:t>
                      </a:r>
                      <a:r>
                        <a:rPr lang="en-US" sz="1200" dirty="0" smtClean="0">
                          <a:effectLst/>
                          <a:latin typeface="Times New Roman" panose="02020603050405020304" pitchFamily="18" charset="0"/>
                          <a:ea typeface="Times New Roman" panose="02020603050405020304" pitchFamily="18" charset="0"/>
                          <a:cs typeface="Arial" panose="020B0604020202020204" pitchFamily="34" charset="0"/>
                        </a:rPr>
                        <a:t>QA </a:t>
                      </a:r>
                      <a:r>
                        <a:rPr lang="he-IL" sz="1200" dirty="0" smtClean="0">
                          <a:effectLst/>
                          <a:latin typeface="Times New Roman" panose="02020603050405020304" pitchFamily="18" charset="0"/>
                          <a:ea typeface="Times New Roman" panose="02020603050405020304" pitchFamily="18" charset="0"/>
                          <a:cs typeface="+mn-cs"/>
                        </a:rPr>
                        <a:t>איבר בריא לא סומן , וגם לא ניתנה הגבלה לאיבר. התיק תוכנן מחדש ביום הטיפול וניתן ללא מדידות. מקרה </a:t>
                      </a:r>
                      <a:r>
                        <a:rPr lang="en-US" sz="1200" dirty="0" smtClean="0">
                          <a:effectLst/>
                          <a:latin typeface="Times New Roman" panose="02020603050405020304" pitchFamily="18" charset="0"/>
                          <a:ea typeface="Times New Roman" panose="02020603050405020304" pitchFamily="18" charset="0"/>
                          <a:cs typeface="Arial" panose="020B0604020202020204" pitchFamily="34" charset="0"/>
                        </a:rPr>
                        <a:t>SBRT</a:t>
                      </a:r>
                    </a:p>
                  </a:txBody>
                  <a:tcPr marL="68580" marR="68580" marT="0" marB="0"/>
                </a:tc>
                <a:tc>
                  <a:txBody>
                    <a:bodyPr/>
                    <a:lstStyle/>
                    <a:p>
                      <a:pPr algn="r" rtl="1">
                        <a:spcAft>
                          <a:spcPts val="0"/>
                        </a:spcAft>
                      </a:pPr>
                      <a:r>
                        <a:rPr lang="he-IL" sz="1200" dirty="0" smtClean="0">
                          <a:effectLst/>
                          <a:latin typeface="Times New Roman" panose="02020603050405020304" pitchFamily="18" charset="0"/>
                          <a:ea typeface="Times New Roman" panose="02020603050405020304" pitchFamily="18" charset="0"/>
                          <a:cs typeface="+mn-cs"/>
                        </a:rPr>
                        <a:t>כאשר תכנית אינה עוברת </a:t>
                      </a:r>
                      <a:r>
                        <a:rPr lang="en-US" sz="1200" dirty="0" smtClean="0">
                          <a:effectLst/>
                          <a:latin typeface="Times New Roman" panose="02020603050405020304" pitchFamily="18" charset="0"/>
                          <a:ea typeface="Times New Roman" panose="02020603050405020304" pitchFamily="18" charset="0"/>
                          <a:cs typeface="Arial" panose="020B0604020202020204" pitchFamily="34" charset="0"/>
                        </a:rPr>
                        <a:t>QA </a:t>
                      </a:r>
                      <a:r>
                        <a:rPr lang="he-IL" sz="1200" dirty="0" smtClean="0">
                          <a:effectLst/>
                          <a:latin typeface="Times New Roman" panose="02020603050405020304" pitchFamily="18" charset="0"/>
                          <a:ea typeface="Times New Roman" panose="02020603050405020304" pitchFamily="18" charset="0"/>
                          <a:cs typeface="+mn-cs"/>
                        </a:rPr>
                        <a:t>יש לשייך את </a:t>
                      </a:r>
                      <a:r>
                        <a:rPr lang="en-US" sz="1200" dirty="0" smtClean="0">
                          <a:effectLst/>
                          <a:latin typeface="Times New Roman" panose="02020603050405020304" pitchFamily="18" charset="0"/>
                          <a:ea typeface="Times New Roman" panose="02020603050405020304" pitchFamily="18" charset="0"/>
                          <a:cs typeface="Arial" panose="020B0604020202020204" pitchFamily="34" charset="0"/>
                        </a:rPr>
                        <a:t>Update Care Path </a:t>
                      </a:r>
                      <a:r>
                        <a:rPr lang="he-IL" sz="1200" dirty="0" smtClean="0">
                          <a:effectLst/>
                          <a:latin typeface="Times New Roman" panose="02020603050405020304" pitchFamily="18" charset="0"/>
                          <a:ea typeface="Times New Roman" panose="02020603050405020304" pitchFamily="18" charset="0"/>
                          <a:cs typeface="+mn-cs"/>
                        </a:rPr>
                        <a:t>לרופא והפיזיקאי באחריות הפיזיקה לעדכן. כמו כן יש לידע את הרופא על מהות השינויים באחריות רופא ה </a:t>
                      </a:r>
                      <a:r>
                        <a:rPr lang="en-US" sz="1200" dirty="0" smtClean="0">
                          <a:effectLst/>
                          <a:latin typeface="Times New Roman" panose="02020603050405020304" pitchFamily="18" charset="0"/>
                          <a:ea typeface="Times New Roman" panose="02020603050405020304" pitchFamily="18" charset="0"/>
                          <a:cs typeface="Arial" panose="020B0604020202020204" pitchFamily="34" charset="0"/>
                        </a:rPr>
                        <a:t>QA </a:t>
                      </a:r>
                      <a:r>
                        <a:rPr lang="he-IL" sz="1200" dirty="0" smtClean="0">
                          <a:effectLst/>
                          <a:latin typeface="Times New Roman" panose="02020603050405020304" pitchFamily="18" charset="0"/>
                          <a:ea typeface="Times New Roman" panose="02020603050405020304" pitchFamily="18" charset="0"/>
                          <a:cs typeface="+mn-cs"/>
                        </a:rPr>
                        <a:t>וכן לתעד אותם בהערות של ה </a:t>
                      </a:r>
                      <a:r>
                        <a:rPr lang="en-US" sz="1200" dirty="0" smtClean="0">
                          <a:effectLst/>
                          <a:latin typeface="Times New Roman" panose="02020603050405020304" pitchFamily="18" charset="0"/>
                          <a:ea typeface="Times New Roman" panose="02020603050405020304" pitchFamily="18" charset="0"/>
                          <a:cs typeface="Arial" panose="020B0604020202020204" pitchFamily="34" charset="0"/>
                        </a:rPr>
                        <a:t>Update Care Path.</a:t>
                      </a:r>
                    </a:p>
                    <a:p>
                      <a:pPr algn="r" rtl="1">
                        <a:spcAft>
                          <a:spcPts val="0"/>
                        </a:spcAft>
                      </a:pPr>
                      <a:r>
                        <a:rPr lang="he-IL" sz="1200" dirty="0" smtClean="0">
                          <a:effectLst/>
                          <a:latin typeface="Times New Roman" panose="02020603050405020304" pitchFamily="18" charset="0"/>
                          <a:ea typeface="Times New Roman" panose="02020603050405020304" pitchFamily="18" charset="0"/>
                          <a:cs typeface="+mn-cs"/>
                        </a:rPr>
                        <a:t>יש לרכז רשימת הגבלות לאיברים בסיכון של היחידה ולא להשתמש בטבלאות אחרות.</a:t>
                      </a:r>
                    </a:p>
                  </a:txBody>
                  <a:tcPr marL="68580" marR="68580" marT="0" marB="0"/>
                </a:tc>
                <a:extLst>
                  <a:ext uri="{0D108BD9-81ED-4DB2-BD59-A6C34878D82A}">
                    <a16:rowId xmlns:a16="http://schemas.microsoft.com/office/drawing/2014/main" val="3260504301"/>
                  </a:ext>
                </a:extLst>
              </a:tr>
              <a:tr h="361950">
                <a:tc>
                  <a:txBody>
                    <a:bodyPr/>
                    <a:lstStyle/>
                    <a:p>
                      <a:pPr algn="r" rtl="0">
                        <a:spcAft>
                          <a:spcPts val="0"/>
                        </a:spcAft>
                      </a:pPr>
                      <a:r>
                        <a:rPr lang="en-US" sz="1200">
                          <a:effectLst/>
                        </a:rPr>
                        <a:t>480</a:t>
                      </a:r>
                      <a:endParaRPr lang="en-US" sz="12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r" rtl="1">
                        <a:spcAft>
                          <a:spcPts val="0"/>
                        </a:spcAft>
                      </a:pPr>
                      <a:r>
                        <a:rPr lang="he-IL" sz="1200">
                          <a:effectLst/>
                        </a:rPr>
                        <a:t>תיעוד לא תקין - עבור מטופל </a:t>
                      </a:r>
                      <a:r>
                        <a:rPr lang="en-US" sz="1200">
                          <a:effectLst/>
                        </a:rPr>
                        <a:t>SBRT</a:t>
                      </a:r>
                      <a:r>
                        <a:rPr lang="he-IL" sz="1200">
                          <a:effectLst/>
                        </a:rPr>
                        <a:t> ריאה נכתב בהנחיות לסימולציה צד ימין בפרוטוקול הקרינה (קמליון) נכתב צד שמאל.</a:t>
                      </a:r>
                      <a:endParaRPr lang="en-US" sz="12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r" rtl="1">
                        <a:spcAft>
                          <a:spcPts val="0"/>
                        </a:spcAft>
                      </a:pPr>
                      <a:r>
                        <a:rPr lang="he-IL" sz="1200" dirty="0">
                          <a:effectLst/>
                        </a:rPr>
                        <a:t>לא יתוכנן מקרה ללא מרשם חתום ע"י רופא מומחה. במקרה שזה קורה יש לידע את מנהל היחידה ד"ר לימון. </a:t>
                      </a:r>
                      <a:endParaRPr lang="en-US" sz="12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249001719"/>
                  </a:ext>
                </a:extLst>
              </a:tr>
              <a:tr h="361950">
                <a:tc>
                  <a:txBody>
                    <a:bodyPr/>
                    <a:lstStyle/>
                    <a:p>
                      <a:pPr algn="r" rtl="0">
                        <a:spcAft>
                          <a:spcPts val="0"/>
                        </a:spcAft>
                      </a:pPr>
                      <a:r>
                        <a:rPr lang="en-US" sz="1200" dirty="0">
                          <a:effectLst/>
                        </a:rPr>
                        <a:t>481</a:t>
                      </a:r>
                      <a:endParaRPr lang="en-US" sz="12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r" rtl="1">
                        <a:spcAft>
                          <a:spcPts val="0"/>
                        </a:spcAft>
                      </a:pPr>
                      <a:r>
                        <a:rPr lang="he-IL" sz="1200" dirty="0">
                          <a:effectLst/>
                        </a:rPr>
                        <a:t>חוסר יכולת לבצע הנחיות רופא - המטופל תוכנן לקבלת </a:t>
                      </a:r>
                      <a:r>
                        <a:rPr lang="en-US" sz="1200" dirty="0">
                          <a:effectLst/>
                        </a:rPr>
                        <a:t>SBRT</a:t>
                      </a:r>
                      <a:r>
                        <a:rPr lang="he-IL" sz="1200" dirty="0">
                          <a:effectLst/>
                        </a:rPr>
                        <a:t> ריאה. המטופל לא היה מסוגל להחזיק ידיים למעלה.</a:t>
                      </a:r>
                      <a:endParaRPr lang="en-US" sz="12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r" rtl="1">
                        <a:spcAft>
                          <a:spcPts val="0"/>
                        </a:spcAft>
                      </a:pPr>
                      <a:r>
                        <a:rPr lang="he-IL" sz="1200" dirty="0">
                          <a:effectLst/>
                        </a:rPr>
                        <a:t>על הרופא המטפל לבחון את מצבו של המטופל ולהחליט האם מסוגל לבצע טיפולים מורכבים וארוכים.</a:t>
                      </a:r>
                      <a:endParaRPr lang="en-US" sz="12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86702765"/>
                  </a:ext>
                </a:extLst>
              </a:tr>
              <a:tr h="361950">
                <a:tc>
                  <a:txBody>
                    <a:bodyPr/>
                    <a:lstStyle/>
                    <a:p>
                      <a:pPr marL="0" algn="r" defTabSz="914400" rtl="0" eaLnBrk="1" latinLnBrk="0" hangingPunct="1">
                        <a:spcAft>
                          <a:spcPts val="0"/>
                        </a:spcAft>
                      </a:pPr>
                      <a:r>
                        <a:rPr lang="en-US" sz="1200" b="1" kern="1200" dirty="0">
                          <a:solidFill>
                            <a:schemeClr val="lt1"/>
                          </a:solidFill>
                          <a:effectLst/>
                          <a:latin typeface="+mn-lt"/>
                          <a:ea typeface="+mn-ea"/>
                          <a:cs typeface="+mn-cs"/>
                        </a:rPr>
                        <a:t>511</a:t>
                      </a:r>
                    </a:p>
                  </a:txBody>
                  <a:tcPr marL="68580" marR="68580" marT="0" marB="0" anchor="ctr"/>
                </a:tc>
                <a:tc>
                  <a:txBody>
                    <a:bodyPr/>
                    <a:lstStyle/>
                    <a:p>
                      <a:pPr algn="r" rtl="1">
                        <a:spcAft>
                          <a:spcPts val="0"/>
                        </a:spcAft>
                      </a:pPr>
                      <a:r>
                        <a:rPr lang="he-IL" sz="1200" kern="1200" dirty="0">
                          <a:solidFill>
                            <a:schemeClr val="dk1"/>
                          </a:solidFill>
                          <a:effectLst/>
                          <a:latin typeface="+mn-lt"/>
                          <a:ea typeface="+mn-ea"/>
                          <a:cs typeface="+mn-cs"/>
                        </a:rPr>
                        <a:t>עיכוב במתן טיפול - מטופלת </a:t>
                      </a:r>
                      <a:r>
                        <a:rPr lang="he-IL" sz="1200" kern="1200" dirty="0" err="1">
                          <a:solidFill>
                            <a:schemeClr val="dk1"/>
                          </a:solidFill>
                          <a:effectLst/>
                          <a:latin typeface="+mn-lt"/>
                          <a:ea typeface="+mn-ea"/>
                          <a:cs typeface="+mn-cs"/>
                        </a:rPr>
                        <a:t>ח"פ</a:t>
                      </a:r>
                      <a:r>
                        <a:rPr lang="he-IL" sz="1200" kern="1200" dirty="0">
                          <a:solidFill>
                            <a:schemeClr val="dk1"/>
                          </a:solidFill>
                          <a:effectLst/>
                          <a:latin typeface="+mn-lt"/>
                          <a:ea typeface="+mn-ea"/>
                          <a:cs typeface="+mn-cs"/>
                        </a:rPr>
                        <a:t> המתינה זמן ממושך לטיפול. המטופלת הגיעה בשעה 10:30 למכון; הסימולציה הסתיימה ב 13:48 והמטופלת קיבלה טיפול ב 17:00. שתי סיבות </a:t>
                      </a:r>
                      <a:r>
                        <a:rPr lang="he-IL" sz="1200" kern="1200" dirty="0" err="1">
                          <a:solidFill>
                            <a:schemeClr val="dk1"/>
                          </a:solidFill>
                          <a:effectLst/>
                          <a:latin typeface="+mn-lt"/>
                          <a:ea typeface="+mn-ea"/>
                          <a:cs typeface="+mn-cs"/>
                        </a:rPr>
                        <a:t>עקריות</a:t>
                      </a:r>
                      <a:r>
                        <a:rPr lang="he-IL" sz="1200" kern="1200" dirty="0">
                          <a:solidFill>
                            <a:schemeClr val="dk1"/>
                          </a:solidFill>
                          <a:effectLst/>
                          <a:latin typeface="+mn-lt"/>
                          <a:ea typeface="+mn-ea"/>
                          <a:cs typeface="+mn-cs"/>
                        </a:rPr>
                        <a:t> לעיקוב הן: </a:t>
                      </a:r>
                      <a:br>
                        <a:rPr lang="he-IL" sz="1200" kern="1200" dirty="0">
                          <a:solidFill>
                            <a:schemeClr val="dk1"/>
                          </a:solidFill>
                          <a:effectLst/>
                          <a:latin typeface="+mn-lt"/>
                          <a:ea typeface="+mn-ea"/>
                          <a:cs typeface="+mn-cs"/>
                        </a:rPr>
                      </a:br>
                      <a:r>
                        <a:rPr lang="he-IL" sz="1200" kern="1200" dirty="0">
                          <a:solidFill>
                            <a:schemeClr val="dk1"/>
                          </a:solidFill>
                          <a:effectLst/>
                          <a:latin typeface="+mn-lt"/>
                          <a:ea typeface="+mn-ea"/>
                          <a:cs typeface="+mn-cs"/>
                        </a:rPr>
                        <a:t>1. מטופלת נשלחה לסימולציה לפני קבלת רופא. המטופלת נשלחה חזרה לרופא. </a:t>
                      </a:r>
                      <a:br>
                        <a:rPr lang="he-IL" sz="1200" kern="1200" dirty="0">
                          <a:solidFill>
                            <a:schemeClr val="dk1"/>
                          </a:solidFill>
                          <a:effectLst/>
                          <a:latin typeface="+mn-lt"/>
                          <a:ea typeface="+mn-ea"/>
                          <a:cs typeface="+mn-cs"/>
                        </a:rPr>
                      </a:br>
                      <a:r>
                        <a:rPr lang="he-IL" sz="1200" kern="1200" dirty="0">
                          <a:solidFill>
                            <a:schemeClr val="dk1"/>
                          </a:solidFill>
                          <a:effectLst/>
                          <a:latin typeface="+mn-lt"/>
                          <a:ea typeface="+mn-ea"/>
                          <a:cs typeface="+mn-cs"/>
                        </a:rPr>
                        <a:t>2. הרופא הראשי באריה לא שונה לרופא האחראי באותו היום ועל כן לא הופיע בבית של הרופא האחראי.</a:t>
                      </a:r>
                      <a:endParaRPr lang="en-US" sz="1200" kern="1200" dirty="0">
                        <a:solidFill>
                          <a:schemeClr val="dk1"/>
                        </a:solidFill>
                        <a:effectLst/>
                        <a:latin typeface="+mn-lt"/>
                        <a:ea typeface="+mn-ea"/>
                        <a:cs typeface="+mn-cs"/>
                      </a:endParaRPr>
                    </a:p>
                  </a:txBody>
                  <a:tcPr marL="68580" marR="68580" marT="0" marB="0" anchor="ctr"/>
                </a:tc>
                <a:tc>
                  <a:txBody>
                    <a:bodyPr/>
                    <a:lstStyle/>
                    <a:p>
                      <a:pPr algn="r" rtl="1">
                        <a:spcAft>
                          <a:spcPts val="0"/>
                        </a:spcAft>
                      </a:pPr>
                      <a:r>
                        <a:rPr lang="he-IL" sz="1200" kern="1200" dirty="0">
                          <a:solidFill>
                            <a:schemeClr val="dk1"/>
                          </a:solidFill>
                          <a:effectLst/>
                          <a:latin typeface="+mn-lt"/>
                          <a:ea typeface="+mn-ea"/>
                          <a:cs typeface="+mn-cs"/>
                        </a:rPr>
                        <a:t>יפתח יומן למתמחה עם שתי קבלות לצורך מטופלים עם קבלה + סימולציה. </a:t>
                      </a:r>
                      <a:r>
                        <a:rPr lang="he-IL" sz="1200" kern="1200" dirty="0" err="1">
                          <a:solidFill>
                            <a:schemeClr val="dk1"/>
                          </a:solidFill>
                          <a:effectLst/>
                          <a:latin typeface="+mn-lt"/>
                          <a:ea typeface="+mn-ea"/>
                          <a:cs typeface="+mn-cs"/>
                        </a:rPr>
                        <a:t>השייוך</a:t>
                      </a:r>
                      <a:r>
                        <a:rPr lang="he-IL" sz="1200" kern="1200" dirty="0">
                          <a:solidFill>
                            <a:schemeClr val="dk1"/>
                          </a:solidFill>
                          <a:effectLst/>
                          <a:latin typeface="+mn-lt"/>
                          <a:ea typeface="+mn-ea"/>
                          <a:cs typeface="+mn-cs"/>
                        </a:rPr>
                        <a:t> יהיה לרופא הבכיר התורן. ב </a:t>
                      </a:r>
                      <a:r>
                        <a:rPr lang="en-US" sz="1200" kern="1200" dirty="0">
                          <a:solidFill>
                            <a:schemeClr val="dk1"/>
                          </a:solidFill>
                          <a:effectLst/>
                          <a:latin typeface="+mn-lt"/>
                          <a:ea typeface="+mn-ea"/>
                          <a:cs typeface="+mn-cs"/>
                        </a:rPr>
                        <a:t>Emergency CP</a:t>
                      </a:r>
                      <a:r>
                        <a:rPr lang="he-IL" sz="1200" kern="1200" dirty="0">
                          <a:solidFill>
                            <a:schemeClr val="dk1"/>
                          </a:solidFill>
                          <a:effectLst/>
                          <a:latin typeface="+mn-lt"/>
                          <a:ea typeface="+mn-ea"/>
                          <a:cs typeface="+mn-cs"/>
                        </a:rPr>
                        <a:t> יש לשנות </a:t>
                      </a:r>
                      <a:r>
                        <a:rPr lang="en-US" sz="1200" kern="1200" dirty="0">
                          <a:solidFill>
                            <a:schemeClr val="dk1"/>
                          </a:solidFill>
                          <a:effectLst/>
                          <a:latin typeface="+mn-lt"/>
                          <a:ea typeface="+mn-ea"/>
                          <a:cs typeface="+mn-cs"/>
                        </a:rPr>
                        <a:t>Contouring</a:t>
                      </a:r>
                      <a:r>
                        <a:rPr lang="he-IL" sz="1200" kern="1200" dirty="0">
                          <a:solidFill>
                            <a:schemeClr val="dk1"/>
                          </a:solidFill>
                          <a:effectLst/>
                          <a:latin typeface="+mn-lt"/>
                          <a:ea typeface="+mn-ea"/>
                          <a:cs typeface="+mn-cs"/>
                        </a:rPr>
                        <a:t> ל </a:t>
                      </a:r>
                      <a:r>
                        <a:rPr lang="en-US" sz="1200" kern="1200" dirty="0">
                          <a:solidFill>
                            <a:schemeClr val="dk1"/>
                          </a:solidFill>
                          <a:effectLst/>
                          <a:latin typeface="+mn-lt"/>
                          <a:ea typeface="+mn-ea"/>
                          <a:cs typeface="+mn-cs"/>
                        </a:rPr>
                        <a:t>Emergency Contouring</a:t>
                      </a:r>
                      <a:r>
                        <a:rPr lang="he-IL" sz="1200" kern="1200" dirty="0">
                          <a:solidFill>
                            <a:schemeClr val="dk1"/>
                          </a:solidFill>
                          <a:effectLst/>
                          <a:latin typeface="+mn-lt"/>
                          <a:ea typeface="+mn-ea"/>
                          <a:cs typeface="+mn-cs"/>
                        </a:rPr>
                        <a:t>.  לשים לב </a:t>
                      </a:r>
                      <a:r>
                        <a:rPr lang="he-IL" sz="1200" kern="1200" dirty="0" err="1">
                          <a:solidFill>
                            <a:schemeClr val="dk1"/>
                          </a:solidFill>
                          <a:effectLst/>
                          <a:latin typeface="+mn-lt"/>
                          <a:ea typeface="+mn-ea"/>
                          <a:cs typeface="+mn-cs"/>
                        </a:rPr>
                        <a:t>לשופא</a:t>
                      </a:r>
                      <a:r>
                        <a:rPr lang="he-IL" sz="1200" kern="1200" dirty="0">
                          <a:solidFill>
                            <a:schemeClr val="dk1"/>
                          </a:solidFill>
                          <a:effectLst/>
                          <a:latin typeface="+mn-lt"/>
                          <a:ea typeface="+mn-ea"/>
                          <a:cs typeface="+mn-cs"/>
                        </a:rPr>
                        <a:t> אחראי על מקרים דחופים </a:t>
                      </a:r>
                      <a:r>
                        <a:rPr lang="he-IL" sz="1200" kern="1200" dirty="0" err="1">
                          <a:solidFill>
                            <a:schemeClr val="dk1"/>
                          </a:solidFill>
                          <a:effectLst/>
                          <a:latin typeface="+mn-lt"/>
                          <a:ea typeface="+mn-ea"/>
                          <a:cs typeface="+mn-cs"/>
                        </a:rPr>
                        <a:t>בסימולתורנכון</a:t>
                      </a:r>
                      <a:r>
                        <a:rPr lang="he-IL" sz="1200" kern="1200" dirty="0">
                          <a:solidFill>
                            <a:schemeClr val="dk1"/>
                          </a:solidFill>
                          <a:effectLst/>
                          <a:latin typeface="+mn-lt"/>
                          <a:ea typeface="+mn-ea"/>
                          <a:cs typeface="+mn-cs"/>
                        </a:rPr>
                        <a:t> ב</a:t>
                      </a:r>
                      <a:r>
                        <a:rPr lang="en-US" sz="1200" kern="1200" dirty="0">
                          <a:solidFill>
                            <a:schemeClr val="dk1"/>
                          </a:solidFill>
                          <a:effectLst/>
                          <a:latin typeface="+mn-lt"/>
                          <a:ea typeface="+mn-ea"/>
                          <a:cs typeface="+mn-cs"/>
                        </a:rPr>
                        <a:t>summary</a:t>
                      </a:r>
                      <a:r>
                        <a:rPr lang="he-IL" sz="1200" kern="1200" dirty="0">
                          <a:solidFill>
                            <a:schemeClr val="dk1"/>
                          </a:solidFill>
                          <a:effectLst/>
                          <a:latin typeface="+mn-lt"/>
                          <a:ea typeface="+mn-ea"/>
                          <a:cs typeface="+mn-cs"/>
                        </a:rPr>
                        <a:t> ומופיע מכון ב</a:t>
                      </a:r>
                      <a:r>
                        <a:rPr lang="en-US" sz="1200" kern="1200" dirty="0" err="1">
                          <a:solidFill>
                            <a:schemeClr val="dk1"/>
                          </a:solidFill>
                          <a:effectLst/>
                          <a:latin typeface="+mn-lt"/>
                          <a:ea typeface="+mn-ea"/>
                          <a:cs typeface="+mn-cs"/>
                        </a:rPr>
                        <a:t>carepathg</a:t>
                      </a:r>
                      <a:endParaRPr lang="en-US" sz="1200" kern="1200" dirty="0">
                        <a:solidFill>
                          <a:schemeClr val="dk1"/>
                        </a:solidFill>
                        <a:effectLst/>
                        <a:latin typeface="+mn-lt"/>
                        <a:ea typeface="+mn-ea"/>
                        <a:cs typeface="+mn-cs"/>
                      </a:endParaRPr>
                    </a:p>
                  </a:txBody>
                  <a:tcPr marL="68580" marR="68580" marT="0" marB="0" anchor="ctr"/>
                </a:tc>
                <a:extLst>
                  <a:ext uri="{0D108BD9-81ED-4DB2-BD59-A6C34878D82A}">
                    <a16:rowId xmlns:a16="http://schemas.microsoft.com/office/drawing/2014/main" val="3359416737"/>
                  </a:ext>
                </a:extLst>
              </a:tr>
            </a:tbl>
          </a:graphicData>
        </a:graphic>
      </p:graphicFrame>
    </p:spTree>
    <p:extLst>
      <p:ext uri="{BB962C8B-B14F-4D97-AF65-F5344CB8AC3E}">
        <p14:creationId xmlns:p14="http://schemas.microsoft.com/office/powerpoint/2010/main" val="1871385169"/>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תרגול</a:t>
            </a:r>
            <a:endParaRPr lang="he-IL" dirty="0"/>
          </a:p>
        </p:txBody>
      </p:sp>
      <p:graphicFrame>
        <p:nvGraphicFramePr>
          <p:cNvPr id="4" name="טבלה 3"/>
          <p:cNvGraphicFramePr>
            <a:graphicFrameLocks noGrp="1"/>
          </p:cNvGraphicFramePr>
          <p:nvPr>
            <p:extLst>
              <p:ext uri="{D42A27DB-BD31-4B8C-83A1-F6EECF244321}">
                <p14:modId xmlns:p14="http://schemas.microsoft.com/office/powerpoint/2010/main" val="3390985184"/>
              </p:ext>
            </p:extLst>
          </p:nvPr>
        </p:nvGraphicFramePr>
        <p:xfrm>
          <a:off x="179511" y="1484784"/>
          <a:ext cx="8540252" cy="1919097"/>
        </p:xfrm>
        <a:graphic>
          <a:graphicData uri="http://schemas.openxmlformats.org/drawingml/2006/table">
            <a:tbl>
              <a:tblPr rtl="1" firstRow="1" firstCol="1" bandRow="1">
                <a:tableStyleId>{5C22544A-7EE6-4342-B048-85BDC9FD1C3A}</a:tableStyleId>
              </a:tblPr>
              <a:tblGrid>
                <a:gridCol w="786167">
                  <a:extLst>
                    <a:ext uri="{9D8B030D-6E8A-4147-A177-3AD203B41FA5}">
                      <a16:colId xmlns:a16="http://schemas.microsoft.com/office/drawing/2014/main" val="1783372603"/>
                    </a:ext>
                  </a:extLst>
                </a:gridCol>
                <a:gridCol w="3736360">
                  <a:extLst>
                    <a:ext uri="{9D8B030D-6E8A-4147-A177-3AD203B41FA5}">
                      <a16:colId xmlns:a16="http://schemas.microsoft.com/office/drawing/2014/main" val="969728505"/>
                    </a:ext>
                  </a:extLst>
                </a:gridCol>
                <a:gridCol w="4017725">
                  <a:extLst>
                    <a:ext uri="{9D8B030D-6E8A-4147-A177-3AD203B41FA5}">
                      <a16:colId xmlns:a16="http://schemas.microsoft.com/office/drawing/2014/main" val="624007091"/>
                    </a:ext>
                  </a:extLst>
                </a:gridCol>
              </a:tblGrid>
              <a:tr h="685800">
                <a:tc>
                  <a:txBody>
                    <a:bodyPr/>
                    <a:lstStyle/>
                    <a:p>
                      <a:pPr algn="r" rtl="1">
                        <a:spcAft>
                          <a:spcPts val="0"/>
                        </a:spcAft>
                      </a:pPr>
                      <a:r>
                        <a:rPr lang="he-IL" sz="1200">
                          <a:effectLst/>
                        </a:rPr>
                        <a:t>סידור</a:t>
                      </a:r>
                      <a:endParaRPr lang="en-US" sz="12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r" rtl="1">
                        <a:spcAft>
                          <a:spcPts val="0"/>
                        </a:spcAft>
                      </a:pPr>
                      <a:r>
                        <a:rPr lang="he-IL" sz="1200" dirty="0">
                          <a:effectLst/>
                        </a:rPr>
                        <a:t>תקציר מקרה</a:t>
                      </a:r>
                      <a:endParaRPr lang="en-US" sz="12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r" rtl="1">
                        <a:spcAft>
                          <a:spcPts val="0"/>
                        </a:spcAft>
                      </a:pPr>
                      <a:r>
                        <a:rPr lang="he-IL" sz="1200">
                          <a:effectLst/>
                        </a:rPr>
                        <a:t>מסקנות ישיבה</a:t>
                      </a:r>
                      <a:endParaRPr lang="en-US" sz="12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981833204"/>
                  </a:ext>
                </a:extLst>
              </a:tr>
              <a:tr h="361950">
                <a:tc>
                  <a:txBody>
                    <a:bodyPr/>
                    <a:lstStyle/>
                    <a:p>
                      <a:pPr algn="r" rtl="0">
                        <a:spcAft>
                          <a:spcPts val="0"/>
                        </a:spcAft>
                      </a:pPr>
                      <a:r>
                        <a:rPr lang="en-US" sz="1200" b="1" kern="1200" dirty="0">
                          <a:solidFill>
                            <a:schemeClr val="lt1"/>
                          </a:solidFill>
                          <a:effectLst/>
                          <a:latin typeface="+mn-lt"/>
                          <a:ea typeface="+mn-ea"/>
                          <a:cs typeface="+mn-cs"/>
                        </a:rPr>
                        <a:t>517</a:t>
                      </a:r>
                    </a:p>
                  </a:txBody>
                  <a:tcPr marL="68580" marR="68580" marT="0" marB="0"/>
                </a:tc>
                <a:tc>
                  <a:txBody>
                    <a:bodyPr/>
                    <a:lstStyle/>
                    <a:p>
                      <a:pPr algn="r" rtl="1">
                        <a:spcAft>
                          <a:spcPts val="0"/>
                        </a:spcAft>
                      </a:pPr>
                      <a:r>
                        <a:rPr lang="he-IL" sz="110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תקשורת לקויה - מטופלת הוזמנה לסימון קליני לא היה מרשם לטיפול. למטופלת היה קוצב בעבר ולא נעשה בירור בנושא. המטופלת נשלחה לביתה ע"י רופא לפני התור שלה. חוסר התקשורת בין הצוות המטפל למטופלת הורגש, ונוצר תסכול.</a:t>
                      </a:r>
                      <a:endParaRPr lang="en-US" sz="12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tc>
                <a:tc>
                  <a:txBody>
                    <a:bodyPr/>
                    <a:lstStyle/>
                    <a:p>
                      <a:pPr algn="r" rtl="1">
                        <a:spcAft>
                          <a:spcPts val="0"/>
                        </a:spcAft>
                      </a:pPr>
                      <a:r>
                        <a:rPr lang="he-IL" sz="11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מטופלים חוזרים שקיבלו טיפול בעבר, ישובצו חזרה אל הרופא המטפל המקורי. יש לידע זימון תורים לגבי שינויים בתכנית טיפול.</a:t>
                      </a:r>
                      <a:endParaRPr lang="en-US" sz="12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tc>
                <a:extLst>
                  <a:ext uri="{0D108BD9-81ED-4DB2-BD59-A6C34878D82A}">
                    <a16:rowId xmlns:a16="http://schemas.microsoft.com/office/drawing/2014/main" val="3260504301"/>
                  </a:ext>
                </a:extLst>
              </a:tr>
              <a:tr h="361950">
                <a:tc>
                  <a:txBody>
                    <a:bodyPr/>
                    <a:lstStyle/>
                    <a:p>
                      <a:pPr algn="r" rtl="0">
                        <a:spcAft>
                          <a:spcPts val="0"/>
                        </a:spcAft>
                      </a:pPr>
                      <a:r>
                        <a:rPr lang="en-US" sz="1200" dirty="0" smtClean="0">
                          <a:effectLst/>
                          <a:latin typeface="Times New Roman" panose="02020603050405020304" pitchFamily="18" charset="0"/>
                          <a:ea typeface="Times New Roman" panose="02020603050405020304" pitchFamily="18" charset="0"/>
                          <a:cs typeface="Arial" panose="020B0604020202020204" pitchFamily="34" charset="0"/>
                        </a:rPr>
                        <a:t>521</a:t>
                      </a:r>
                      <a:endParaRPr lang="en-US" sz="12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15000"/>
                        </a:lnSpc>
                        <a:spcAft>
                          <a:spcPts val="0"/>
                        </a:spcAft>
                      </a:pPr>
                      <a:r>
                        <a:rPr lang="he-IL" sz="11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תיעוד לא תקין -בישיבת סימולציה הרופא כתב את ההנחיות בכתב יד. הרנטגנאים הבינו שמדובר בתכנון לכליה כאשר המקרה הוא לריאה. לכן המטופל הוכן לסימולציה באופן שגוי.</a:t>
                      </a:r>
                      <a:endParaRPr lang="en-US" sz="12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tc>
                <a:tc>
                  <a:txBody>
                    <a:bodyPr/>
                    <a:lstStyle/>
                    <a:p>
                      <a:pPr algn="r" rtl="1">
                        <a:lnSpc>
                          <a:spcPct val="115000"/>
                        </a:lnSpc>
                        <a:spcAft>
                          <a:spcPts val="0"/>
                        </a:spcAft>
                      </a:pPr>
                      <a:r>
                        <a:rPr lang="he-IL" sz="1100" dirty="0">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rPr>
                        <a:t>כל ההוראות יכתבו בטופס סימולציה באריה עבור תיקים רגילים (לא דחופים).</a:t>
                      </a:r>
                      <a:endParaRPr lang="en-US" sz="12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ctr"/>
                </a:tc>
                <a:extLst>
                  <a:ext uri="{0D108BD9-81ED-4DB2-BD59-A6C34878D82A}">
                    <a16:rowId xmlns:a16="http://schemas.microsoft.com/office/drawing/2014/main" val="1249001719"/>
                  </a:ext>
                </a:extLst>
              </a:tr>
            </a:tbl>
          </a:graphicData>
        </a:graphic>
      </p:graphicFrame>
    </p:spTree>
    <p:extLst>
      <p:ext uri="{BB962C8B-B14F-4D97-AF65-F5344CB8AC3E}">
        <p14:creationId xmlns:p14="http://schemas.microsoft.com/office/powerpoint/2010/main" val="2210939479"/>
      </p:ext>
    </p:extLst>
  </p:cSld>
  <p:clrMapOvr>
    <a:masterClrMapping/>
  </p:clrMapOvr>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10.14"/>
  <p:tag name="AS_TITLE" val="Aspose.Slides for .NET 4.0"/>
  <p:tag name="AS_VERSION" val="22.10"/>
</p:tagLst>
</file>

<file path=ppt/theme/theme1.xml><?xml version="1.0" encoding="utf-8"?>
<a:theme xmlns:a="http://schemas.openxmlformats.org/drawingml/2006/main" name="1_ערכת נושא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Calibri"/>
        <a:cs typeface="Times New Roman"/>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4894</TotalTime>
  <Words>2347</Words>
  <Application>Microsoft Office PowerPoint</Application>
  <PresentationFormat>‫הצגה על המסך (4:3)</PresentationFormat>
  <Paragraphs>225</Paragraphs>
  <Slides>30</Slides>
  <Notes>1</Notes>
  <HiddenSlides>0</HiddenSlides>
  <MMClips>0</MMClips>
  <ScaleCrop>false</ScaleCrop>
  <HeadingPairs>
    <vt:vector size="6" baseType="variant">
      <vt:variant>
        <vt:lpstr>גופנים בשימוש</vt:lpstr>
      </vt:variant>
      <vt:variant>
        <vt:i4>5</vt:i4>
      </vt:variant>
      <vt:variant>
        <vt:lpstr>ערכת נושא</vt:lpstr>
      </vt:variant>
      <vt:variant>
        <vt:i4>1</vt:i4>
      </vt:variant>
      <vt:variant>
        <vt:lpstr>כותרות שקופיות</vt:lpstr>
      </vt:variant>
      <vt:variant>
        <vt:i4>30</vt:i4>
      </vt:variant>
    </vt:vector>
  </HeadingPairs>
  <TitlesOfParts>
    <vt:vector size="36" baseType="lpstr">
      <vt:lpstr>Arial</vt:lpstr>
      <vt:lpstr>Calibri</vt:lpstr>
      <vt:lpstr>Roboto</vt:lpstr>
      <vt:lpstr>Symbol</vt:lpstr>
      <vt:lpstr>Times New Roman</vt:lpstr>
      <vt:lpstr>1_ערכת נושא Office</vt:lpstr>
      <vt:lpstr>הגנת המטופל ברדיותרפיה ניהול סיכונים ריאקטיבי </vt:lpstr>
      <vt:lpstr>סביבת העבודה</vt:lpstr>
      <vt:lpstr>מצגת של PowerPoint‏</vt:lpstr>
      <vt:lpstr>מצגת של PowerPoint‏</vt:lpstr>
      <vt:lpstr>תשתית ארגונית</vt:lpstr>
      <vt:lpstr>מינוחים - ניהול סיכונים</vt:lpstr>
      <vt:lpstr>מינוחים - ניהול סיכונים</vt:lpstr>
      <vt:lpstr>גישות לניהול סיכונים ריאקטיבי</vt:lpstr>
      <vt:lpstr>דוגמא לאנליזת סיבת שורש </vt:lpstr>
      <vt:lpstr>דוגמא לאנליזת סיבת שורש </vt:lpstr>
      <vt:lpstr>דוגמא לאנליזת סיבת שורש </vt:lpstr>
      <vt:lpstr>דוגמא לאנליזת סיבת שורש </vt:lpstr>
      <vt:lpstr>מצגת של PowerPoint‏</vt:lpstr>
      <vt:lpstr>אנליזת סיבת שורש – מה למדנו?</vt:lpstr>
      <vt:lpstr>מערכת למידה - Incident Learning System (ILS)</vt:lpstr>
      <vt:lpstr>מעגל הלמידה</vt:lpstr>
      <vt:lpstr>סגירת מעגל הלמידה</vt:lpstr>
      <vt:lpstr>מערכות למידה; מקומית, לאומית או בינלאומית</vt:lpstr>
      <vt:lpstr>ניהול סיכונים ריאקטיבי - מערכת למידה מקומית של מרכז רפואי רבין</vt:lpstr>
      <vt:lpstr>ניהול סיכונים ריאקטיבי - מערכת למידה מקומית של מרכז רפואי רבין</vt:lpstr>
      <vt:lpstr>ניהול סיכונים ראקטיבי - מערכת למידה מקומית של מרכז רפואי רבין</vt:lpstr>
      <vt:lpstr>תוצרים של מערכת הלמידה</vt:lpstr>
      <vt:lpstr>תוצרים של מערכת הלמידה</vt:lpstr>
      <vt:lpstr>תוצרים של מערכת הלמידה מילון מונחים (Taxonomy)</vt:lpstr>
      <vt:lpstr>תוצרים של מערכת הלמידה מילון מונחים (Taxonomy)</vt:lpstr>
      <vt:lpstr>סיכום</vt:lpstr>
      <vt:lpstr>תודה</vt:lpstr>
      <vt:lpstr>תרגול</vt:lpstr>
      <vt:lpstr>תרגול</vt:lpstr>
      <vt:lpstr>תרגול</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הגנת המטופל ברדיותרפיה – ניהול סיכונים</dc:title>
  <dc:creator>רן בן חור</dc:creator>
  <cp:lastModifiedBy>רן בן חור</cp:lastModifiedBy>
  <cp:revision>63</cp:revision>
  <cp:lastPrinted>2017-07-18T12:54:31Z</cp:lastPrinted>
  <dcterms:created xsi:type="dcterms:W3CDTF">2013-09-11T08:50:57Z</dcterms:created>
  <dcterms:modified xsi:type="dcterms:W3CDTF">2025-01-09T00:36:24Z</dcterms:modified>
</cp:coreProperties>
</file>