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75" r:id="rId1"/>
  </p:sldMasterIdLst>
  <p:notesMasterIdLst>
    <p:notesMasterId r:id="rId40"/>
  </p:notesMasterIdLst>
  <p:sldIdLst>
    <p:sldId id="256" r:id="rId2"/>
    <p:sldId id="309" r:id="rId3"/>
    <p:sldId id="312" r:id="rId4"/>
    <p:sldId id="310" r:id="rId5"/>
    <p:sldId id="319" r:id="rId6"/>
    <p:sldId id="292" r:id="rId7"/>
    <p:sldId id="289" r:id="rId8"/>
    <p:sldId id="290" r:id="rId9"/>
    <p:sldId id="314" r:id="rId10"/>
    <p:sldId id="291" r:id="rId11"/>
    <p:sldId id="293" r:id="rId12"/>
    <p:sldId id="321" r:id="rId13"/>
    <p:sldId id="294" r:id="rId14"/>
    <p:sldId id="297" r:id="rId15"/>
    <p:sldId id="315" r:id="rId16"/>
    <p:sldId id="320" r:id="rId17"/>
    <p:sldId id="316" r:id="rId18"/>
    <p:sldId id="317" r:id="rId19"/>
    <p:sldId id="336" r:id="rId20"/>
    <p:sldId id="300" r:id="rId21"/>
    <p:sldId id="318" r:id="rId22"/>
    <p:sldId id="322" r:id="rId23"/>
    <p:sldId id="332" r:id="rId24"/>
    <p:sldId id="325" r:id="rId25"/>
    <p:sldId id="324" r:id="rId26"/>
    <p:sldId id="326" r:id="rId27"/>
    <p:sldId id="328" r:id="rId28"/>
    <p:sldId id="306" r:id="rId29"/>
    <p:sldId id="337" r:id="rId30"/>
    <p:sldId id="299" r:id="rId31"/>
    <p:sldId id="333" r:id="rId32"/>
    <p:sldId id="338" r:id="rId33"/>
    <p:sldId id="311" r:id="rId34"/>
    <p:sldId id="323" r:id="rId35"/>
    <p:sldId id="334" r:id="rId36"/>
    <p:sldId id="335" r:id="rId37"/>
    <p:sldId id="301" r:id="rId38"/>
    <p:sldId id="287" r:id="rId39"/>
  </p:sldIdLst>
  <p:sldSz cx="9144000" cy="6858000" type="screen4x3"/>
  <p:notesSz cx="6797675" cy="9928225"/>
  <p:custDataLst>
    <p:tags r:id="rId41"/>
  </p:custDataLst>
  <p:defaultTextStyle>
    <a:defPPr>
      <a:defRPr lang="he-IL"/>
    </a:defPPr>
    <a:lvl1pPr algn="r" rtl="1" fontAlgn="base">
      <a:spcBef>
        <a:spcPct val="0"/>
      </a:spcBef>
      <a:spcAft>
        <a:spcPct val="0"/>
      </a:spcAft>
      <a:defRPr kern="1200">
        <a:solidFill>
          <a:schemeClr val="tx1"/>
        </a:solidFill>
        <a:latin typeface="Calibri" pitchFamily="34" charset="0"/>
        <a:ea typeface="+mn-ea"/>
        <a:cs typeface="Arial"/>
      </a:defRPr>
    </a:lvl1pPr>
    <a:lvl2pPr marL="457200" algn="r" rtl="1" fontAlgn="base">
      <a:spcBef>
        <a:spcPct val="0"/>
      </a:spcBef>
      <a:spcAft>
        <a:spcPct val="0"/>
      </a:spcAft>
      <a:defRPr kern="1200">
        <a:solidFill>
          <a:schemeClr val="tx1"/>
        </a:solidFill>
        <a:latin typeface="Calibri" pitchFamily="34" charset="0"/>
        <a:ea typeface="+mn-ea"/>
        <a:cs typeface="Arial"/>
      </a:defRPr>
    </a:lvl2pPr>
    <a:lvl3pPr marL="914400" algn="r" rtl="1" fontAlgn="base">
      <a:spcBef>
        <a:spcPct val="0"/>
      </a:spcBef>
      <a:spcAft>
        <a:spcPct val="0"/>
      </a:spcAft>
      <a:defRPr kern="1200">
        <a:solidFill>
          <a:schemeClr val="tx1"/>
        </a:solidFill>
        <a:latin typeface="Calibri" pitchFamily="34" charset="0"/>
        <a:ea typeface="+mn-ea"/>
        <a:cs typeface="Arial"/>
      </a:defRPr>
    </a:lvl3pPr>
    <a:lvl4pPr marL="1371600" algn="r" rtl="1" fontAlgn="base">
      <a:spcBef>
        <a:spcPct val="0"/>
      </a:spcBef>
      <a:spcAft>
        <a:spcPct val="0"/>
      </a:spcAft>
      <a:defRPr kern="1200">
        <a:solidFill>
          <a:schemeClr val="tx1"/>
        </a:solidFill>
        <a:latin typeface="Calibri" pitchFamily="34" charset="0"/>
        <a:ea typeface="+mn-ea"/>
        <a:cs typeface="Arial"/>
      </a:defRPr>
    </a:lvl4pPr>
    <a:lvl5pPr marL="1828800" algn="r" rtl="1" fontAlgn="base">
      <a:spcBef>
        <a:spcPct val="0"/>
      </a:spcBef>
      <a:spcAft>
        <a:spcPct val="0"/>
      </a:spcAft>
      <a:defRPr kern="1200">
        <a:solidFill>
          <a:schemeClr val="tx1"/>
        </a:solidFill>
        <a:latin typeface="Calibri" pitchFamily="34" charset="0"/>
        <a:ea typeface="+mn-ea"/>
        <a:cs typeface="Arial"/>
      </a:defRPr>
    </a:lvl5pPr>
    <a:lvl6pPr marL="2286000" algn="l" defTabSz="914400" rtl="0" eaLnBrk="1" latinLnBrk="0" hangingPunct="1">
      <a:defRPr kern="1200">
        <a:solidFill>
          <a:schemeClr val="tx1"/>
        </a:solidFill>
        <a:latin typeface="Calibri" pitchFamily="34" charset="0"/>
        <a:ea typeface="+mn-ea"/>
        <a:cs typeface="Arial"/>
      </a:defRPr>
    </a:lvl6pPr>
    <a:lvl7pPr marL="2743200" algn="l" defTabSz="914400" rtl="0" eaLnBrk="1" latinLnBrk="0" hangingPunct="1">
      <a:defRPr kern="1200">
        <a:solidFill>
          <a:schemeClr val="tx1"/>
        </a:solidFill>
        <a:latin typeface="Calibri" pitchFamily="34" charset="0"/>
        <a:ea typeface="+mn-ea"/>
        <a:cs typeface="Arial"/>
      </a:defRPr>
    </a:lvl7pPr>
    <a:lvl8pPr marL="3200400" algn="l" defTabSz="914400" rtl="0" eaLnBrk="1" latinLnBrk="0" hangingPunct="1">
      <a:defRPr kern="1200">
        <a:solidFill>
          <a:schemeClr val="tx1"/>
        </a:solidFill>
        <a:latin typeface="Calibri" pitchFamily="34" charset="0"/>
        <a:ea typeface="+mn-ea"/>
        <a:cs typeface="Arial"/>
      </a:defRPr>
    </a:lvl8pPr>
    <a:lvl9pPr marL="3657600" algn="l" defTabSz="914400" rtl="0" eaLnBrk="1" latinLnBrk="0" hangingPunct="1">
      <a:defRPr kern="1200">
        <a:solidFill>
          <a:schemeClr val="tx1"/>
        </a:solidFill>
        <a:latin typeface="Calibri" pitchFamily="34" charset="0"/>
        <a:ea typeface="+mn-ea"/>
        <a:cs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 uri="{1BD7E111-0CB8-44D6-8891-C1BB2F81B7CC}">
      <p1710:readonlyRecommended xmlns="" xmlns:p1710="http://schemas.microsoft.com/office/powerpoint/2017/10/main" val="0"/>
    </p:ext>
  </p:extLst>
</p:presentationPr>
</file>

<file path=ppt/tableStyles.xml><?xml version="1.0" encoding="utf-8"?>
<a:tblStyleLst xmlns:a="http://schemas.openxmlformats.org/drawingml/2006/main" def="{5C22544A-7EE6-4342-B048-85BDC9FD1C3A}">
  <a:tblStyle styleId="{5C22544A-7EE6-4342-B048-85BDC9FD1C3A}" styleName="סגנון ביניים 2 - הדגשה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5005" autoAdjust="0"/>
    <p:restoredTop sz="96247" autoAdjust="0"/>
  </p:normalViewPr>
  <p:slideViewPr>
    <p:cSldViewPr>
      <p:cViewPr varScale="1">
        <p:scale>
          <a:sx n="111" d="100"/>
          <a:sy n="111" d="100"/>
        </p:scale>
        <p:origin x="1650" y="102"/>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notesViewPr>
    <p:cSldViewPr>
      <p:cViewPr>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tags" Target="tags/tag1.xml"/></Relationships>
</file>

<file path=ppt/charts/_rels/chart1.xml.rels><?xml version="1.0" encoding="UTF-8" standalone="yes"?>
<Relationships xmlns="http://schemas.openxmlformats.org/package/2006/relationships"><Relationship Id="rId1" Type="http://schemas.openxmlformats.org/officeDocument/2006/relationships/oleObject" Target="file:///C:\Asus%20WebStorage\ran@benhur.co\MySyncFolder\&#1502;&#1510;&#1490;&#1493;&#1514;%20&#1512;&#1503;\&#1502;&#1510;&#1490;&#1493;&#1514;%20&#1502;&#1514;&#1502;&#1495;&#1497;&#1501;\&#1492;&#1490;&#1504;&#1514;%20&#1492;&#1502;&#1496;&#1493;&#1508;&#1500;\Incident%20reporting.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baseline="0">
                <a:solidFill>
                  <a:schemeClr val="dk1">
                    <a:lumMod val="75000"/>
                    <a:lumOff val="25000"/>
                  </a:schemeClr>
                </a:solidFill>
                <a:latin typeface="+mn-lt"/>
                <a:ea typeface="+mn-ea"/>
                <a:cs typeface="+mn-cs"/>
              </a:defRPr>
            </a:pPr>
            <a:r>
              <a:rPr lang="he-IL"/>
              <a:t>מספר דיווחי אירועים ברדיותרפיה בשנים 2017-2022</a:t>
            </a:r>
          </a:p>
        </c:rich>
      </c:tx>
      <c:overlay val="0"/>
      <c:spPr>
        <a:noFill/>
        <a:ln>
          <a:noFill/>
        </a:ln>
        <a:effectLst/>
      </c:spPr>
    </c:title>
    <c:autoTitleDeleted val="0"/>
    <c:plotArea>
      <c:layout/>
      <c:barChart>
        <c:barDir val="col"/>
        <c:grouping val="clustered"/>
        <c:varyColors val="0"/>
        <c:ser>
          <c:idx val="0"/>
          <c:order val="0"/>
          <c:tx>
            <c:v>מספר דיווחים לשנה</c:v>
          </c:tx>
          <c:spPr>
            <a:solidFill>
              <a:schemeClr val="accent1">
                <a:alpha val="85000"/>
              </a:schemeClr>
            </a:solidFill>
            <a:ln w="9525" cap="flat" cmpd="sng" algn="ctr">
              <a:solidFill>
                <a:schemeClr val="lt1">
                  <a:alpha val="50000"/>
                </a:schemeClr>
              </a:solidFill>
              <a:round/>
            </a:ln>
            <a:effectLst/>
          </c:spPr>
          <c:invertIfNegative val="0"/>
          <c:dLbls>
            <c:dLbl>
              <c:idx val="0"/>
              <c:spPr/>
              <c:txPr>
                <a:bodyPr rot="0" spcFirstLastPara="1" vertOverflow="ellipsis" vert="horz" wrap="square" lIns="38100" tIns="19050" rIns="38100" bIns="19050" anchor="ctr" anchorCtr="1">
                  <a:spAutoFit/>
                </a:bodyPr>
                <a:lstStyle/>
                <a:p>
                  <a:pPr>
                    <a:defRPr sz="900" b="1" i="0" u="none" strike="noStrike" kern="1200" baseline="0" smtId="4294967295">
                      <a:solidFill>
                        <a:schemeClr val="accent1"/>
                      </a:solidFill>
                      <a:latin typeface="+mn-lt"/>
                      <a:ea typeface="+mn-ea"/>
                      <a:cs typeface="+mn-cs"/>
                    </a:defRPr>
                  </a:pPr>
                  <a:endParaRPr lang="he-IL"/>
                </a:p>
              </c:txPr>
              <c:showLegendKey val="0"/>
              <c:showVal val="1"/>
              <c:showCatName val="0"/>
              <c:showSerName val="0"/>
              <c:showPercent val="0"/>
              <c:showBubbleSize val="0"/>
              <c:extLst xmlns:m="http://schemas.openxmlformats.org/officeDocument/2006/math" xmlns:w="http://schemas.openxmlformats.org/wordprocessingml/2006/main" xmlns:wp="http://schemas.openxmlformats.org/drawingml/2006/wordprocessingDrawing" xmlns:a14="http://schemas.microsoft.com/office/drawing/2010/main">
                <c:ext xmlns:c16="http://schemas.microsoft.com/office/drawing/2014/chart" uri="{C3380CC4-5D6E-409C-BE32-E72D297353CC}">
                  <c16:uniqueId val="{00000000-C4AE-4EDA-B5A9-5D04B7A1E1EA}"/>
                </c:ext>
              </c:extLst>
            </c:dLbl>
            <c:dLbl>
              <c:idx val="1"/>
              <c:spPr/>
              <c:txPr>
                <a:bodyPr rot="0" spcFirstLastPara="1" vertOverflow="ellipsis" vert="horz" wrap="square" lIns="38100" tIns="19050" rIns="38100" bIns="19050" anchor="ctr" anchorCtr="1">
                  <a:spAutoFit/>
                </a:bodyPr>
                <a:lstStyle/>
                <a:p>
                  <a:pPr>
                    <a:defRPr sz="900" b="1" i="0" u="none" strike="noStrike" kern="1200" baseline="0" smtId="4294967295">
                      <a:solidFill>
                        <a:schemeClr val="accent1"/>
                      </a:solidFill>
                      <a:latin typeface="+mn-lt"/>
                      <a:ea typeface="+mn-ea"/>
                      <a:cs typeface="+mn-cs"/>
                    </a:defRPr>
                  </a:pPr>
                  <a:endParaRPr lang="he-IL"/>
                </a:p>
              </c:txPr>
              <c:showLegendKey val="0"/>
              <c:showVal val="1"/>
              <c:showCatName val="0"/>
              <c:showSerName val="0"/>
              <c:showPercent val="0"/>
              <c:showBubbleSize val="0"/>
              <c:extLst xmlns:m="http://schemas.openxmlformats.org/officeDocument/2006/math" xmlns:w="http://schemas.openxmlformats.org/wordprocessingml/2006/main" xmlns:wp="http://schemas.openxmlformats.org/drawingml/2006/wordprocessingDrawing" xmlns:a14="http://schemas.microsoft.com/office/drawing/2010/main">
                <c:ext xmlns:c16="http://schemas.microsoft.com/office/drawing/2014/chart" uri="{C3380CC4-5D6E-409C-BE32-E72D297353CC}">
                  <c16:uniqueId val="{00000001-C4AE-4EDA-B5A9-5D04B7A1E1EA}"/>
                </c:ext>
              </c:extLst>
            </c:dLbl>
            <c:dLbl>
              <c:idx val="2"/>
              <c:spPr/>
              <c:txPr>
                <a:bodyPr rot="0" spcFirstLastPara="1" vertOverflow="ellipsis" vert="horz" wrap="square" lIns="38100" tIns="19050" rIns="38100" bIns="19050" anchor="ctr" anchorCtr="1">
                  <a:spAutoFit/>
                </a:bodyPr>
                <a:lstStyle/>
                <a:p>
                  <a:pPr>
                    <a:defRPr sz="900" b="1" i="0" u="none" strike="noStrike" kern="1200" baseline="0" smtId="4294967295">
                      <a:solidFill>
                        <a:schemeClr val="accent1"/>
                      </a:solidFill>
                      <a:latin typeface="+mn-lt"/>
                      <a:ea typeface="+mn-ea"/>
                      <a:cs typeface="+mn-cs"/>
                    </a:defRPr>
                  </a:pPr>
                  <a:endParaRPr lang="he-IL"/>
                </a:p>
              </c:txPr>
              <c:showLegendKey val="0"/>
              <c:showVal val="1"/>
              <c:showCatName val="0"/>
              <c:showSerName val="0"/>
              <c:showPercent val="0"/>
              <c:showBubbleSize val="0"/>
              <c:extLst xmlns:m="http://schemas.openxmlformats.org/officeDocument/2006/math" xmlns:w="http://schemas.openxmlformats.org/wordprocessingml/2006/main" xmlns:wp="http://schemas.openxmlformats.org/drawingml/2006/wordprocessingDrawing" xmlns:a14="http://schemas.microsoft.com/office/drawing/2010/main">
                <c:ext xmlns:c16="http://schemas.microsoft.com/office/drawing/2014/chart" uri="{C3380CC4-5D6E-409C-BE32-E72D297353CC}">
                  <c16:uniqueId val="{00000002-C4AE-4EDA-B5A9-5D04B7A1E1EA}"/>
                </c:ext>
              </c:extLst>
            </c:dLbl>
            <c:dLbl>
              <c:idx val="3"/>
              <c:spPr/>
              <c:txPr>
                <a:bodyPr rot="0" spcFirstLastPara="1" vertOverflow="ellipsis" vert="horz" wrap="square" lIns="38100" tIns="19050" rIns="38100" bIns="19050" anchor="ctr" anchorCtr="1">
                  <a:spAutoFit/>
                </a:bodyPr>
                <a:lstStyle/>
                <a:p>
                  <a:pPr>
                    <a:defRPr sz="900" b="1" i="0" u="none" strike="noStrike" kern="1200" baseline="0" smtId="4294967295">
                      <a:solidFill>
                        <a:schemeClr val="accent1"/>
                      </a:solidFill>
                      <a:latin typeface="+mn-lt"/>
                      <a:ea typeface="+mn-ea"/>
                      <a:cs typeface="+mn-cs"/>
                    </a:defRPr>
                  </a:pPr>
                  <a:endParaRPr lang="he-IL"/>
                </a:p>
              </c:txPr>
              <c:showLegendKey val="0"/>
              <c:showVal val="1"/>
              <c:showCatName val="0"/>
              <c:showSerName val="0"/>
              <c:showPercent val="0"/>
              <c:showBubbleSize val="0"/>
              <c:extLst xmlns:m="http://schemas.openxmlformats.org/officeDocument/2006/math" xmlns:w="http://schemas.openxmlformats.org/wordprocessingml/2006/main" xmlns:wp="http://schemas.openxmlformats.org/drawingml/2006/wordprocessingDrawing" xmlns:a14="http://schemas.microsoft.com/office/drawing/2010/main">
                <c:ext xmlns:c16="http://schemas.microsoft.com/office/drawing/2014/chart" uri="{C3380CC4-5D6E-409C-BE32-E72D297353CC}">
                  <c16:uniqueId val="{00000003-C4AE-4EDA-B5A9-5D04B7A1E1EA}"/>
                </c:ext>
              </c:extLst>
            </c:dLbl>
            <c:dLbl>
              <c:idx val="4"/>
              <c:spPr/>
              <c:txPr>
                <a:bodyPr rot="0" spcFirstLastPara="1" vertOverflow="ellipsis" vert="horz" wrap="square" lIns="38100" tIns="19050" rIns="38100" bIns="19050" anchor="ctr" anchorCtr="1">
                  <a:spAutoFit/>
                </a:bodyPr>
                <a:lstStyle/>
                <a:p>
                  <a:pPr>
                    <a:defRPr sz="900" b="1" i="0" u="none" strike="noStrike" kern="1200" baseline="0" smtId="4294967295">
                      <a:solidFill>
                        <a:schemeClr val="accent1"/>
                      </a:solidFill>
                      <a:latin typeface="+mn-lt"/>
                      <a:ea typeface="+mn-ea"/>
                      <a:cs typeface="+mn-cs"/>
                    </a:defRPr>
                  </a:pPr>
                  <a:endParaRPr lang="he-IL"/>
                </a:p>
              </c:txPr>
              <c:showLegendKey val="0"/>
              <c:showVal val="1"/>
              <c:showCatName val="0"/>
              <c:showSerName val="0"/>
              <c:showPercent val="0"/>
              <c:showBubbleSize val="0"/>
              <c:extLst xmlns:m="http://schemas.openxmlformats.org/officeDocument/2006/math" xmlns:w="http://schemas.openxmlformats.org/wordprocessingml/2006/main" xmlns:wp="http://schemas.openxmlformats.org/drawingml/2006/wordprocessingDrawing" xmlns:a14="http://schemas.microsoft.com/office/drawing/2010/main">
                <c:ext xmlns:c16="http://schemas.microsoft.com/office/drawing/2014/chart" uri="{C3380CC4-5D6E-409C-BE32-E72D297353CC}">
                  <c16:uniqueId val="{00000004-C4AE-4EDA-B5A9-5D04B7A1E1EA}"/>
                </c:ext>
              </c:extLst>
            </c:dLbl>
            <c:dLbl>
              <c:idx val="5"/>
              <c:spPr/>
              <c:txPr>
                <a:bodyPr rot="0" spcFirstLastPara="1" vertOverflow="ellipsis" vert="horz" wrap="square" lIns="38100" tIns="19050" rIns="38100" bIns="19050" anchor="ctr" anchorCtr="1">
                  <a:spAutoFit/>
                </a:bodyPr>
                <a:lstStyle/>
                <a:p>
                  <a:pPr>
                    <a:defRPr sz="900" b="1" i="0" u="none" strike="noStrike" kern="1200" baseline="0" smtId="4294967295">
                      <a:solidFill>
                        <a:schemeClr val="accent1"/>
                      </a:solidFill>
                      <a:latin typeface="+mn-lt"/>
                      <a:ea typeface="+mn-ea"/>
                      <a:cs typeface="+mn-cs"/>
                    </a:defRPr>
                  </a:pPr>
                  <a:endParaRPr lang="he-IL"/>
                </a:p>
              </c:txPr>
              <c:showLegendKey val="0"/>
              <c:showVal val="1"/>
              <c:showCatName val="0"/>
              <c:showSerName val="0"/>
              <c:showPercent val="0"/>
              <c:showBubbleSize val="0"/>
              <c:extLst xmlns:m="http://schemas.openxmlformats.org/officeDocument/2006/math" xmlns:w="http://schemas.openxmlformats.org/wordprocessingml/2006/main" xmlns:wp="http://schemas.openxmlformats.org/drawingml/2006/wordprocessingDrawing" xmlns:a14="http://schemas.microsoft.com/office/drawing/2010/main">
                <c:ext xmlns:c16="http://schemas.microsoft.com/office/drawing/2014/chart" uri="{C3380CC4-5D6E-409C-BE32-E72D297353CC}">
                  <c16:uniqueId val="{00000005-C4AE-4EDA-B5A9-5D04B7A1E1EA}"/>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smtId="4294967295">
                    <a:solidFill>
                      <a:schemeClr val="accent1"/>
                    </a:solidFill>
                    <a:latin typeface="+mn-lt"/>
                    <a:ea typeface="+mn-ea"/>
                    <a:cs typeface="+mn-cs"/>
                  </a:defRPr>
                </a:pPr>
                <a:endParaRPr lang="he-IL"/>
              </a:p>
            </c:txPr>
            <c:showLegendKey val="0"/>
            <c:showVal val="1"/>
            <c:showCatName val="0"/>
            <c:showSerName val="0"/>
            <c:showPercent val="0"/>
            <c:showBubbleSize val="0"/>
            <c:showLeaderLines val="0"/>
            <c:extLst xmlns:m="http://schemas.openxmlformats.org/officeDocument/2006/math" xmlns:w="http://schemas.openxmlformats.org/wordprocessingml/2006/main" xmlns:wp="http://schemas.openxmlformats.org/drawingml/2006/wordprocessingDrawing" xmlns:a14="http://schemas.microsoft.com/office/drawing/2010/main">
              <c:ext xmlns:c15="http://schemas.microsoft.com/office/drawing/2012/chart" uri="{CE6537A1-D6FC-4f65-9D91-7224C49458BB}">
                <c15:showLeaderLines val="1"/>
                <c15:leaderLines>
                  <c:spPr>
                    <a:ln w="9525">
                      <a:solidFill>
                        <a:schemeClr val="dk1">
                          <a:lumMod val="50000"/>
                          <a:lumOff val="50000"/>
                        </a:schemeClr>
                      </a:solidFill>
                    </a:ln>
                  </c:spPr>
                </c15:leaderLines>
              </c:ext>
            </c:extLst>
          </c:dLbls>
          <c:cat>
            <c:numLit>
              <c:formatCode>General</c:formatCode>
              <c:ptCount val="6"/>
              <c:pt idx="0">
                <c:v>2017</c:v>
              </c:pt>
              <c:pt idx="1">
                <c:v>2018</c:v>
              </c:pt>
              <c:pt idx="2">
                <c:v>2019</c:v>
              </c:pt>
              <c:pt idx="3">
                <c:v>2020</c:v>
              </c:pt>
              <c:pt idx="4">
                <c:v>2021</c:v>
              </c:pt>
              <c:pt idx="5">
                <c:v>2022</c:v>
              </c:pt>
            </c:numLit>
          </c:cat>
          <c:val>
            <c:numRef>
              <c:f>('results new'!$E$27,'results new'!$E$39,'results new'!$E$51,'results new'!$E$63,'results new'!$E$75,'results new'!$E$87)</c:f>
              <c:numCache>
                <c:formatCode>General</c:formatCode>
                <c:ptCount val="6"/>
                <c:pt idx="0">
                  <c:v>23</c:v>
                </c:pt>
                <c:pt idx="1">
                  <c:v>60</c:v>
                </c:pt>
                <c:pt idx="2">
                  <c:v>68</c:v>
                </c:pt>
                <c:pt idx="3">
                  <c:v>52</c:v>
                </c:pt>
                <c:pt idx="4">
                  <c:v>90</c:v>
                </c:pt>
                <c:pt idx="5">
                  <c:v>128</c:v>
                </c:pt>
              </c:numCache>
            </c:numRef>
          </c:val>
          <c:extLst xmlns:m="http://schemas.openxmlformats.org/officeDocument/2006/math" xmlns:w="http://schemas.openxmlformats.org/wordprocessingml/2006/main" xmlns:wp="http://schemas.openxmlformats.org/drawingml/2006/wordprocessingDrawing" xmlns:a14="http://schemas.microsoft.com/office/drawing/2010/main">
            <c:ext xmlns:c16="http://schemas.microsoft.com/office/drawing/2014/chart" uri="{C3380CC4-5D6E-409C-BE32-E72D297353CC}">
              <c16:uniqueId val="{00000000-C914-4697-8936-BC9177D745C8}"/>
            </c:ext>
          </c:extLst>
        </c:ser>
        <c:dLbls>
          <c:showLegendKey val="0"/>
          <c:showVal val="0"/>
          <c:showCatName val="0"/>
          <c:showSerName val="0"/>
          <c:showPercent val="0"/>
          <c:showBubbleSize val="0"/>
        </c:dLbls>
        <c:gapWidth val="150"/>
        <c:overlap val="-25"/>
        <c:axId val="251987424"/>
        <c:axId val="251987840"/>
      </c:barChart>
      <c:lineChart>
        <c:grouping val="stacked"/>
        <c:varyColors val="0"/>
        <c:ser>
          <c:idx val="1"/>
          <c:order val="1"/>
          <c:tx>
            <c:v>ממוצע רבעוני</c:v>
          </c:tx>
          <c:spPr>
            <a:ln w="31750" cap="rnd">
              <a:solidFill>
                <a:schemeClr val="accent2">
                  <a:alpha val="85000"/>
                </a:schemeClr>
              </a:solidFill>
              <a:round/>
            </a:ln>
            <a:effectLst/>
          </c:spPr>
          <c:marker>
            <c:symbol val="circle"/>
            <c:size val="6"/>
            <c:spPr>
              <a:solidFill>
                <a:schemeClr val="accent2">
                  <a:alpha val="85000"/>
                </a:schemeClr>
              </a:solidFill>
              <a:ln>
                <a:noFill/>
              </a:ln>
              <a:effectLst/>
            </c:spPr>
          </c:marker>
          <c:dLbls>
            <c:dLbl>
              <c:idx val="0"/>
              <c:spPr/>
              <c:txPr>
                <a:bodyPr rot="0" spcFirstLastPara="1" vertOverflow="ellipsis" vert="horz" wrap="square" lIns="38100" tIns="19050" rIns="38100" bIns="19050" anchor="ctr" anchorCtr="1">
                  <a:spAutoFit/>
                </a:bodyPr>
                <a:lstStyle/>
                <a:p>
                  <a:pPr>
                    <a:defRPr sz="900" b="1" i="0" u="none" strike="noStrike" kern="1200" baseline="0" smtId="4294967295">
                      <a:solidFill>
                        <a:schemeClr val="lt1"/>
                      </a:solidFill>
                      <a:latin typeface="+mn-lt"/>
                      <a:ea typeface="+mn-ea"/>
                      <a:cs typeface="+mn-cs"/>
                    </a:defRPr>
                  </a:pPr>
                  <a:endParaRPr lang="he-IL"/>
                </a:p>
              </c:txPr>
              <c:dLblPos val="t"/>
              <c:showLegendKey val="0"/>
              <c:showVal val="1"/>
              <c:showCatName val="0"/>
              <c:showSerName val="0"/>
              <c:showPercent val="0"/>
              <c:showBubbleSize val="0"/>
              <c:extLst xmlns:m="http://schemas.openxmlformats.org/officeDocument/2006/math" xmlns:w="http://schemas.openxmlformats.org/wordprocessingml/2006/main" xmlns:wp="http://schemas.openxmlformats.org/drawingml/2006/wordprocessingDrawing" xmlns:a14="http://schemas.microsoft.com/office/drawing/2010/main">
                <c:ext xmlns:c16="http://schemas.microsoft.com/office/drawing/2014/chart" uri="{C3380CC4-5D6E-409C-BE32-E72D297353CC}">
                  <c16:uniqueId val="{00000006-C4AE-4EDA-B5A9-5D04B7A1E1EA}"/>
                </c:ext>
              </c:extLst>
            </c:dLbl>
            <c:dLbl>
              <c:idx val="1"/>
              <c:spPr/>
              <c:txPr>
                <a:bodyPr rot="0" spcFirstLastPara="1" vertOverflow="ellipsis" vert="horz" wrap="square" lIns="38100" tIns="19050" rIns="38100" bIns="19050" anchor="ctr" anchorCtr="1">
                  <a:spAutoFit/>
                </a:bodyPr>
                <a:lstStyle/>
                <a:p>
                  <a:pPr>
                    <a:defRPr sz="900" b="1" i="0" u="none" strike="noStrike" kern="1200" baseline="0" smtId="4294967295">
                      <a:solidFill>
                        <a:schemeClr val="lt1"/>
                      </a:solidFill>
                      <a:latin typeface="+mn-lt"/>
                      <a:ea typeface="+mn-ea"/>
                      <a:cs typeface="+mn-cs"/>
                    </a:defRPr>
                  </a:pPr>
                  <a:endParaRPr lang="he-IL"/>
                </a:p>
              </c:txPr>
              <c:dLblPos val="t"/>
              <c:showLegendKey val="0"/>
              <c:showVal val="1"/>
              <c:showCatName val="0"/>
              <c:showSerName val="0"/>
              <c:showPercent val="0"/>
              <c:showBubbleSize val="0"/>
              <c:extLst xmlns:m="http://schemas.openxmlformats.org/officeDocument/2006/math" xmlns:w="http://schemas.openxmlformats.org/wordprocessingml/2006/main" xmlns:wp="http://schemas.openxmlformats.org/drawingml/2006/wordprocessingDrawing" xmlns:a14="http://schemas.microsoft.com/office/drawing/2010/main">
                <c:ext xmlns:c16="http://schemas.microsoft.com/office/drawing/2014/chart" uri="{C3380CC4-5D6E-409C-BE32-E72D297353CC}">
                  <c16:uniqueId val="{00000007-C4AE-4EDA-B5A9-5D04B7A1E1EA}"/>
                </c:ext>
              </c:extLst>
            </c:dLbl>
            <c:dLbl>
              <c:idx val="2"/>
              <c:spPr/>
              <c:txPr>
                <a:bodyPr rot="0" spcFirstLastPara="1" vertOverflow="ellipsis" vert="horz" wrap="square" lIns="38100" tIns="19050" rIns="38100" bIns="19050" anchor="ctr" anchorCtr="1">
                  <a:spAutoFit/>
                </a:bodyPr>
                <a:lstStyle/>
                <a:p>
                  <a:pPr>
                    <a:defRPr sz="900" b="1" i="0" u="none" strike="noStrike" kern="1200" baseline="0" smtId="4294967295">
                      <a:solidFill>
                        <a:schemeClr val="lt1"/>
                      </a:solidFill>
                      <a:latin typeface="+mn-lt"/>
                      <a:ea typeface="+mn-ea"/>
                      <a:cs typeface="+mn-cs"/>
                    </a:defRPr>
                  </a:pPr>
                  <a:endParaRPr lang="he-IL"/>
                </a:p>
              </c:txPr>
              <c:dLblPos val="t"/>
              <c:showLegendKey val="0"/>
              <c:showVal val="1"/>
              <c:showCatName val="0"/>
              <c:showSerName val="0"/>
              <c:showPercent val="0"/>
              <c:showBubbleSize val="0"/>
              <c:extLst xmlns:m="http://schemas.openxmlformats.org/officeDocument/2006/math" xmlns:w="http://schemas.openxmlformats.org/wordprocessingml/2006/main" xmlns:wp="http://schemas.openxmlformats.org/drawingml/2006/wordprocessingDrawing" xmlns:a14="http://schemas.microsoft.com/office/drawing/2010/main">
                <c:ext xmlns:c16="http://schemas.microsoft.com/office/drawing/2014/chart" uri="{C3380CC4-5D6E-409C-BE32-E72D297353CC}">
                  <c16:uniqueId val="{00000008-C4AE-4EDA-B5A9-5D04B7A1E1EA}"/>
                </c:ext>
              </c:extLst>
            </c:dLbl>
            <c:dLbl>
              <c:idx val="3"/>
              <c:spPr/>
              <c:txPr>
                <a:bodyPr rot="0" spcFirstLastPara="1" vertOverflow="ellipsis" vert="horz" wrap="square" lIns="38100" tIns="19050" rIns="38100" bIns="19050" anchor="ctr" anchorCtr="1">
                  <a:spAutoFit/>
                </a:bodyPr>
                <a:lstStyle/>
                <a:p>
                  <a:pPr>
                    <a:defRPr sz="900" b="1" i="0" u="none" strike="noStrike" kern="1200" baseline="0" smtId="4294967295">
                      <a:solidFill>
                        <a:schemeClr val="lt1"/>
                      </a:solidFill>
                      <a:latin typeface="+mn-lt"/>
                      <a:ea typeface="+mn-ea"/>
                      <a:cs typeface="+mn-cs"/>
                    </a:defRPr>
                  </a:pPr>
                  <a:endParaRPr lang="he-IL"/>
                </a:p>
              </c:txPr>
              <c:dLblPos val="t"/>
              <c:showLegendKey val="0"/>
              <c:showVal val="1"/>
              <c:showCatName val="0"/>
              <c:showSerName val="0"/>
              <c:showPercent val="0"/>
              <c:showBubbleSize val="0"/>
              <c:extLst xmlns:m="http://schemas.openxmlformats.org/officeDocument/2006/math" xmlns:w="http://schemas.openxmlformats.org/wordprocessingml/2006/main" xmlns:wp="http://schemas.openxmlformats.org/drawingml/2006/wordprocessingDrawing" xmlns:a14="http://schemas.microsoft.com/office/drawing/2010/main">
                <c:ext xmlns:c16="http://schemas.microsoft.com/office/drawing/2014/chart" uri="{C3380CC4-5D6E-409C-BE32-E72D297353CC}">
                  <c16:uniqueId val="{00000009-C4AE-4EDA-B5A9-5D04B7A1E1EA}"/>
                </c:ext>
              </c:extLst>
            </c:dLbl>
            <c:dLbl>
              <c:idx val="4"/>
              <c:spPr/>
              <c:txPr>
                <a:bodyPr rot="0" spcFirstLastPara="1" vertOverflow="ellipsis" vert="horz" wrap="square" lIns="38100" tIns="19050" rIns="38100" bIns="19050" anchor="ctr" anchorCtr="1">
                  <a:spAutoFit/>
                </a:bodyPr>
                <a:lstStyle/>
                <a:p>
                  <a:pPr>
                    <a:defRPr sz="900" b="1" i="0" u="none" strike="noStrike" kern="1200" baseline="0" smtId="4294967295">
                      <a:solidFill>
                        <a:schemeClr val="lt1"/>
                      </a:solidFill>
                      <a:latin typeface="+mn-lt"/>
                      <a:ea typeface="+mn-ea"/>
                      <a:cs typeface="+mn-cs"/>
                    </a:defRPr>
                  </a:pPr>
                  <a:endParaRPr lang="he-IL"/>
                </a:p>
              </c:txPr>
              <c:dLblPos val="t"/>
              <c:showLegendKey val="0"/>
              <c:showVal val="1"/>
              <c:showCatName val="0"/>
              <c:showSerName val="0"/>
              <c:showPercent val="0"/>
              <c:showBubbleSize val="0"/>
              <c:extLst xmlns:m="http://schemas.openxmlformats.org/officeDocument/2006/math" xmlns:w="http://schemas.openxmlformats.org/wordprocessingml/2006/main" xmlns:wp="http://schemas.openxmlformats.org/drawingml/2006/wordprocessingDrawing" xmlns:a14="http://schemas.microsoft.com/office/drawing/2010/main">
                <c:ext xmlns:c16="http://schemas.microsoft.com/office/drawing/2014/chart" uri="{C3380CC4-5D6E-409C-BE32-E72D297353CC}">
                  <c16:uniqueId val="{0000000A-C4AE-4EDA-B5A9-5D04B7A1E1EA}"/>
                </c:ext>
              </c:extLst>
            </c:dLbl>
            <c:dLbl>
              <c:idx val="5"/>
              <c:spPr/>
              <c:txPr>
                <a:bodyPr rot="0" spcFirstLastPara="1" vertOverflow="ellipsis" vert="horz" wrap="square" lIns="38100" tIns="19050" rIns="38100" bIns="19050" anchor="ctr" anchorCtr="1">
                  <a:spAutoFit/>
                </a:bodyPr>
                <a:lstStyle/>
                <a:p>
                  <a:pPr>
                    <a:defRPr sz="900" b="1" i="0" u="none" strike="noStrike" kern="1200" baseline="0" smtId="4294967295">
                      <a:solidFill>
                        <a:schemeClr val="lt1"/>
                      </a:solidFill>
                      <a:latin typeface="+mn-lt"/>
                      <a:ea typeface="+mn-ea"/>
                      <a:cs typeface="+mn-cs"/>
                    </a:defRPr>
                  </a:pPr>
                  <a:endParaRPr lang="he-IL"/>
                </a:p>
              </c:txPr>
              <c:dLblPos val="t"/>
              <c:showLegendKey val="0"/>
              <c:showVal val="1"/>
              <c:showCatName val="0"/>
              <c:showSerName val="0"/>
              <c:showPercent val="0"/>
              <c:showBubbleSize val="0"/>
              <c:extLst xmlns:m="http://schemas.openxmlformats.org/officeDocument/2006/math" xmlns:w="http://schemas.openxmlformats.org/wordprocessingml/2006/main" xmlns:wp="http://schemas.openxmlformats.org/drawingml/2006/wordprocessingDrawing" xmlns:a14="http://schemas.microsoft.com/office/drawing/2010/main">
                <c:ext xmlns:c16="http://schemas.microsoft.com/office/drawing/2014/chart" uri="{C3380CC4-5D6E-409C-BE32-E72D297353CC}">
                  <c16:uniqueId val="{0000000B-C4AE-4EDA-B5A9-5D04B7A1E1EA}"/>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smtId="4294967295">
                    <a:solidFill>
                      <a:schemeClr val="lt1"/>
                    </a:solidFill>
                    <a:latin typeface="+mn-lt"/>
                    <a:ea typeface="+mn-ea"/>
                    <a:cs typeface="+mn-cs"/>
                  </a:defRPr>
                </a:pPr>
                <a:endParaRPr lang="he-IL"/>
              </a:p>
            </c:txPr>
            <c:dLblPos val="t"/>
            <c:showLegendKey val="0"/>
            <c:showVal val="1"/>
            <c:showCatName val="0"/>
            <c:showSerName val="0"/>
            <c:showPercent val="0"/>
            <c:showBubbleSize val="0"/>
            <c:showLeaderLines val="0"/>
            <c:extLst xmlns:m="http://schemas.openxmlformats.org/officeDocument/2006/math" xmlns:w="http://schemas.openxmlformats.org/wordprocessingml/2006/main" xmlns:wp="http://schemas.openxmlformats.org/drawingml/2006/wordprocessingDrawing" xmlns:a14="http://schemas.microsoft.com/office/drawing/2010/main">
              <c:ext xmlns:c15="http://schemas.microsoft.com/office/drawing/2012/chart" uri="{CE6537A1-D6FC-4f65-9D91-7224C49458BB}">
                <c15:showLeaderLines val="1"/>
                <c15:leaderLines>
                  <c:spPr>
                    <a:ln w="9525">
                      <a:solidFill>
                        <a:schemeClr val="dk1">
                          <a:lumMod val="50000"/>
                          <a:lumOff val="50000"/>
                        </a:schemeClr>
                      </a:solidFill>
                    </a:ln>
                  </c:spPr>
                </c15:leaderLines>
              </c:ext>
            </c:extLst>
          </c:dLbls>
          <c:cat>
            <c:numLit>
              <c:formatCode>General</c:formatCode>
              <c:ptCount val="6"/>
              <c:pt idx="0">
                <c:v>2017</c:v>
              </c:pt>
              <c:pt idx="1">
                <c:v>2018</c:v>
              </c:pt>
              <c:pt idx="2">
                <c:v>2019</c:v>
              </c:pt>
              <c:pt idx="3">
                <c:v>2020</c:v>
              </c:pt>
              <c:pt idx="4">
                <c:v>2021</c:v>
              </c:pt>
              <c:pt idx="5">
                <c:v>2022</c:v>
              </c:pt>
            </c:numLit>
          </c:cat>
          <c:val>
            <c:numRef>
              <c:f>'results new'!$I$5:$I$10</c:f>
              <c:numCache>
                <c:formatCode>0</c:formatCode>
                <c:ptCount val="6"/>
                <c:pt idx="0">
                  <c:v>5.75</c:v>
                </c:pt>
                <c:pt idx="1">
                  <c:v>15</c:v>
                </c:pt>
                <c:pt idx="2">
                  <c:v>17</c:v>
                </c:pt>
                <c:pt idx="3">
                  <c:v>13</c:v>
                </c:pt>
                <c:pt idx="4">
                  <c:v>22.5</c:v>
                </c:pt>
                <c:pt idx="5">
                  <c:v>32</c:v>
                </c:pt>
              </c:numCache>
            </c:numRef>
          </c:val>
          <c:smooth val="0"/>
          <c:extLst xmlns:m="http://schemas.openxmlformats.org/officeDocument/2006/math" xmlns:w="http://schemas.openxmlformats.org/wordprocessingml/2006/main" xmlns:wp="http://schemas.openxmlformats.org/drawingml/2006/wordprocessingDrawing" xmlns:a14="http://schemas.microsoft.com/office/drawing/2010/main">
            <c:ext xmlns:c16="http://schemas.microsoft.com/office/drawing/2014/chart" uri="{C3380CC4-5D6E-409C-BE32-E72D297353CC}">
              <c16:uniqueId val="{00000001-C914-4697-8936-BC9177D745C8}"/>
            </c:ext>
          </c:extLst>
        </c:ser>
        <c:dLbls>
          <c:showLegendKey val="0"/>
          <c:showVal val="0"/>
          <c:showCatName val="0"/>
          <c:showSerName val="0"/>
          <c:showPercent val="0"/>
          <c:showBubbleSize val="0"/>
        </c:dLbls>
        <c:marker val="1"/>
        <c:smooth val="0"/>
        <c:axId val="251987424"/>
        <c:axId val="251987840"/>
      </c:lineChart>
      <c:catAx>
        <c:axId val="251987424"/>
        <c:scaling>
          <c:orientation val="minMax"/>
        </c:scaling>
        <c:delete val="0"/>
        <c:axPos val="b"/>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900" b="0" i="0" u="none" strike="noStrike" kern="1200" cap="all" baseline="0" smtId="4294967295">
                <a:solidFill>
                  <a:schemeClr val="dk1">
                    <a:lumMod val="75000"/>
                    <a:lumOff val="25000"/>
                  </a:schemeClr>
                </a:solidFill>
                <a:latin typeface="+mn-lt"/>
                <a:ea typeface="+mn-ea"/>
                <a:cs typeface="+mn-cs"/>
              </a:defRPr>
            </a:pPr>
            <a:endParaRPr lang="he-IL"/>
          </a:p>
        </c:txPr>
        <c:crossAx val="251987840"/>
        <c:crosses val="autoZero"/>
        <c:auto val="0"/>
        <c:lblAlgn val="ctr"/>
        <c:lblOffset val="100"/>
        <c:noMultiLvlLbl val="0"/>
      </c:catAx>
      <c:valAx>
        <c:axId val="251987840"/>
        <c:scaling>
          <c:orientation val="minMax"/>
        </c:scaling>
        <c:delete val="1"/>
        <c:axPos val="l"/>
        <c:numFmt formatCode="General" sourceLinked="1"/>
        <c:majorTickMark val="none"/>
        <c:minorTickMark val="none"/>
        <c:tickLblPos val="nextTo"/>
        <c:crossAx val="251987424"/>
        <c:crosses val="autoZero"/>
        <c:crossBetween val="between"/>
      </c:valAx>
      <c:spPr>
        <a:noFill/>
        <a:ln>
          <a:noFill/>
        </a:ln>
        <a:effectLst/>
      </c:spPr>
    </c:plotArea>
    <c:legend>
      <c:legendPos val="t"/>
      <c:overlay val="0"/>
      <c:spPr>
        <a:solidFill>
          <a:schemeClr val="lt1">
            <a:lumMod val="95000"/>
            <a:alpha val="39000"/>
          </a:schemeClr>
        </a:solidFill>
        <a:ln>
          <a:noFill/>
        </a:ln>
        <a:effectLst/>
      </c:spPr>
      <c:txPr>
        <a:bodyPr rot="0" spcFirstLastPara="1" vertOverflow="ellipsis" vert="horz" wrap="square" anchor="ctr" anchorCtr="1"/>
        <a:lstStyle/>
        <a:p>
          <a:pPr>
            <a:defRPr sz="900" b="0" i="0" u="none" strike="noStrike" kern="1200" baseline="0" smtId="4294967295">
              <a:solidFill>
                <a:schemeClr val="dk1">
                  <a:lumMod val="75000"/>
                  <a:lumOff val="25000"/>
                </a:schemeClr>
              </a:solidFill>
              <a:latin typeface="+mn-lt"/>
              <a:ea typeface="+mn-ea"/>
              <a:cs typeface="+mn-cs"/>
            </a:defRPr>
          </a:pPr>
          <a:endParaRPr lang="he-IL"/>
        </a:p>
      </c:txPr>
    </c:legend>
    <c:plotVisOnly val="1"/>
    <c:dispBlanksAs val="gap"/>
    <c:showDLblsOverMax val="0"/>
  </c:chart>
  <c:spPr>
    <a:gradFill flip="none" rotWithShape="1">
      <a:gsLst>
        <a:gs pos="0">
          <a:schemeClr val="lt1"/>
        </a:gs>
        <a:gs pos="39000">
          <a:schemeClr val="lt1"/>
        </a:gs>
        <a:gs pos="100000">
          <a:schemeClr val="lt1">
            <a:lumMod val="75000"/>
          </a:schemeClr>
        </a:gs>
      </a:gsLst>
      <a:path path="circle">
        <a:fillToRect l="50000" t="-80000" r="50000" b="180000"/>
      </a:path>
    </a:gradFill>
    <a:ln w="9525" cap="flat" cmpd="sng" algn="ctr">
      <a:solidFill>
        <a:schemeClr val="dk1">
          <a:lumMod val="25000"/>
          <a:lumOff val="75000"/>
        </a:schemeClr>
      </a:solidFill>
      <a:round/>
    </a:ln>
    <a:effectLst/>
  </c:spPr>
  <c:txPr>
    <a:bodyPr/>
    <a:lstStyle/>
    <a:p>
      <a:pPr>
        <a:defRPr/>
      </a:pPr>
      <a:endParaRPr lang="he-IL"/>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52016" y="0"/>
            <a:ext cx="2945659" cy="496411"/>
          </a:xfrm>
          <a:prstGeom prst="rect">
            <a:avLst/>
          </a:prstGeom>
        </p:spPr>
        <p:txBody>
          <a:bodyPr vert="horz" lIns="96661" tIns="48331" rIns="96661" bIns="48331" rtlCol="1"/>
          <a:lstStyle>
            <a:lvl1pPr algn="r" fontAlgn="auto">
              <a:spcBef>
                <a:spcPct val="0"/>
              </a:spcBef>
              <a:spcAft>
                <a:spcPct val="0"/>
              </a:spcAft>
              <a:defRPr sz="1300">
                <a:latin typeface="+mn-lt"/>
                <a:cs typeface="+mn-cs"/>
              </a:defRPr>
            </a:lvl1pPr>
          </a:lstStyle>
          <a:p>
            <a:pPr>
              <a:defRPr/>
            </a:pPr>
            <a:endParaRPr lang="he-IL"/>
          </a:p>
        </p:txBody>
      </p:sp>
      <p:sp>
        <p:nvSpPr>
          <p:cNvPr id="3" name="מציין מיקום של תאריך 2"/>
          <p:cNvSpPr>
            <a:spLocks noGrp="1"/>
          </p:cNvSpPr>
          <p:nvPr>
            <p:ph type="dt" idx="1"/>
          </p:nvPr>
        </p:nvSpPr>
        <p:spPr>
          <a:xfrm>
            <a:off x="1574" y="0"/>
            <a:ext cx="2945659" cy="496411"/>
          </a:xfrm>
          <a:prstGeom prst="rect">
            <a:avLst/>
          </a:prstGeom>
        </p:spPr>
        <p:txBody>
          <a:bodyPr vert="horz" lIns="96661" tIns="48331" rIns="96661" bIns="48331" rtlCol="1"/>
          <a:lstStyle>
            <a:lvl1pPr algn="l" fontAlgn="auto">
              <a:spcBef>
                <a:spcPct val="0"/>
              </a:spcBef>
              <a:spcAft>
                <a:spcPct val="0"/>
              </a:spcAft>
              <a:defRPr sz="1300" smtClean="0">
                <a:latin typeface="+mn-lt"/>
                <a:cs typeface="+mn-cs"/>
              </a:defRPr>
            </a:lvl1pPr>
          </a:lstStyle>
          <a:p>
            <a:pPr>
              <a:defRPr/>
            </a:pPr>
            <a:fld id="{8C898F98-5BF9-4A32-BEEF-0C5D77444ADC}" type="datetimeFigureOut">
              <a:rPr lang="he-IL"/>
              <a:pPr>
                <a:defRPr/>
              </a:pPr>
              <a:t>ז'/תמוז/תשפ"ג</a:t>
            </a:fld>
            <a:endParaRPr lang="he-IL"/>
          </a:p>
        </p:txBody>
      </p:sp>
      <p:sp>
        <p:nvSpPr>
          <p:cNvPr id="4" name="מציין מיקום של תמונת שקופית 3"/>
          <p:cNvSpPr>
            <a:spLocks noGrp="1" noRot="1" noChangeAspect="1"/>
          </p:cNvSpPr>
          <p:nvPr>
            <p:ph type="sldImg" idx="2"/>
          </p:nvPr>
        </p:nvSpPr>
        <p:spPr>
          <a:xfrm>
            <a:off x="915988" y="744538"/>
            <a:ext cx="4965700" cy="3724275"/>
          </a:xfrm>
          <a:prstGeom prst="rect">
            <a:avLst/>
          </a:prstGeom>
          <a:noFill/>
          <a:ln w="12700">
            <a:solidFill>
              <a:prstClr val="black"/>
            </a:solidFill>
          </a:ln>
        </p:spPr>
      </p:sp>
      <p:sp>
        <p:nvSpPr>
          <p:cNvPr id="5" name="מציין מיקום של הערות 4"/>
          <p:cNvSpPr>
            <a:spLocks noGrp="1"/>
          </p:cNvSpPr>
          <p:nvPr>
            <p:ph type="body" sz="quarter" idx="3"/>
          </p:nvPr>
        </p:nvSpPr>
        <p:spPr>
          <a:xfrm>
            <a:off x="679768" y="4715907"/>
            <a:ext cx="5438140" cy="4467701"/>
          </a:xfrm>
          <a:prstGeom prst="rect">
            <a:avLst/>
          </a:prstGeom>
        </p:spPr>
        <p:txBody>
          <a:bodyPr vert="horz" lIns="96661" tIns="48331" rIns="96661" bIns="48331" rtlCol="1"/>
          <a:lstStyle/>
          <a:p>
            <a:pPr lvl="0"/>
            <a:r>
              <a:rPr lang="he-IL" noProof="0"/>
              <a:t>לחץ כדי לערוך סגנונות טקסט של תבנית בסיס</a:t>
            </a:r>
          </a:p>
          <a:p>
            <a:pPr lvl="1"/>
            <a:r>
              <a:rPr lang="he-IL" noProof="0"/>
              <a:t>רמה שנייה</a:t>
            </a:r>
          </a:p>
          <a:p>
            <a:pPr lvl="2"/>
            <a:r>
              <a:rPr lang="he-IL" noProof="0"/>
              <a:t>רמה שלישית</a:t>
            </a:r>
          </a:p>
          <a:p>
            <a:pPr lvl="3"/>
            <a:r>
              <a:rPr lang="he-IL" noProof="0"/>
              <a:t>רמה רביעית</a:t>
            </a:r>
          </a:p>
          <a:p>
            <a:pPr lvl="4"/>
            <a:r>
              <a:rPr lang="he-IL" noProof="0"/>
              <a:t>רמה חמישית</a:t>
            </a:r>
          </a:p>
        </p:txBody>
      </p:sp>
      <p:sp>
        <p:nvSpPr>
          <p:cNvPr id="6" name="מציין מיקום של כותרת תחתונה 5"/>
          <p:cNvSpPr>
            <a:spLocks noGrp="1"/>
          </p:cNvSpPr>
          <p:nvPr>
            <p:ph type="ftr" sz="quarter" idx="4"/>
          </p:nvPr>
        </p:nvSpPr>
        <p:spPr>
          <a:xfrm>
            <a:off x="3852016" y="9430091"/>
            <a:ext cx="2945659" cy="496411"/>
          </a:xfrm>
          <a:prstGeom prst="rect">
            <a:avLst/>
          </a:prstGeom>
        </p:spPr>
        <p:txBody>
          <a:bodyPr vert="horz" lIns="96661" tIns="48331" rIns="96661" bIns="48331" rtlCol="1" anchor="b"/>
          <a:lstStyle>
            <a:lvl1pPr algn="r" fontAlgn="auto">
              <a:spcBef>
                <a:spcPct val="0"/>
              </a:spcBef>
              <a:spcAft>
                <a:spcPct val="0"/>
              </a:spcAft>
              <a:defRPr sz="1300">
                <a:latin typeface="+mn-lt"/>
                <a:cs typeface="+mn-cs"/>
              </a:defRPr>
            </a:lvl1pPr>
          </a:lstStyle>
          <a:p>
            <a:pPr>
              <a:defRPr/>
            </a:pPr>
            <a:endParaRPr lang="he-IL"/>
          </a:p>
        </p:txBody>
      </p:sp>
      <p:sp>
        <p:nvSpPr>
          <p:cNvPr id="7" name="מציין מיקום של מספר שקופית 6"/>
          <p:cNvSpPr>
            <a:spLocks noGrp="1"/>
          </p:cNvSpPr>
          <p:nvPr>
            <p:ph type="sldNum" sz="quarter" idx="5"/>
          </p:nvPr>
        </p:nvSpPr>
        <p:spPr>
          <a:xfrm>
            <a:off x="1574" y="9430091"/>
            <a:ext cx="2945659" cy="496411"/>
          </a:xfrm>
          <a:prstGeom prst="rect">
            <a:avLst/>
          </a:prstGeom>
        </p:spPr>
        <p:txBody>
          <a:bodyPr vert="horz" lIns="96661" tIns="48331" rIns="96661" bIns="48331" rtlCol="1" anchor="b"/>
          <a:lstStyle>
            <a:lvl1pPr algn="l" fontAlgn="auto">
              <a:spcBef>
                <a:spcPct val="0"/>
              </a:spcBef>
              <a:spcAft>
                <a:spcPct val="0"/>
              </a:spcAft>
              <a:defRPr sz="1300" smtClean="0">
                <a:latin typeface="+mn-lt"/>
                <a:cs typeface="+mn-cs"/>
              </a:defRPr>
            </a:lvl1pPr>
          </a:lstStyle>
          <a:p>
            <a:pPr>
              <a:defRPr/>
            </a:pPr>
            <a:fld id="{DBD53D08-253B-4431-A8E7-910043DF1C8F}" type="slidenum">
              <a:rPr lang="he-IL"/>
              <a:pPr>
                <a:defRPr/>
              </a:pPr>
              <a:t>‹#›</a:t>
            </a:fld>
            <a:endParaRPr lang="he-IL"/>
          </a:p>
        </p:txBody>
      </p:sp>
    </p:spTree>
    <p:extLst>
      <p:ext uri="{BB962C8B-B14F-4D97-AF65-F5344CB8AC3E}">
        <p14:creationId xmlns:p14="http://schemas.microsoft.com/office/powerpoint/2010/main" val="1283753176"/>
      </p:ext>
    </p:extLst>
  </p:cSld>
  <p:clrMap bg1="lt1" tx1="dk1" bg2="lt2" tx2="dk2" accent1="accent1" accent2="accent2" accent3="accent3" accent4="accent4" accent5="accent5" accent6="accent6" hlink="hlink" folHlink="folHlink"/>
  <p:notesStyle>
    <a:lvl1pPr algn="r" rtl="1" fontAlgn="base">
      <a:spcBef>
        <a:spcPct val="30000"/>
      </a:spcBef>
      <a:spcAft>
        <a:spcPct val="0"/>
      </a:spcAft>
      <a:defRPr sz="1200" kern="1200">
        <a:solidFill>
          <a:schemeClr val="tx1"/>
        </a:solidFill>
        <a:latin typeface="+mn-lt"/>
        <a:ea typeface="+mn-ea"/>
        <a:cs typeface="+mn-cs"/>
      </a:defRPr>
    </a:lvl1pPr>
    <a:lvl2pPr marL="457200" algn="r" rtl="1" fontAlgn="base">
      <a:spcBef>
        <a:spcPct val="30000"/>
      </a:spcBef>
      <a:spcAft>
        <a:spcPct val="0"/>
      </a:spcAft>
      <a:defRPr sz="1200" kern="1200">
        <a:solidFill>
          <a:schemeClr val="tx1"/>
        </a:solidFill>
        <a:latin typeface="+mn-lt"/>
        <a:ea typeface="+mn-ea"/>
        <a:cs typeface="+mn-cs"/>
      </a:defRPr>
    </a:lvl2pPr>
    <a:lvl3pPr marL="914400" algn="r" rtl="1" fontAlgn="base">
      <a:spcBef>
        <a:spcPct val="30000"/>
      </a:spcBef>
      <a:spcAft>
        <a:spcPct val="0"/>
      </a:spcAft>
      <a:defRPr sz="1200" kern="1200">
        <a:solidFill>
          <a:schemeClr val="tx1"/>
        </a:solidFill>
        <a:latin typeface="+mn-lt"/>
        <a:ea typeface="+mn-ea"/>
        <a:cs typeface="+mn-cs"/>
      </a:defRPr>
    </a:lvl3pPr>
    <a:lvl4pPr marL="1371600" algn="r" rtl="1" fontAlgn="base">
      <a:spcBef>
        <a:spcPct val="30000"/>
      </a:spcBef>
      <a:spcAft>
        <a:spcPct val="0"/>
      </a:spcAft>
      <a:defRPr sz="1200" kern="1200">
        <a:solidFill>
          <a:schemeClr val="tx1"/>
        </a:solidFill>
        <a:latin typeface="+mn-lt"/>
        <a:ea typeface="+mn-ea"/>
        <a:cs typeface="+mn-cs"/>
      </a:defRPr>
    </a:lvl4pPr>
    <a:lvl5pPr marL="1828800" algn="r" rtl="1" fontAlgn="base">
      <a:spcBef>
        <a:spcPct val="30000"/>
      </a:spcBef>
      <a:spcAft>
        <a:spcPct val="0"/>
      </a:spcAft>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en-IL"/>
          </a:p>
        </p:txBody>
      </p:sp>
      <p:sp>
        <p:nvSpPr>
          <p:cNvPr id="4" name="מציין מיקום של מספר שקופית 3"/>
          <p:cNvSpPr>
            <a:spLocks noGrp="1"/>
          </p:cNvSpPr>
          <p:nvPr>
            <p:ph type="sldNum" sz="quarter" idx="5"/>
          </p:nvPr>
        </p:nvSpPr>
        <p:spPr/>
        <p:txBody>
          <a:bodyPr/>
          <a:lstStyle/>
          <a:p>
            <a:pPr>
              <a:defRPr/>
            </a:pPr>
            <a:fld id="{DBD53D08-253B-4431-A8E7-910043DF1C8F}" type="slidenum">
              <a:rPr lang="he-IL" smtClean="0"/>
              <a:pPr>
                <a:defRPr/>
              </a:pPr>
              <a:t>3</a:t>
            </a:fld>
            <a:endParaRPr lang="he-IL"/>
          </a:p>
        </p:txBody>
      </p:sp>
    </p:spTree>
    <p:extLst>
      <p:ext uri="{BB962C8B-B14F-4D97-AF65-F5344CB8AC3E}">
        <p14:creationId xmlns:p14="http://schemas.microsoft.com/office/powerpoint/2010/main" val="11420748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685800" y="2130425"/>
            <a:ext cx="7772400" cy="1470025"/>
          </a:xfrm>
        </p:spPr>
        <p:txBody>
          <a:bodyPr/>
          <a:lstStyle/>
          <a:p>
            <a:r>
              <a:rPr lang="he-IL"/>
              <a:t>לחץ כדי לערוך סגנון כותרת של תבנית בסיס</a:t>
            </a:r>
          </a:p>
        </p:txBody>
      </p:sp>
      <p:sp>
        <p:nvSpPr>
          <p:cNvPr id="3" name="כותרת משנה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he-IL"/>
              <a:t>לחץ כדי לערוך סגנון כותרת משנה של תבנית בסיס</a:t>
            </a:r>
          </a:p>
        </p:txBody>
      </p:sp>
      <p:sp>
        <p:nvSpPr>
          <p:cNvPr id="4" name="מציין מיקום של תאריך 3"/>
          <p:cNvSpPr>
            <a:spLocks noGrp="1"/>
          </p:cNvSpPr>
          <p:nvPr>
            <p:ph type="dt" sz="half" idx="10"/>
          </p:nvPr>
        </p:nvSpPr>
        <p:spPr/>
        <p:txBody>
          <a:bodyPr/>
          <a:lstStyle/>
          <a:p>
            <a:fld id="{597C1799-D6AC-4E62-AC21-BBDC9E4DE503}" type="datetimeFigureOut">
              <a:rPr lang="he-IL" smtClean="0">
                <a:solidFill>
                  <a:prstClr val="black">
                    <a:tint val="75000"/>
                  </a:prstClr>
                </a:solidFill>
              </a:rPr>
              <a:t>ז'/תמוז/תשפ"ג</a:t>
            </a:fld>
            <a:endParaRPr lang="he-IL">
              <a:solidFill>
                <a:prstClr val="black">
                  <a:tint val="75000"/>
                </a:prstClr>
              </a:solidFill>
            </a:endParaRPr>
          </a:p>
        </p:txBody>
      </p:sp>
      <p:sp>
        <p:nvSpPr>
          <p:cNvPr id="5" name="מציין מיקום של כותרת תחתונה 4"/>
          <p:cNvSpPr>
            <a:spLocks noGrp="1"/>
          </p:cNvSpPr>
          <p:nvPr>
            <p:ph type="ftr" sz="quarter" idx="11"/>
          </p:nvPr>
        </p:nvSpPr>
        <p:spPr/>
        <p:txBody>
          <a:bodyPr/>
          <a:lstStyle/>
          <a:p>
            <a:endParaRPr lang="he-IL">
              <a:solidFill>
                <a:prstClr val="black">
                  <a:tint val="75000"/>
                </a:prstClr>
              </a:solidFill>
            </a:endParaRPr>
          </a:p>
        </p:txBody>
      </p:sp>
      <p:sp>
        <p:nvSpPr>
          <p:cNvPr id="6" name="מציין מיקום של מספר שקופית 5"/>
          <p:cNvSpPr>
            <a:spLocks noGrp="1"/>
          </p:cNvSpPr>
          <p:nvPr>
            <p:ph type="sldNum" sz="quarter" idx="12"/>
          </p:nvPr>
        </p:nvSpPr>
        <p:spPr/>
        <p:txBody>
          <a:bodyPr/>
          <a:lstStyle/>
          <a:p>
            <a:fld id="{F8AFF220-52E7-481C-9183-B084A850DE92}" type="slidenum">
              <a:rPr lang="he-IL" smtClean="0">
                <a:solidFill>
                  <a:prstClr val="black">
                    <a:tint val="75000"/>
                  </a:prstClr>
                </a:solidFill>
              </a:rPr>
              <a:t>‹#›</a:t>
            </a:fld>
            <a:endParaRPr lang="he-IL">
              <a:solidFill>
                <a:prstClr val="black">
                  <a:tint val="75000"/>
                </a:prstClr>
              </a:solidFill>
            </a:endParaRPr>
          </a:p>
        </p:txBody>
      </p:sp>
    </p:spTree>
    <p:extLst>
      <p:ext uri="{BB962C8B-B14F-4D97-AF65-F5344CB8AC3E}">
        <p14:creationId xmlns:p14="http://schemas.microsoft.com/office/powerpoint/2010/main" val="188379217"/>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597C1799-D6AC-4E62-AC21-BBDC9E4DE503}" type="datetimeFigureOut">
              <a:rPr lang="he-IL" smtClean="0">
                <a:solidFill>
                  <a:prstClr val="black">
                    <a:tint val="75000"/>
                  </a:prstClr>
                </a:solidFill>
              </a:rPr>
              <a:t>ז'/תמוז/תשפ"ג</a:t>
            </a:fld>
            <a:endParaRPr lang="he-IL">
              <a:solidFill>
                <a:prstClr val="black">
                  <a:tint val="75000"/>
                </a:prstClr>
              </a:solidFill>
            </a:endParaRPr>
          </a:p>
        </p:txBody>
      </p:sp>
      <p:sp>
        <p:nvSpPr>
          <p:cNvPr id="5" name="מציין מיקום של כותרת תחתונה 4"/>
          <p:cNvSpPr>
            <a:spLocks noGrp="1"/>
          </p:cNvSpPr>
          <p:nvPr>
            <p:ph type="ftr" sz="quarter" idx="11"/>
          </p:nvPr>
        </p:nvSpPr>
        <p:spPr/>
        <p:txBody>
          <a:bodyPr/>
          <a:lstStyle/>
          <a:p>
            <a:endParaRPr lang="he-IL">
              <a:solidFill>
                <a:prstClr val="black">
                  <a:tint val="75000"/>
                </a:prstClr>
              </a:solidFill>
            </a:endParaRPr>
          </a:p>
        </p:txBody>
      </p:sp>
      <p:sp>
        <p:nvSpPr>
          <p:cNvPr id="6" name="מציין מיקום של מספר שקופית 5"/>
          <p:cNvSpPr>
            <a:spLocks noGrp="1"/>
          </p:cNvSpPr>
          <p:nvPr>
            <p:ph type="sldNum" sz="quarter" idx="12"/>
          </p:nvPr>
        </p:nvSpPr>
        <p:spPr/>
        <p:txBody>
          <a:bodyPr/>
          <a:lstStyle/>
          <a:p>
            <a:fld id="{F8AFF220-52E7-481C-9183-B084A850DE92}" type="slidenum">
              <a:rPr lang="he-IL" smtClean="0">
                <a:solidFill>
                  <a:prstClr val="black">
                    <a:tint val="75000"/>
                  </a:prstClr>
                </a:solidFill>
              </a:rPr>
              <a:t>‹#›</a:t>
            </a:fld>
            <a:endParaRPr lang="he-IL">
              <a:solidFill>
                <a:prstClr val="black">
                  <a:tint val="75000"/>
                </a:prstClr>
              </a:solidFill>
            </a:endParaRPr>
          </a:p>
        </p:txBody>
      </p:sp>
    </p:spTree>
    <p:extLst>
      <p:ext uri="{BB962C8B-B14F-4D97-AF65-F5344CB8AC3E}">
        <p14:creationId xmlns:p14="http://schemas.microsoft.com/office/powerpoint/2010/main" val="2015259727"/>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p:cNvSpPr>
            <a:spLocks noGrp="1"/>
          </p:cNvSpPr>
          <p:nvPr>
            <p:ph type="title"/>
          </p:nvPr>
        </p:nvSpPr>
        <p:spPr>
          <a:xfrm>
            <a:off x="722313" y="4406900"/>
            <a:ext cx="7772400" cy="1362075"/>
          </a:xfrm>
        </p:spPr>
        <p:txBody>
          <a:bodyPr anchor="t"/>
          <a:lstStyle>
            <a:lvl1pPr algn="r">
              <a:defRPr sz="4000" b="1" cap="all"/>
            </a:lvl1pPr>
          </a:lstStyle>
          <a:p>
            <a:r>
              <a:rPr lang="he-IL"/>
              <a:t>לחץ כדי לערוך סגנון כותרת של תבנית בסיס</a:t>
            </a:r>
          </a:p>
        </p:txBody>
      </p:sp>
      <p:sp>
        <p:nvSpPr>
          <p:cNvPr id="3" name="מציין מיקום טקסט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לחץ כדי לערוך סגנונות טקסט של תבנית בסיס</a:t>
            </a:r>
          </a:p>
        </p:txBody>
      </p:sp>
      <p:sp>
        <p:nvSpPr>
          <p:cNvPr id="4" name="מציין מיקום של תאריך 3"/>
          <p:cNvSpPr>
            <a:spLocks noGrp="1"/>
          </p:cNvSpPr>
          <p:nvPr>
            <p:ph type="dt" sz="half" idx="10"/>
          </p:nvPr>
        </p:nvSpPr>
        <p:spPr/>
        <p:txBody>
          <a:bodyPr/>
          <a:lstStyle/>
          <a:p>
            <a:fld id="{597C1799-D6AC-4E62-AC21-BBDC9E4DE503}" type="datetimeFigureOut">
              <a:rPr lang="he-IL" smtClean="0">
                <a:solidFill>
                  <a:prstClr val="black">
                    <a:tint val="75000"/>
                  </a:prstClr>
                </a:solidFill>
              </a:rPr>
              <a:t>ז'/תמוז/תשפ"ג</a:t>
            </a:fld>
            <a:endParaRPr lang="he-IL">
              <a:solidFill>
                <a:prstClr val="black">
                  <a:tint val="75000"/>
                </a:prstClr>
              </a:solidFill>
            </a:endParaRPr>
          </a:p>
        </p:txBody>
      </p:sp>
      <p:sp>
        <p:nvSpPr>
          <p:cNvPr id="5" name="מציין מיקום של כותרת תחתונה 4"/>
          <p:cNvSpPr>
            <a:spLocks noGrp="1"/>
          </p:cNvSpPr>
          <p:nvPr>
            <p:ph type="ftr" sz="quarter" idx="11"/>
          </p:nvPr>
        </p:nvSpPr>
        <p:spPr/>
        <p:txBody>
          <a:bodyPr/>
          <a:lstStyle/>
          <a:p>
            <a:endParaRPr lang="he-IL">
              <a:solidFill>
                <a:prstClr val="black">
                  <a:tint val="75000"/>
                </a:prstClr>
              </a:solidFill>
            </a:endParaRPr>
          </a:p>
        </p:txBody>
      </p:sp>
      <p:sp>
        <p:nvSpPr>
          <p:cNvPr id="6" name="מציין מיקום של מספר שקופית 5"/>
          <p:cNvSpPr>
            <a:spLocks noGrp="1"/>
          </p:cNvSpPr>
          <p:nvPr>
            <p:ph type="sldNum" sz="quarter" idx="12"/>
          </p:nvPr>
        </p:nvSpPr>
        <p:spPr/>
        <p:txBody>
          <a:bodyPr/>
          <a:lstStyle/>
          <a:p>
            <a:fld id="{F8AFF220-52E7-481C-9183-B084A850DE92}" type="slidenum">
              <a:rPr lang="he-IL" smtClean="0">
                <a:solidFill>
                  <a:prstClr val="black">
                    <a:tint val="75000"/>
                  </a:prstClr>
                </a:solidFill>
              </a:rPr>
              <a:t>‹#›</a:t>
            </a:fld>
            <a:endParaRPr lang="he-IL">
              <a:solidFill>
                <a:prstClr val="black">
                  <a:tint val="75000"/>
                </a:prstClr>
              </a:solidFill>
            </a:endParaRPr>
          </a:p>
        </p:txBody>
      </p:sp>
    </p:spTree>
    <p:extLst>
      <p:ext uri="{BB962C8B-B14F-4D97-AF65-F5344CB8AC3E}">
        <p14:creationId xmlns:p14="http://schemas.microsoft.com/office/powerpoint/2010/main" val="1312230564"/>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תוכן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של תאריך 4"/>
          <p:cNvSpPr>
            <a:spLocks noGrp="1"/>
          </p:cNvSpPr>
          <p:nvPr>
            <p:ph type="dt" sz="half" idx="10"/>
          </p:nvPr>
        </p:nvSpPr>
        <p:spPr/>
        <p:txBody>
          <a:bodyPr/>
          <a:lstStyle/>
          <a:p>
            <a:fld id="{597C1799-D6AC-4E62-AC21-BBDC9E4DE503}" type="datetimeFigureOut">
              <a:rPr lang="he-IL" smtClean="0">
                <a:solidFill>
                  <a:prstClr val="black">
                    <a:tint val="75000"/>
                  </a:prstClr>
                </a:solidFill>
              </a:rPr>
              <a:t>ז'/תמוז/תשפ"ג</a:t>
            </a:fld>
            <a:endParaRPr lang="he-IL">
              <a:solidFill>
                <a:prstClr val="black">
                  <a:tint val="75000"/>
                </a:prstClr>
              </a:solidFill>
            </a:endParaRPr>
          </a:p>
        </p:txBody>
      </p:sp>
      <p:sp>
        <p:nvSpPr>
          <p:cNvPr id="6" name="מציין מיקום של כותרת תחתונה 5"/>
          <p:cNvSpPr>
            <a:spLocks noGrp="1"/>
          </p:cNvSpPr>
          <p:nvPr>
            <p:ph type="ftr" sz="quarter" idx="11"/>
          </p:nvPr>
        </p:nvSpPr>
        <p:spPr/>
        <p:txBody>
          <a:bodyPr/>
          <a:lstStyle/>
          <a:p>
            <a:endParaRPr lang="he-IL">
              <a:solidFill>
                <a:prstClr val="black">
                  <a:tint val="75000"/>
                </a:prstClr>
              </a:solidFill>
            </a:endParaRPr>
          </a:p>
        </p:txBody>
      </p:sp>
      <p:sp>
        <p:nvSpPr>
          <p:cNvPr id="7" name="מציין מיקום של מספר שקופית 6"/>
          <p:cNvSpPr>
            <a:spLocks noGrp="1"/>
          </p:cNvSpPr>
          <p:nvPr>
            <p:ph type="sldNum" sz="quarter" idx="12"/>
          </p:nvPr>
        </p:nvSpPr>
        <p:spPr/>
        <p:txBody>
          <a:bodyPr/>
          <a:lstStyle/>
          <a:p>
            <a:fld id="{F8AFF220-52E7-481C-9183-B084A850DE92}" type="slidenum">
              <a:rPr lang="he-IL" smtClean="0">
                <a:solidFill>
                  <a:prstClr val="black">
                    <a:tint val="75000"/>
                  </a:prstClr>
                </a:solidFill>
              </a:rPr>
              <a:t>‹#›</a:t>
            </a:fld>
            <a:endParaRPr lang="he-IL">
              <a:solidFill>
                <a:prstClr val="black">
                  <a:tint val="75000"/>
                </a:prstClr>
              </a:solidFill>
            </a:endParaRPr>
          </a:p>
        </p:txBody>
      </p:sp>
    </p:spTree>
    <p:extLst>
      <p:ext uri="{BB962C8B-B14F-4D97-AF65-F5344CB8AC3E}">
        <p14:creationId xmlns:p14="http://schemas.microsoft.com/office/powerpoint/2010/main" val="3315632107"/>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lvl1pPr>
              <a:defRPr/>
            </a:lvl1pPr>
          </a:lstStyle>
          <a:p>
            <a:r>
              <a:rPr lang="he-IL"/>
              <a:t>לחץ כדי לערוך סגנון כותרת של תבנית בסיס</a:t>
            </a:r>
          </a:p>
        </p:txBody>
      </p:sp>
      <p:sp>
        <p:nvSpPr>
          <p:cNvPr id="3" name="מציין מיקום טקסט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4" name="מציין מיקום תוכן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5" name="מציין מיקום טקסט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6" name="מציין מיקום תוכן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7" name="מציין מיקום של תאריך 6"/>
          <p:cNvSpPr>
            <a:spLocks noGrp="1"/>
          </p:cNvSpPr>
          <p:nvPr>
            <p:ph type="dt" sz="half" idx="10"/>
          </p:nvPr>
        </p:nvSpPr>
        <p:spPr/>
        <p:txBody>
          <a:bodyPr/>
          <a:lstStyle/>
          <a:p>
            <a:fld id="{597C1799-D6AC-4E62-AC21-BBDC9E4DE503}" type="datetimeFigureOut">
              <a:rPr lang="he-IL" smtClean="0">
                <a:solidFill>
                  <a:prstClr val="black">
                    <a:tint val="75000"/>
                  </a:prstClr>
                </a:solidFill>
              </a:rPr>
              <a:t>ז'/תמוז/תשפ"ג</a:t>
            </a:fld>
            <a:endParaRPr lang="he-IL">
              <a:solidFill>
                <a:prstClr val="black">
                  <a:tint val="75000"/>
                </a:prstClr>
              </a:solidFill>
            </a:endParaRPr>
          </a:p>
        </p:txBody>
      </p:sp>
      <p:sp>
        <p:nvSpPr>
          <p:cNvPr id="8" name="מציין מיקום של כותרת תחתונה 7"/>
          <p:cNvSpPr>
            <a:spLocks noGrp="1"/>
          </p:cNvSpPr>
          <p:nvPr>
            <p:ph type="ftr" sz="quarter" idx="11"/>
          </p:nvPr>
        </p:nvSpPr>
        <p:spPr/>
        <p:txBody>
          <a:bodyPr/>
          <a:lstStyle/>
          <a:p>
            <a:endParaRPr lang="he-IL">
              <a:solidFill>
                <a:prstClr val="black">
                  <a:tint val="75000"/>
                </a:prstClr>
              </a:solidFill>
            </a:endParaRPr>
          </a:p>
        </p:txBody>
      </p:sp>
      <p:sp>
        <p:nvSpPr>
          <p:cNvPr id="9" name="מציין מיקום של מספר שקופית 8"/>
          <p:cNvSpPr>
            <a:spLocks noGrp="1"/>
          </p:cNvSpPr>
          <p:nvPr>
            <p:ph type="sldNum" sz="quarter" idx="12"/>
          </p:nvPr>
        </p:nvSpPr>
        <p:spPr/>
        <p:txBody>
          <a:bodyPr/>
          <a:lstStyle/>
          <a:p>
            <a:fld id="{F8AFF220-52E7-481C-9183-B084A850DE92}" type="slidenum">
              <a:rPr lang="he-IL" smtClean="0">
                <a:solidFill>
                  <a:prstClr val="black">
                    <a:tint val="75000"/>
                  </a:prstClr>
                </a:solidFill>
              </a:rPr>
              <a:t>‹#›</a:t>
            </a:fld>
            <a:endParaRPr lang="he-IL">
              <a:solidFill>
                <a:prstClr val="black">
                  <a:tint val="75000"/>
                </a:prstClr>
              </a:solidFill>
            </a:endParaRPr>
          </a:p>
        </p:txBody>
      </p:sp>
    </p:spTree>
    <p:extLst>
      <p:ext uri="{BB962C8B-B14F-4D97-AF65-F5344CB8AC3E}">
        <p14:creationId xmlns:p14="http://schemas.microsoft.com/office/powerpoint/2010/main" val="1848321569"/>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p:cNvSpPr>
            <a:spLocks noGrp="1"/>
          </p:cNvSpPr>
          <p:nvPr>
            <p:ph type="dt" sz="half" idx="10"/>
          </p:nvPr>
        </p:nvSpPr>
        <p:spPr/>
        <p:txBody>
          <a:bodyPr/>
          <a:lstStyle/>
          <a:p>
            <a:fld id="{597C1799-D6AC-4E62-AC21-BBDC9E4DE503}" type="datetimeFigureOut">
              <a:rPr lang="he-IL" smtClean="0">
                <a:solidFill>
                  <a:prstClr val="black">
                    <a:tint val="75000"/>
                  </a:prstClr>
                </a:solidFill>
              </a:rPr>
              <a:t>ז'/תמוז/תשפ"ג</a:t>
            </a:fld>
            <a:endParaRPr lang="he-IL">
              <a:solidFill>
                <a:prstClr val="black">
                  <a:tint val="75000"/>
                </a:prstClr>
              </a:solidFill>
            </a:endParaRPr>
          </a:p>
        </p:txBody>
      </p:sp>
      <p:sp>
        <p:nvSpPr>
          <p:cNvPr id="4" name="מציין מיקום של כותרת תחתונה 3"/>
          <p:cNvSpPr>
            <a:spLocks noGrp="1"/>
          </p:cNvSpPr>
          <p:nvPr>
            <p:ph type="ftr" sz="quarter" idx="11"/>
          </p:nvPr>
        </p:nvSpPr>
        <p:spPr/>
        <p:txBody>
          <a:bodyPr/>
          <a:lstStyle/>
          <a:p>
            <a:endParaRPr lang="he-IL">
              <a:solidFill>
                <a:prstClr val="black">
                  <a:tint val="75000"/>
                </a:prstClr>
              </a:solidFill>
            </a:endParaRPr>
          </a:p>
        </p:txBody>
      </p:sp>
      <p:sp>
        <p:nvSpPr>
          <p:cNvPr id="5" name="מציין מיקום של מספר שקופית 4"/>
          <p:cNvSpPr>
            <a:spLocks noGrp="1"/>
          </p:cNvSpPr>
          <p:nvPr>
            <p:ph type="sldNum" sz="quarter" idx="12"/>
          </p:nvPr>
        </p:nvSpPr>
        <p:spPr/>
        <p:txBody>
          <a:bodyPr/>
          <a:lstStyle/>
          <a:p>
            <a:fld id="{F8AFF220-52E7-481C-9183-B084A850DE92}" type="slidenum">
              <a:rPr lang="he-IL" smtClean="0">
                <a:solidFill>
                  <a:prstClr val="black">
                    <a:tint val="75000"/>
                  </a:prstClr>
                </a:solidFill>
              </a:rPr>
              <a:t>‹#›</a:t>
            </a:fld>
            <a:endParaRPr lang="he-IL">
              <a:solidFill>
                <a:prstClr val="black">
                  <a:tint val="75000"/>
                </a:prstClr>
              </a:solidFill>
            </a:endParaRPr>
          </a:p>
        </p:txBody>
      </p:sp>
    </p:spTree>
    <p:extLst>
      <p:ext uri="{BB962C8B-B14F-4D97-AF65-F5344CB8AC3E}">
        <p14:creationId xmlns:p14="http://schemas.microsoft.com/office/powerpoint/2010/main" val="1261147451"/>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597C1799-D6AC-4E62-AC21-BBDC9E4DE503}" type="datetimeFigureOut">
              <a:rPr lang="he-IL" smtClean="0">
                <a:solidFill>
                  <a:prstClr val="black">
                    <a:tint val="75000"/>
                  </a:prstClr>
                </a:solidFill>
              </a:rPr>
              <a:t>ז'/תמוז/תשפ"ג</a:t>
            </a:fld>
            <a:endParaRPr lang="he-IL">
              <a:solidFill>
                <a:prstClr val="black">
                  <a:tint val="75000"/>
                </a:prstClr>
              </a:solidFill>
            </a:endParaRPr>
          </a:p>
        </p:txBody>
      </p:sp>
      <p:sp>
        <p:nvSpPr>
          <p:cNvPr id="3" name="מציין מיקום של כותרת תחתונה 2"/>
          <p:cNvSpPr>
            <a:spLocks noGrp="1"/>
          </p:cNvSpPr>
          <p:nvPr>
            <p:ph type="ftr" sz="quarter" idx="11"/>
          </p:nvPr>
        </p:nvSpPr>
        <p:spPr/>
        <p:txBody>
          <a:bodyPr/>
          <a:lstStyle/>
          <a:p>
            <a:endParaRPr lang="he-IL">
              <a:solidFill>
                <a:prstClr val="black">
                  <a:tint val="75000"/>
                </a:prstClr>
              </a:solidFill>
            </a:endParaRPr>
          </a:p>
        </p:txBody>
      </p:sp>
      <p:sp>
        <p:nvSpPr>
          <p:cNvPr id="4" name="מציין מיקום של מספר שקופית 3"/>
          <p:cNvSpPr>
            <a:spLocks noGrp="1"/>
          </p:cNvSpPr>
          <p:nvPr>
            <p:ph type="sldNum" sz="quarter" idx="12"/>
          </p:nvPr>
        </p:nvSpPr>
        <p:spPr/>
        <p:txBody>
          <a:bodyPr/>
          <a:lstStyle/>
          <a:p>
            <a:fld id="{F8AFF220-52E7-481C-9183-B084A850DE92}" type="slidenum">
              <a:rPr lang="he-IL" smtClean="0">
                <a:solidFill>
                  <a:prstClr val="black">
                    <a:tint val="75000"/>
                  </a:prstClr>
                </a:solidFill>
              </a:rPr>
              <a:t>‹#›</a:t>
            </a:fld>
            <a:endParaRPr lang="he-IL">
              <a:solidFill>
                <a:prstClr val="black">
                  <a:tint val="75000"/>
                </a:prstClr>
              </a:solidFill>
            </a:endParaRPr>
          </a:p>
        </p:txBody>
      </p:sp>
    </p:spTree>
    <p:extLst>
      <p:ext uri="{BB962C8B-B14F-4D97-AF65-F5344CB8AC3E}">
        <p14:creationId xmlns:p14="http://schemas.microsoft.com/office/powerpoint/2010/main" val="1780300782"/>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457200" y="273050"/>
            <a:ext cx="3008313" cy="1162050"/>
          </a:xfrm>
        </p:spPr>
        <p:txBody>
          <a:bodyPr anchor="b"/>
          <a:lstStyle>
            <a:lvl1pPr algn="r">
              <a:defRPr sz="2000" b="1"/>
            </a:lvl1pPr>
          </a:lstStyle>
          <a:p>
            <a:r>
              <a:rPr lang="he-IL"/>
              <a:t>לחץ כדי לערוך סגנון כותרת של תבנית בסיס</a:t>
            </a:r>
          </a:p>
        </p:txBody>
      </p:sp>
      <p:sp>
        <p:nvSpPr>
          <p:cNvPr id="3" name="מציין מיקום תוכן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טקסט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לחץ כדי לערוך סגנונות טקסט של תבנית בסיס</a:t>
            </a:r>
          </a:p>
        </p:txBody>
      </p:sp>
      <p:sp>
        <p:nvSpPr>
          <p:cNvPr id="5" name="מציין מיקום של תאריך 4"/>
          <p:cNvSpPr>
            <a:spLocks noGrp="1"/>
          </p:cNvSpPr>
          <p:nvPr>
            <p:ph type="dt" sz="half" idx="10"/>
          </p:nvPr>
        </p:nvSpPr>
        <p:spPr/>
        <p:txBody>
          <a:bodyPr/>
          <a:lstStyle/>
          <a:p>
            <a:fld id="{597C1799-D6AC-4E62-AC21-BBDC9E4DE503}" type="datetimeFigureOut">
              <a:rPr lang="he-IL" smtClean="0">
                <a:solidFill>
                  <a:prstClr val="black">
                    <a:tint val="75000"/>
                  </a:prstClr>
                </a:solidFill>
              </a:rPr>
              <a:t>ז'/תמוז/תשפ"ג</a:t>
            </a:fld>
            <a:endParaRPr lang="he-IL">
              <a:solidFill>
                <a:prstClr val="black">
                  <a:tint val="75000"/>
                </a:prstClr>
              </a:solidFill>
            </a:endParaRPr>
          </a:p>
        </p:txBody>
      </p:sp>
      <p:sp>
        <p:nvSpPr>
          <p:cNvPr id="6" name="מציין מיקום של כותרת תחתונה 5"/>
          <p:cNvSpPr>
            <a:spLocks noGrp="1"/>
          </p:cNvSpPr>
          <p:nvPr>
            <p:ph type="ftr" sz="quarter" idx="11"/>
          </p:nvPr>
        </p:nvSpPr>
        <p:spPr/>
        <p:txBody>
          <a:bodyPr/>
          <a:lstStyle/>
          <a:p>
            <a:endParaRPr lang="he-IL">
              <a:solidFill>
                <a:prstClr val="black">
                  <a:tint val="75000"/>
                </a:prstClr>
              </a:solidFill>
            </a:endParaRPr>
          </a:p>
        </p:txBody>
      </p:sp>
      <p:sp>
        <p:nvSpPr>
          <p:cNvPr id="7" name="מציין מיקום של מספר שקופית 6"/>
          <p:cNvSpPr>
            <a:spLocks noGrp="1"/>
          </p:cNvSpPr>
          <p:nvPr>
            <p:ph type="sldNum" sz="quarter" idx="12"/>
          </p:nvPr>
        </p:nvSpPr>
        <p:spPr/>
        <p:txBody>
          <a:bodyPr/>
          <a:lstStyle/>
          <a:p>
            <a:fld id="{F8AFF220-52E7-481C-9183-B084A850DE92}" type="slidenum">
              <a:rPr lang="he-IL" smtClean="0">
                <a:solidFill>
                  <a:prstClr val="black">
                    <a:tint val="75000"/>
                  </a:prstClr>
                </a:solidFill>
              </a:rPr>
              <a:t>‹#›</a:t>
            </a:fld>
            <a:endParaRPr lang="he-IL">
              <a:solidFill>
                <a:prstClr val="black">
                  <a:tint val="75000"/>
                </a:prstClr>
              </a:solidFill>
            </a:endParaRPr>
          </a:p>
        </p:txBody>
      </p:sp>
    </p:spTree>
    <p:extLst>
      <p:ext uri="{BB962C8B-B14F-4D97-AF65-F5344CB8AC3E}">
        <p14:creationId xmlns:p14="http://schemas.microsoft.com/office/powerpoint/2010/main" val="2916954776"/>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1792288" y="4800600"/>
            <a:ext cx="5486400" cy="566738"/>
          </a:xfrm>
        </p:spPr>
        <p:txBody>
          <a:bodyPr anchor="b"/>
          <a:lstStyle>
            <a:lvl1pPr algn="r">
              <a:defRPr sz="2000" b="1"/>
            </a:lvl1pPr>
          </a:lstStyle>
          <a:p>
            <a:r>
              <a:rPr lang="he-IL"/>
              <a:t>לחץ כדי לערוך סגנון כותרת של תבנית בסיס</a:t>
            </a:r>
          </a:p>
        </p:txBody>
      </p:sp>
      <p:sp>
        <p:nvSpPr>
          <p:cNvPr id="3" name="מציין מיקום של תמונה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לחץ כדי לערוך סגנונות טקסט של תבנית בסיס</a:t>
            </a:r>
          </a:p>
        </p:txBody>
      </p:sp>
      <p:sp>
        <p:nvSpPr>
          <p:cNvPr id="5" name="מציין מיקום של תאריך 4"/>
          <p:cNvSpPr>
            <a:spLocks noGrp="1"/>
          </p:cNvSpPr>
          <p:nvPr>
            <p:ph type="dt" sz="half" idx="10"/>
          </p:nvPr>
        </p:nvSpPr>
        <p:spPr/>
        <p:txBody>
          <a:bodyPr/>
          <a:lstStyle/>
          <a:p>
            <a:fld id="{597C1799-D6AC-4E62-AC21-BBDC9E4DE503}" type="datetimeFigureOut">
              <a:rPr lang="he-IL" smtClean="0">
                <a:solidFill>
                  <a:prstClr val="black">
                    <a:tint val="75000"/>
                  </a:prstClr>
                </a:solidFill>
              </a:rPr>
              <a:t>ז'/תמוז/תשפ"ג</a:t>
            </a:fld>
            <a:endParaRPr lang="he-IL">
              <a:solidFill>
                <a:prstClr val="black">
                  <a:tint val="75000"/>
                </a:prstClr>
              </a:solidFill>
            </a:endParaRPr>
          </a:p>
        </p:txBody>
      </p:sp>
      <p:sp>
        <p:nvSpPr>
          <p:cNvPr id="6" name="מציין מיקום של כותרת תחתונה 5"/>
          <p:cNvSpPr>
            <a:spLocks noGrp="1"/>
          </p:cNvSpPr>
          <p:nvPr>
            <p:ph type="ftr" sz="quarter" idx="11"/>
          </p:nvPr>
        </p:nvSpPr>
        <p:spPr/>
        <p:txBody>
          <a:bodyPr/>
          <a:lstStyle/>
          <a:p>
            <a:endParaRPr lang="he-IL">
              <a:solidFill>
                <a:prstClr val="black">
                  <a:tint val="75000"/>
                </a:prstClr>
              </a:solidFill>
            </a:endParaRPr>
          </a:p>
        </p:txBody>
      </p:sp>
      <p:sp>
        <p:nvSpPr>
          <p:cNvPr id="7" name="מציין מיקום של מספר שקופית 6"/>
          <p:cNvSpPr>
            <a:spLocks noGrp="1"/>
          </p:cNvSpPr>
          <p:nvPr>
            <p:ph type="sldNum" sz="quarter" idx="12"/>
          </p:nvPr>
        </p:nvSpPr>
        <p:spPr/>
        <p:txBody>
          <a:bodyPr/>
          <a:lstStyle/>
          <a:p>
            <a:fld id="{F8AFF220-52E7-481C-9183-B084A850DE92}" type="slidenum">
              <a:rPr lang="he-IL" smtClean="0">
                <a:solidFill>
                  <a:prstClr val="black">
                    <a:tint val="75000"/>
                  </a:prstClr>
                </a:solidFill>
              </a:rPr>
              <a:t>‹#›</a:t>
            </a:fld>
            <a:endParaRPr lang="he-IL">
              <a:solidFill>
                <a:prstClr val="black">
                  <a:tint val="75000"/>
                </a:prstClr>
              </a:solidFill>
            </a:endParaRPr>
          </a:p>
        </p:txBody>
      </p:sp>
    </p:spTree>
    <p:extLst>
      <p:ext uri="{BB962C8B-B14F-4D97-AF65-F5344CB8AC3E}">
        <p14:creationId xmlns:p14="http://schemas.microsoft.com/office/powerpoint/2010/main" val="2258579193"/>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597C1799-D6AC-4E62-AC21-BBDC9E4DE503}" type="datetimeFigureOut">
              <a:rPr lang="he-IL" smtClean="0">
                <a:solidFill>
                  <a:prstClr val="black">
                    <a:tint val="75000"/>
                  </a:prstClr>
                </a:solidFill>
              </a:rPr>
              <a:t>ז'/תמוז/תשפ"ג</a:t>
            </a:fld>
            <a:endParaRPr lang="he-IL">
              <a:solidFill>
                <a:prstClr val="black">
                  <a:tint val="75000"/>
                </a:prstClr>
              </a:solidFill>
            </a:endParaRPr>
          </a:p>
        </p:txBody>
      </p:sp>
      <p:sp>
        <p:nvSpPr>
          <p:cNvPr id="5" name="מציין מיקום של כותרת תחתונה 4"/>
          <p:cNvSpPr>
            <a:spLocks noGrp="1"/>
          </p:cNvSpPr>
          <p:nvPr>
            <p:ph type="ftr" sz="quarter" idx="11"/>
          </p:nvPr>
        </p:nvSpPr>
        <p:spPr/>
        <p:txBody>
          <a:bodyPr/>
          <a:lstStyle/>
          <a:p>
            <a:endParaRPr lang="he-IL">
              <a:solidFill>
                <a:prstClr val="black">
                  <a:tint val="75000"/>
                </a:prstClr>
              </a:solidFill>
            </a:endParaRPr>
          </a:p>
        </p:txBody>
      </p:sp>
      <p:sp>
        <p:nvSpPr>
          <p:cNvPr id="6" name="מציין מיקום של מספר שקופית 5"/>
          <p:cNvSpPr>
            <a:spLocks noGrp="1"/>
          </p:cNvSpPr>
          <p:nvPr>
            <p:ph type="sldNum" sz="quarter" idx="12"/>
          </p:nvPr>
        </p:nvSpPr>
        <p:spPr/>
        <p:txBody>
          <a:bodyPr/>
          <a:lstStyle/>
          <a:p>
            <a:fld id="{F8AFF220-52E7-481C-9183-B084A850DE92}" type="slidenum">
              <a:rPr lang="he-IL" smtClean="0">
                <a:solidFill>
                  <a:prstClr val="black">
                    <a:tint val="75000"/>
                  </a:prstClr>
                </a:solidFill>
              </a:rPr>
              <a:t>‹#›</a:t>
            </a:fld>
            <a:endParaRPr lang="he-IL">
              <a:solidFill>
                <a:prstClr val="black">
                  <a:tint val="75000"/>
                </a:prstClr>
              </a:solidFill>
            </a:endParaRPr>
          </a:p>
        </p:txBody>
      </p:sp>
    </p:spTree>
    <p:extLst>
      <p:ext uri="{BB962C8B-B14F-4D97-AF65-F5344CB8AC3E}">
        <p14:creationId xmlns:p14="http://schemas.microsoft.com/office/powerpoint/2010/main" val="2439391156"/>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p:cNvSpPr>
            <a:spLocks noGrp="1"/>
          </p:cNvSpPr>
          <p:nvPr>
            <p:ph type="title" orient="vert"/>
          </p:nvPr>
        </p:nvSpPr>
        <p:spPr>
          <a:xfrm>
            <a:off x="6629400" y="274638"/>
            <a:ext cx="2057400" cy="5851525"/>
          </a:xfrm>
        </p:spPr>
        <p:txBody>
          <a:bodyPr vert="eaVert"/>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a:xfrm>
            <a:off x="457200" y="274638"/>
            <a:ext cx="6019800" cy="5851525"/>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597C1799-D6AC-4E62-AC21-BBDC9E4DE503}" type="datetimeFigureOut">
              <a:rPr lang="he-IL" smtClean="0">
                <a:solidFill>
                  <a:prstClr val="black">
                    <a:tint val="75000"/>
                  </a:prstClr>
                </a:solidFill>
              </a:rPr>
              <a:t>ז'/תמוז/תשפ"ג</a:t>
            </a:fld>
            <a:endParaRPr lang="he-IL">
              <a:solidFill>
                <a:prstClr val="black">
                  <a:tint val="75000"/>
                </a:prstClr>
              </a:solidFill>
            </a:endParaRPr>
          </a:p>
        </p:txBody>
      </p:sp>
      <p:sp>
        <p:nvSpPr>
          <p:cNvPr id="5" name="מציין מיקום של כותרת תחתונה 4"/>
          <p:cNvSpPr>
            <a:spLocks noGrp="1"/>
          </p:cNvSpPr>
          <p:nvPr>
            <p:ph type="ftr" sz="quarter" idx="11"/>
          </p:nvPr>
        </p:nvSpPr>
        <p:spPr/>
        <p:txBody>
          <a:bodyPr/>
          <a:lstStyle/>
          <a:p>
            <a:endParaRPr lang="he-IL">
              <a:solidFill>
                <a:prstClr val="black">
                  <a:tint val="75000"/>
                </a:prstClr>
              </a:solidFill>
            </a:endParaRPr>
          </a:p>
        </p:txBody>
      </p:sp>
      <p:sp>
        <p:nvSpPr>
          <p:cNvPr id="6" name="מציין מיקום של מספר שקופית 5"/>
          <p:cNvSpPr>
            <a:spLocks noGrp="1"/>
          </p:cNvSpPr>
          <p:nvPr>
            <p:ph type="sldNum" sz="quarter" idx="12"/>
          </p:nvPr>
        </p:nvSpPr>
        <p:spPr/>
        <p:txBody>
          <a:bodyPr/>
          <a:lstStyle/>
          <a:p>
            <a:fld id="{F8AFF220-52E7-481C-9183-B084A850DE92}" type="slidenum">
              <a:rPr lang="he-IL" smtClean="0">
                <a:solidFill>
                  <a:prstClr val="black">
                    <a:tint val="75000"/>
                  </a:prstClr>
                </a:solidFill>
              </a:rPr>
              <a:t>‹#›</a:t>
            </a:fld>
            <a:endParaRPr lang="he-IL">
              <a:solidFill>
                <a:prstClr val="black">
                  <a:tint val="75000"/>
                </a:prstClr>
              </a:solidFill>
            </a:endParaRPr>
          </a:p>
        </p:txBody>
      </p:sp>
    </p:spTree>
    <p:extLst>
      <p:ext uri="{BB962C8B-B14F-4D97-AF65-F5344CB8AC3E}">
        <p14:creationId xmlns:p14="http://schemas.microsoft.com/office/powerpoint/2010/main" val="2595734613"/>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tretch>
            <a:fillRect/>
          </a:stretch>
        </a:blipFill>
        <a:effectLst/>
      </p:bgPr>
    </p:bg>
    <p:spTree>
      <p:nvGrpSpPr>
        <p:cNvPr id="1" name=""/>
        <p:cNvGrpSpPr/>
        <p:nvPr/>
      </p:nvGrpSpPr>
      <p:grpSpPr>
        <a:xfrm>
          <a:off x="0" y="0"/>
          <a:ext cx="0" cy="0"/>
          <a:chOff x="0" y="0"/>
          <a:chExt cx="0" cy="0"/>
        </a:xfrm>
      </p:grpSpPr>
      <p:sp>
        <p:nvSpPr>
          <p:cNvPr id="2" name="מציין מיקום של כותרת 1"/>
          <p:cNvSpPr>
            <a:spLocks noGrp="1"/>
          </p:cNvSpPr>
          <p:nvPr>
            <p:ph type="title"/>
          </p:nvPr>
        </p:nvSpPr>
        <p:spPr>
          <a:xfrm>
            <a:off x="457200" y="274638"/>
            <a:ext cx="8229600" cy="1143000"/>
          </a:xfrm>
          <a:prstGeom prst="rect">
            <a:avLst/>
          </a:prstGeom>
        </p:spPr>
        <p:txBody>
          <a:bodyPr vert="horz" lIns="91440" tIns="45720" rIns="91440" bIns="45720" rtlCol="1" anchor="ctr">
            <a:normAutofit/>
          </a:bodyPr>
          <a:lstStyle/>
          <a:p>
            <a:r>
              <a:rPr lang="he-IL"/>
              <a:t>לחץ כדי לערוך סגנון כותרת של תבנית בסיס</a:t>
            </a:r>
          </a:p>
        </p:txBody>
      </p:sp>
      <p:sp>
        <p:nvSpPr>
          <p:cNvPr id="3" name="מציין מיקום טקסט 2"/>
          <p:cNvSpPr>
            <a:spLocks noGrp="1"/>
          </p:cNvSpPr>
          <p:nvPr>
            <p:ph type="body" idx="1"/>
          </p:nvPr>
        </p:nvSpPr>
        <p:spPr>
          <a:xfrm>
            <a:off x="457200" y="1600200"/>
            <a:ext cx="8229600" cy="4525963"/>
          </a:xfrm>
          <a:prstGeom prst="rect">
            <a:avLst/>
          </a:prstGeom>
        </p:spPr>
        <p:txBody>
          <a:bodyPr vert="horz" lIns="91440" tIns="45720" rIns="91440" bIns="45720" rtlCol="1">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2"/>
          </p:nvPr>
        </p:nvSpPr>
        <p:spPr>
          <a:xfrm>
            <a:off x="6553200" y="6356350"/>
            <a:ext cx="21336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pPr fontAlgn="auto">
              <a:spcBef>
                <a:spcPct val="0"/>
              </a:spcBef>
              <a:spcAft>
                <a:spcPct val="0"/>
              </a:spcAft>
            </a:pPr>
            <a:fld id="{597C1799-D6AC-4E62-AC21-BBDC9E4DE503}" type="datetimeFigureOut">
              <a:rPr lang="he-IL" smtClean="0">
                <a:solidFill>
                  <a:prstClr val="black">
                    <a:tint val="75000"/>
                  </a:prstClr>
                </a:solidFill>
                <a:latin typeface="Calibri"/>
                <a:cs typeface="Arial"/>
              </a:rPr>
              <a:pPr fontAlgn="auto">
                <a:spcBef>
                  <a:spcPct val="0"/>
                </a:spcBef>
                <a:spcAft>
                  <a:spcPct val="0"/>
                </a:spcAft>
              </a:pPr>
              <a:t>ז'/תמוז/תשפ"ג</a:t>
            </a:fld>
            <a:endParaRPr lang="he-IL">
              <a:solidFill>
                <a:prstClr val="black">
                  <a:tint val="75000"/>
                </a:prstClr>
              </a:solidFill>
              <a:latin typeface="Calibri"/>
              <a:cs typeface="Arial"/>
            </a:endParaRPr>
          </a:p>
        </p:txBody>
      </p:sp>
      <p:sp>
        <p:nvSpPr>
          <p:cNvPr id="5" name="מציין מיקום של כותרת תחתונה 4"/>
          <p:cNvSpPr>
            <a:spLocks noGrp="1"/>
          </p:cNvSpPr>
          <p:nvPr>
            <p:ph type="ftr" sz="quarter" idx="3"/>
          </p:nvPr>
        </p:nvSpPr>
        <p:spPr>
          <a:xfrm>
            <a:off x="3124200" y="6356350"/>
            <a:ext cx="28956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pPr fontAlgn="auto">
              <a:spcBef>
                <a:spcPct val="0"/>
              </a:spcBef>
              <a:spcAft>
                <a:spcPct val="0"/>
              </a:spcAft>
            </a:pPr>
            <a:endParaRPr lang="he-IL">
              <a:solidFill>
                <a:prstClr val="black">
                  <a:tint val="75000"/>
                </a:prstClr>
              </a:solidFill>
              <a:latin typeface="Calibri"/>
              <a:cs typeface="Arial"/>
            </a:endParaRPr>
          </a:p>
        </p:txBody>
      </p:sp>
      <p:sp>
        <p:nvSpPr>
          <p:cNvPr id="6" name="מציין מיקום של מספר שקופית 5"/>
          <p:cNvSpPr>
            <a:spLocks noGrp="1"/>
          </p:cNvSpPr>
          <p:nvPr>
            <p:ph type="sldNum" sz="quarter" idx="4"/>
          </p:nvPr>
        </p:nvSpPr>
        <p:spPr>
          <a:xfrm>
            <a:off x="457200" y="6356350"/>
            <a:ext cx="21336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pPr fontAlgn="auto">
              <a:spcBef>
                <a:spcPct val="0"/>
              </a:spcBef>
              <a:spcAft>
                <a:spcPct val="0"/>
              </a:spcAft>
            </a:pPr>
            <a:fld id="{F8AFF220-52E7-481C-9183-B084A850DE92}" type="slidenum">
              <a:rPr lang="he-IL" smtClean="0">
                <a:solidFill>
                  <a:prstClr val="black">
                    <a:tint val="75000"/>
                  </a:prstClr>
                </a:solidFill>
                <a:latin typeface="Calibri"/>
                <a:cs typeface="Arial"/>
              </a:rPr>
              <a:pPr fontAlgn="auto">
                <a:spcBef>
                  <a:spcPct val="0"/>
                </a:spcBef>
                <a:spcAft>
                  <a:spcPct val="0"/>
                </a:spcAft>
              </a:pPr>
              <a:t>‹#›</a:t>
            </a:fld>
            <a:endParaRPr lang="he-IL">
              <a:solidFill>
                <a:prstClr val="black">
                  <a:tint val="75000"/>
                </a:prstClr>
              </a:solidFill>
              <a:latin typeface="Calibri"/>
              <a:cs typeface="Arial"/>
            </a:endParaRPr>
          </a:p>
        </p:txBody>
      </p:sp>
    </p:spTree>
    <p:extLst>
      <p:ext uri="{BB962C8B-B14F-4D97-AF65-F5344CB8AC3E}">
        <p14:creationId xmlns:p14="http://schemas.microsoft.com/office/powerpoint/2010/main" val="2510365126"/>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Lst>
  <p:transition/>
  <p:txStyles>
    <p:titleStyle>
      <a:lvl1pPr algn="ctr" defTabSz="914400" rtl="1" eaLnBrk="1" latinLnBrk="0" hangingPunct="1">
        <a:spcBef>
          <a:spcPct val="0"/>
        </a:spcBef>
        <a:buNone/>
        <a:defRPr sz="4400" kern="1200">
          <a:solidFill>
            <a:schemeClr val="tx1"/>
          </a:solidFill>
          <a:latin typeface="+mj-lt"/>
          <a:ea typeface="+mj-ea"/>
          <a:cs typeface="+mj-cs"/>
        </a:defRPr>
      </a:lvl1pPr>
    </p:titleStyle>
    <p:bodyStyle>
      <a:lvl1pPr marL="342900" indent="-342900" algn="r" defTabSz="914400" rtl="1"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r" defTabSz="914400" rtl="1"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r" defTabSz="914400" rtl="1"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www.iaea.org/resources/nucleus-information-resources" TargetMode="External"/><Relationship Id="rId2" Type="http://schemas.openxmlformats.org/officeDocument/2006/relationships/image" Target="../media/image18.png"/><Relationship Id="rId1" Type="http://schemas.openxmlformats.org/officeDocument/2006/relationships/slideLayout" Target="../slideLayouts/slideLayout4.xml"/><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image" Target="../media/image31.png"/><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3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chart" Target="../charts/chart1.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40.gif"/><Relationship Id="rId2" Type="http://schemas.openxmlformats.org/officeDocument/2006/relationships/image" Target="../media/image39.gi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כותרת 1"/>
          <p:cNvSpPr>
            <a:spLocks noGrp="1"/>
          </p:cNvSpPr>
          <p:nvPr>
            <p:ph type="ctrTitle"/>
          </p:nvPr>
        </p:nvSpPr>
        <p:spPr>
          <a:xfrm>
            <a:off x="685800" y="1433513"/>
            <a:ext cx="7772400" cy="1470025"/>
          </a:xfrm>
        </p:spPr>
        <p:txBody>
          <a:bodyPr>
            <a:normAutofit fontScale="90000"/>
          </a:bodyPr>
          <a:lstStyle/>
          <a:p>
            <a:r>
              <a:rPr lang="he-IL" altLang="en-US"/>
              <a:t>הגנת המטופל ברדיותרפיה – ניהול סיכונים</a:t>
            </a:r>
            <a:br>
              <a:rPr lang="he-IL" altLang="en-US"/>
            </a:br>
            <a:endParaRPr lang="he-IL" altLang="en-US"/>
          </a:p>
        </p:txBody>
      </p:sp>
      <p:sp>
        <p:nvSpPr>
          <p:cNvPr id="3" name="כותרת משנה 2"/>
          <p:cNvSpPr>
            <a:spLocks noGrp="1"/>
          </p:cNvSpPr>
          <p:nvPr>
            <p:ph type="subTitle" idx="1"/>
          </p:nvPr>
        </p:nvSpPr>
        <p:spPr>
          <a:xfrm>
            <a:off x="1371600" y="3189288"/>
            <a:ext cx="6400800" cy="1752600"/>
          </a:xfrm>
        </p:spPr>
        <p:txBody>
          <a:bodyPr rtlCol="1">
            <a:normAutofit/>
          </a:bodyPr>
          <a:lstStyle/>
          <a:p>
            <a:pPr fontAlgn="auto">
              <a:spcAft>
                <a:spcPct val="0"/>
              </a:spcAft>
              <a:buFont typeface="Arial" pitchFamily="34" charset="0"/>
              <a:buNone/>
              <a:defRPr/>
            </a:pPr>
            <a:r>
              <a:rPr lang="he-IL" dirty="0"/>
              <a:t>רן בן חור</a:t>
            </a:r>
          </a:p>
          <a:p>
            <a:pPr fontAlgn="auto">
              <a:spcAft>
                <a:spcPct val="0"/>
              </a:spcAft>
              <a:buFont typeface="Arial" pitchFamily="34" charset="0"/>
              <a:buNone/>
              <a:defRPr/>
            </a:pPr>
            <a:r>
              <a:rPr lang="he-IL" dirty="0" smtClean="0"/>
              <a:t>יוני </a:t>
            </a:r>
            <a:r>
              <a:rPr lang="he-IL" dirty="0"/>
              <a:t>2023</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F9CA2-AE74-1642-03E1-0A1E0AD59458}"/>
              </a:ext>
            </a:extLst>
          </p:cNvPr>
          <p:cNvSpPr>
            <a:spLocks noGrp="1"/>
          </p:cNvSpPr>
          <p:nvPr>
            <p:ph type="title"/>
          </p:nvPr>
        </p:nvSpPr>
        <p:spPr/>
        <p:txBody>
          <a:bodyPr/>
          <a:lstStyle/>
          <a:p>
            <a:r>
              <a:rPr lang="he-IL" err="1"/>
              <a:t>מינוחים - ניהול סיכונים</a:t>
            </a:r>
            <a:endParaRPr lang="LID4096"/>
          </a:p>
        </p:txBody>
      </p:sp>
      <p:sp>
        <p:nvSpPr>
          <p:cNvPr id="3" name="Content Placeholder 2">
            <a:extLst>
              <a:ext uri="{FF2B5EF4-FFF2-40B4-BE49-F238E27FC236}">
                <a16:creationId xmlns:a16="http://schemas.microsoft.com/office/drawing/2014/main" id="{1F993EC9-E256-8725-84C6-B222520F3D32}"/>
              </a:ext>
            </a:extLst>
          </p:cNvPr>
          <p:cNvSpPr>
            <a:spLocks noGrp="1"/>
          </p:cNvSpPr>
          <p:nvPr>
            <p:ph idx="1"/>
          </p:nvPr>
        </p:nvSpPr>
        <p:spPr>
          <a:xfrm>
            <a:off x="518864" y="1744216"/>
            <a:ext cx="8229600" cy="4637112"/>
          </a:xfrm>
        </p:spPr>
        <p:txBody>
          <a:bodyPr>
            <a:normAutofit lnSpcReduction="10000"/>
          </a:bodyPr>
          <a:lstStyle/>
          <a:p>
            <a:r>
              <a:rPr lang="he-IL" sz="1600" b="1">
                <a:effectLst>
                  <a:outerShdw blurRad="38100" dist="38100" dir="2700000" algn="tl">
                    <a:srgbClr val="000000">
                      <a:alpha val="43137"/>
                    </a:srgbClr>
                  </a:outerShdw>
                </a:effectLst>
              </a:rPr>
              <a:t>ניהול איכות </a:t>
            </a:r>
            <a:r>
              <a:rPr lang="en-US" sz="1600" b="1">
                <a:effectLst>
                  <a:outerShdw blurRad="38100" dist="38100" dir="2700000" algn="tl">
                    <a:srgbClr val="000000">
                      <a:alpha val="43137"/>
                    </a:srgbClr>
                  </a:outerShdw>
                </a:effectLst>
              </a:rPr>
              <a:t>(QM)</a:t>
            </a:r>
            <a:r>
              <a:rPr lang="he-IL" sz="1600" b="1">
                <a:effectLst>
                  <a:outerShdw blurRad="38100" dist="38100" dir="2700000" algn="tl">
                    <a:srgbClr val="000000">
                      <a:alpha val="43137"/>
                    </a:srgbClr>
                  </a:outerShdw>
                </a:effectLst>
              </a:rPr>
              <a:t> </a:t>
            </a:r>
            <a:r>
              <a:rPr lang="he-IL" sz="1600"/>
              <a:t>הוא קיצור של </a:t>
            </a:r>
            <a:r>
              <a:rPr lang="en-US" sz="1600" b="1">
                <a:effectLst>
                  <a:outerShdw blurRad="38100" dist="38100" dir="2700000" algn="tl">
                    <a:srgbClr val="000000">
                      <a:alpha val="43137"/>
                    </a:srgbClr>
                  </a:outerShdw>
                </a:effectLst>
              </a:rPr>
              <a:t>Quality Management</a:t>
            </a:r>
            <a:r>
              <a:rPr lang="he-IL" sz="1600" b="1">
                <a:effectLst>
                  <a:outerShdw blurRad="38100" dist="38100" dir="2700000" algn="tl">
                    <a:srgbClr val="000000">
                      <a:alpha val="43137"/>
                    </a:srgbClr>
                  </a:outerShdw>
                </a:effectLst>
              </a:rPr>
              <a:t> </a:t>
            </a:r>
          </a:p>
          <a:p>
            <a:pPr lvl="1"/>
            <a:r>
              <a:rPr lang="he-IL" sz="1400"/>
              <a:t>המתייחס לשיטות אשר מטרתם לשפר את איכות התהליכים והמוצרים בארגון. </a:t>
            </a:r>
          </a:p>
          <a:p>
            <a:pPr lvl="1"/>
            <a:r>
              <a:rPr lang="he-IL" sz="1400"/>
              <a:t>מניהול האיכות נעשה שימוש בכלל תכנון </a:t>
            </a:r>
            <a:r>
              <a:rPr lang="en-US" sz="1400"/>
              <a:t>(Plan)</a:t>
            </a:r>
            <a:r>
              <a:rPr lang="he-IL" sz="1400"/>
              <a:t>, ביצוע </a:t>
            </a:r>
            <a:r>
              <a:rPr lang="en-US" sz="1400"/>
              <a:t>(Do)</a:t>
            </a:r>
            <a:r>
              <a:rPr lang="he-IL" sz="1400"/>
              <a:t>, בקרה </a:t>
            </a:r>
            <a:r>
              <a:rPr lang="en-US" sz="1400"/>
              <a:t>(Check)</a:t>
            </a:r>
            <a:r>
              <a:rPr lang="he-IL" sz="1400"/>
              <a:t> ושיפור התהליכים והמוצרים תוך התחשבות בדרישות הלקוחות ובתקנים התקפים </a:t>
            </a:r>
            <a:r>
              <a:rPr lang="en-US" sz="1400"/>
              <a:t>(Act)</a:t>
            </a:r>
            <a:r>
              <a:rPr lang="he-IL" sz="1400"/>
              <a:t>; </a:t>
            </a:r>
            <a:r>
              <a:rPr lang="en-GB" sz="1400" b="0" i="0">
                <a:solidFill>
                  <a:srgbClr val="111111"/>
                </a:solidFill>
                <a:effectLst/>
                <a:latin typeface="Roboto" panose="02000000000000000000" pitchFamily="2" charset="0"/>
              </a:rPr>
              <a:t>PDCA (plan–do–check–act</a:t>
            </a:r>
            <a:r>
              <a:rPr lang="en-US" sz="1400" b="0" i="0">
                <a:solidFill>
                  <a:srgbClr val="111111"/>
                </a:solidFill>
                <a:effectLst/>
                <a:latin typeface="Roboto" panose="02000000000000000000" pitchFamily="2" charset="0"/>
              </a:rPr>
              <a:t>)</a:t>
            </a:r>
            <a:endParaRPr lang="he-IL" sz="1400" b="0" i="0">
              <a:solidFill>
                <a:srgbClr val="111111"/>
              </a:solidFill>
              <a:effectLst/>
              <a:latin typeface="Roboto" panose="02000000000000000000" pitchFamily="2" charset="0"/>
            </a:endParaRPr>
          </a:p>
          <a:p>
            <a:pPr lvl="1"/>
            <a:r>
              <a:rPr lang="en-US" sz="1400">
                <a:solidFill>
                  <a:srgbClr val="111111"/>
                </a:solidFill>
                <a:latin typeface="Roboto" panose="02000000000000000000" pitchFamily="2" charset="0"/>
              </a:rPr>
              <a:t>QM</a:t>
            </a:r>
            <a:r>
              <a:rPr lang="he-IL" sz="1400">
                <a:solidFill>
                  <a:srgbClr val="111111"/>
                </a:solidFill>
                <a:latin typeface="Roboto" panose="02000000000000000000" pitchFamily="2" charset="0"/>
              </a:rPr>
              <a:t> מתייחס לניהול השירות הכולל של הארגון </a:t>
            </a:r>
            <a:r>
              <a:rPr lang="en-US" sz="1400">
                <a:solidFill>
                  <a:srgbClr val="111111"/>
                </a:solidFill>
                <a:latin typeface="Roboto" panose="02000000000000000000" pitchFamily="2" charset="0"/>
              </a:rPr>
              <a:t>PDCA</a:t>
            </a:r>
            <a:r>
              <a:rPr lang="he-IL" sz="1400">
                <a:solidFill>
                  <a:srgbClr val="111111"/>
                </a:solidFill>
                <a:latin typeface="Roboto" panose="02000000000000000000" pitchFamily="2" charset="0"/>
              </a:rPr>
              <a:t> ומאפשר שיפור מתמיד של הארגון </a:t>
            </a:r>
            <a:r>
              <a:rPr lang="en-US" sz="1400">
                <a:solidFill>
                  <a:srgbClr val="111111"/>
                </a:solidFill>
                <a:latin typeface="Roboto" panose="02000000000000000000" pitchFamily="2" charset="0"/>
              </a:rPr>
              <a:t>Continuous Improvement</a:t>
            </a:r>
            <a:r>
              <a:rPr lang="he-IL" sz="1400">
                <a:solidFill>
                  <a:srgbClr val="111111"/>
                </a:solidFill>
                <a:latin typeface="Roboto" panose="02000000000000000000" pitchFamily="2" charset="0"/>
              </a:rPr>
              <a:t>.</a:t>
            </a:r>
            <a:endParaRPr lang="he-IL" sz="1400"/>
          </a:p>
          <a:p>
            <a:r>
              <a:rPr lang="he-IL" sz="1600" b="1">
                <a:effectLst>
                  <a:outerShdw blurRad="38100" dist="38100" dir="2700000" algn="tl">
                    <a:srgbClr val="000000">
                      <a:alpha val="43137"/>
                    </a:srgbClr>
                  </a:outerShdw>
                </a:effectLst>
              </a:rPr>
              <a:t>אבטחת איכות </a:t>
            </a:r>
            <a:r>
              <a:rPr lang="en-US" sz="1600" b="1">
                <a:effectLst>
                  <a:outerShdw blurRad="38100" dist="38100" dir="2700000" algn="tl">
                    <a:srgbClr val="000000">
                      <a:alpha val="43137"/>
                    </a:srgbClr>
                  </a:outerShdw>
                </a:effectLst>
              </a:rPr>
              <a:t>(QA)</a:t>
            </a:r>
            <a:r>
              <a:rPr lang="he-IL" sz="1600"/>
              <a:t> הוא קיצור של </a:t>
            </a:r>
            <a:r>
              <a:rPr lang="en-US" sz="1600" b="1">
                <a:effectLst>
                  <a:outerShdw blurRad="38100" dist="38100" dir="2700000" algn="tl">
                    <a:srgbClr val="000000">
                      <a:alpha val="43137"/>
                    </a:srgbClr>
                  </a:outerShdw>
                </a:effectLst>
              </a:rPr>
              <a:t>Quality Assurance</a:t>
            </a:r>
            <a:r>
              <a:rPr lang="he-IL" sz="1600"/>
              <a:t> </a:t>
            </a:r>
          </a:p>
          <a:p>
            <a:pPr lvl="1"/>
            <a:r>
              <a:rPr lang="he-IL" sz="1400"/>
              <a:t>מתמקד בסדרת פעולות, תהליכים ותרחישים שבאים להבטיח את איכות המוצר או השירות של ארגון. מטרת אבטחת האיכות היא להבטיח שכלל התהליכים מבוצעים באופן תקין ומתאימים לתקנים התקפים ולדרישות הלקוחות. במהלך אבטחת האיכות, מתבצעות בדיקות, ניתוחים ובקרות תוך התחשבות במדדים וסטנדרטים.</a:t>
            </a:r>
          </a:p>
          <a:p>
            <a:r>
              <a:rPr lang="he-IL" sz="1600" b="1">
                <a:effectLst>
                  <a:outerShdw blurRad="38100" dist="38100" dir="2700000" algn="tl">
                    <a:srgbClr val="000000">
                      <a:alpha val="43137"/>
                    </a:srgbClr>
                  </a:outerShdw>
                </a:effectLst>
              </a:rPr>
              <a:t>בקרת איכות </a:t>
            </a:r>
            <a:r>
              <a:rPr lang="en-US" sz="1600" b="1">
                <a:effectLst>
                  <a:outerShdw blurRad="38100" dist="38100" dir="2700000" algn="tl">
                    <a:srgbClr val="000000">
                      <a:alpha val="43137"/>
                    </a:srgbClr>
                  </a:outerShdw>
                </a:effectLst>
              </a:rPr>
              <a:t>(QC)</a:t>
            </a:r>
            <a:r>
              <a:rPr lang="he-IL" sz="1600"/>
              <a:t> הוא קיצור של </a:t>
            </a:r>
            <a:r>
              <a:rPr lang="en-US" sz="1600" b="1">
                <a:effectLst>
                  <a:outerShdw blurRad="38100" dist="38100" dir="2700000" algn="tl">
                    <a:srgbClr val="000000">
                      <a:alpha val="43137"/>
                    </a:srgbClr>
                  </a:outerShdw>
                </a:effectLst>
              </a:rPr>
              <a:t>Quality Control</a:t>
            </a:r>
            <a:r>
              <a:rPr lang="he-IL" sz="1600" b="1">
                <a:effectLst>
                  <a:outerShdw blurRad="38100" dist="38100" dir="2700000" algn="tl">
                    <a:srgbClr val="000000">
                      <a:alpha val="43137"/>
                    </a:srgbClr>
                  </a:outerShdw>
                </a:effectLst>
              </a:rPr>
              <a:t> </a:t>
            </a:r>
            <a:endParaRPr lang="en-US" sz="1600" b="1">
              <a:effectLst>
                <a:outerShdw blurRad="38100" dist="38100" dir="2700000" algn="tl">
                  <a:srgbClr val="000000">
                    <a:alpha val="43137"/>
                  </a:srgbClr>
                </a:outerShdw>
              </a:effectLst>
            </a:endParaRPr>
          </a:p>
          <a:p>
            <a:pPr lvl="1"/>
            <a:r>
              <a:rPr lang="he-IL" sz="1400"/>
              <a:t>מתמקד בתהליכים ופעולות שבאופן ישיר מתבצעות על מנת לבדוק את איכות המוצר או התהליך בסטנדרטים ודרישות האיכות המוגדרות. </a:t>
            </a:r>
          </a:p>
          <a:p>
            <a:pPr lvl="1"/>
            <a:r>
              <a:rPr lang="he-IL" sz="1400"/>
              <a:t>בבקרת האיכות, מתבצעות בדיקות, מדידות ובחינות במטרה לאמת ולוודא את התאימות של המוצר או התהליך לתקנים התקפים ולדרישות האיכות. </a:t>
            </a:r>
          </a:p>
          <a:p>
            <a:r>
              <a:rPr lang="en-US" sz="1600" b="1">
                <a:effectLst>
                  <a:outerShdw blurRad="38100" dist="38100" dir="2700000" algn="tl">
                    <a:srgbClr val="000000">
                      <a:alpha val="43137"/>
                    </a:srgbClr>
                  </a:outerShdw>
                </a:effectLst>
              </a:rPr>
              <a:t>QI</a:t>
            </a:r>
            <a:r>
              <a:rPr lang="he-IL" sz="1600"/>
              <a:t> הוא קיצור של </a:t>
            </a:r>
            <a:r>
              <a:rPr lang="en-US" sz="1600" b="1">
                <a:effectLst>
                  <a:outerShdw blurRad="38100" dist="38100" dir="2700000" algn="tl">
                    <a:srgbClr val="000000">
                      <a:alpha val="43137"/>
                    </a:srgbClr>
                  </a:outerShdw>
                </a:effectLst>
              </a:rPr>
              <a:t>Quality Improvement</a:t>
            </a:r>
            <a:r>
              <a:rPr lang="he-IL" sz="1600" b="1">
                <a:effectLst>
                  <a:outerShdw blurRad="38100" dist="38100" dir="2700000" algn="tl">
                    <a:srgbClr val="000000">
                      <a:alpha val="43137"/>
                    </a:srgbClr>
                  </a:outerShdw>
                </a:effectLst>
              </a:rPr>
              <a:t> </a:t>
            </a:r>
          </a:p>
          <a:p>
            <a:pPr lvl="1"/>
            <a:r>
              <a:rPr lang="he-IL" sz="1400"/>
              <a:t>מתמקד בניתוח מדויק של ביצועי המעשה ובמאמצים לשפר את הביצועים.</a:t>
            </a:r>
            <a:endParaRPr lang="en-US" sz="1400"/>
          </a:p>
          <a:p>
            <a:pPr lvl="1"/>
            <a:r>
              <a:rPr lang="he-IL" sz="1400"/>
              <a:t>השיפור מבוסס על גישה מערכתית לשיפור הביצועים. על ידי בחינת המערכות והתהליכים ועל קביעת השיפורים הנדרשים באזורי הפעילות. </a:t>
            </a:r>
            <a:endParaRPr lang="en-US" sz="1400"/>
          </a:p>
          <a:p>
            <a:pPr lvl="1"/>
            <a:r>
              <a:rPr lang="he-IL" sz="1400"/>
              <a:t>מאמצי השפעה מוצלחים מתבססים על איסוף נתונים רציני וניתוח שלהם.</a:t>
            </a:r>
          </a:p>
        </p:txBody>
      </p:sp>
      <p:pic>
        <p:nvPicPr>
          <p:cNvPr id="1026" name="Picture 2" descr="תוצאת תמונה עבור PDCA. מידות: 175 על 185. מקור :uvafinance.blogspot.com ">
            <a:extLst>
              <a:ext uri="{FF2B5EF4-FFF2-40B4-BE49-F238E27FC236}">
                <a16:creationId xmlns:a16="http://schemas.microsoft.com/office/drawing/2014/main" id="{90306172-4793-E0E2-CA9F-A08A2F466B6F}"/>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39552" y="188640"/>
            <a:ext cx="1472641" cy="15567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97262892"/>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89EF2652-1512-D712-F53B-A007BA98043F}"/>
              </a:ext>
            </a:extLst>
          </p:cNvPr>
          <p:cNvSpPr>
            <a:spLocks noGrp="1"/>
          </p:cNvSpPr>
          <p:nvPr>
            <p:ph type="title"/>
          </p:nvPr>
        </p:nvSpPr>
        <p:spPr/>
        <p:txBody>
          <a:bodyPr/>
          <a:lstStyle/>
          <a:p>
            <a:r>
              <a:rPr lang="he-IL"/>
              <a:t>סביבת העבודה</a:t>
            </a:r>
            <a:endParaRPr lang="en-IL"/>
          </a:p>
        </p:txBody>
      </p:sp>
      <p:sp>
        <p:nvSpPr>
          <p:cNvPr id="3" name="מציין מיקום תוכן 2">
            <a:extLst>
              <a:ext uri="{FF2B5EF4-FFF2-40B4-BE49-F238E27FC236}">
                <a16:creationId xmlns:a16="http://schemas.microsoft.com/office/drawing/2014/main" id="{C5B2E1DA-4CA9-F3BF-BBFE-04634F0448B4}"/>
              </a:ext>
            </a:extLst>
          </p:cNvPr>
          <p:cNvSpPr>
            <a:spLocks noGrp="1"/>
          </p:cNvSpPr>
          <p:nvPr>
            <p:ph idx="1"/>
          </p:nvPr>
        </p:nvSpPr>
        <p:spPr>
          <a:xfrm>
            <a:off x="107504" y="1484784"/>
            <a:ext cx="8928992" cy="2722411"/>
          </a:xfrm>
        </p:spPr>
        <p:txBody>
          <a:bodyPr>
            <a:normAutofit fontScale="85000" lnSpcReduction="20000"/>
          </a:bodyPr>
          <a:lstStyle/>
          <a:p>
            <a:r>
              <a:rPr lang="he-IL"/>
              <a:t>סביבת העבודה בארגון קשורה באופן ישיר לתרבות הארגונית שבה אנו פועלים.</a:t>
            </a:r>
          </a:p>
          <a:p>
            <a:r>
              <a:rPr lang="he-IL"/>
              <a:t>על מנת לשפר את </a:t>
            </a:r>
            <a:r>
              <a:rPr lang="he-IL" u="sng"/>
              <a:t>סביבת העבודה</a:t>
            </a:r>
            <a:r>
              <a:rPr lang="he-IL"/>
              <a:t>, יש לבצע שינוים </a:t>
            </a:r>
            <a:r>
              <a:rPr lang="he-IL" u="sng"/>
              <a:t>בתרבות העבודה</a:t>
            </a:r>
            <a:r>
              <a:rPr lang="he-IL"/>
              <a:t> של הצוות. כלומר, בהרגלים שלנו בחוקים והתקנות לפיהם אנו פועלים.</a:t>
            </a:r>
          </a:p>
          <a:p>
            <a:r>
              <a:rPr lang="he-IL"/>
              <a:t>מטרת השינויים היא </a:t>
            </a:r>
            <a:r>
              <a:rPr lang="he-IL" sz="3300" b="1"/>
              <a:t>לייצר סביבת עבודה בטוחה </a:t>
            </a:r>
            <a:r>
              <a:rPr lang="he-IL"/>
              <a:t>הן לצוות והן למטופלים.</a:t>
            </a:r>
            <a:endParaRPr lang="en-IL"/>
          </a:p>
        </p:txBody>
      </p:sp>
      <p:pic>
        <p:nvPicPr>
          <p:cNvPr id="2050" name="Picture 2" descr="סביבת עבודה בטוחה - ליאור בטיחות">
            <a:extLst>
              <a:ext uri="{FF2B5EF4-FFF2-40B4-BE49-F238E27FC236}">
                <a16:creationId xmlns:a16="http://schemas.microsoft.com/office/drawing/2014/main" id="{7B009BB0-7D7D-F1A3-0A39-9D86E6625DD6}"/>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809679" y="4494237"/>
            <a:ext cx="2619375" cy="1743075"/>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Unsafe acts Archives - The Casual Observer">
            <a:extLst>
              <a:ext uri="{FF2B5EF4-FFF2-40B4-BE49-F238E27FC236}">
                <a16:creationId xmlns:a16="http://schemas.microsoft.com/office/drawing/2014/main" id="{BFBB571C-8AA4-7164-2339-DEC67CF0CDB4}"/>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2843808" y="4494236"/>
            <a:ext cx="2619375" cy="1743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898343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dur="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p:stCondLst>
                              <p:cond delay="0"/>
                            </p:stCondLst>
                            <p:childTnLst>
                              <p:par>
                                <p:cTn id="9" presetID="1" presetClass="entr" presetSubtype="0" dur="1"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p:stCondLst>
                              <p:cond delay="0"/>
                            </p:stCondLst>
                            <p:childTnLst>
                              <p:par>
                                <p:cTn id="13" presetID="1" presetClass="entr" presetSubtype="0" dur="1"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par>
                          <p:cTn id="15" fill="hold" nodeType="afterGroup">
                            <p:stCondLst>
                              <p:cond delay="1"/>
                            </p:stCondLst>
                            <p:childTnLst>
                              <p:par>
                                <p:cTn id="16" presetID="22" presetClass="entr" presetSubtype="4" dur="1000" fill="hold" nodeType="afterEffect">
                                  <p:stCondLst>
                                    <p:cond delay="0"/>
                                  </p:stCondLst>
                                  <p:childTnLst>
                                    <p:set>
                                      <p:cBhvr>
                                        <p:cTn id="17" dur="1" fill="hold">
                                          <p:stCondLst>
                                            <p:cond delay="0"/>
                                          </p:stCondLst>
                                        </p:cTn>
                                        <p:tgtEl>
                                          <p:spTgt spid="2052"/>
                                        </p:tgtEl>
                                        <p:attrNameLst>
                                          <p:attrName>style.visibility</p:attrName>
                                        </p:attrNameLst>
                                      </p:cBhvr>
                                      <p:to>
                                        <p:strVal val="visible"/>
                                      </p:to>
                                    </p:set>
                                    <p:animEffect transition="in" filter="wipe(down)">
                                      <p:cBhvr>
                                        <p:cTn id="18" dur="1000"/>
                                        <p:tgtEl>
                                          <p:spTgt spid="2052"/>
                                        </p:tgtEl>
                                      </p:cBhvr>
                                    </p:animEffect>
                                  </p:childTnLst>
                                </p:cTn>
                              </p:par>
                            </p:childTnLst>
                          </p:cTn>
                        </p:par>
                        <p:par>
                          <p:cTn id="19" fill="hold" nodeType="afterGroup">
                            <p:stCondLst>
                              <p:cond delay="1001"/>
                            </p:stCondLst>
                            <p:childTnLst>
                              <p:par>
                                <p:cTn id="20" presetID="22" presetClass="entr" presetSubtype="4" dur="500" fill="hold" nodeType="afterEffect">
                                  <p:stCondLst>
                                    <p:cond delay="0"/>
                                  </p:stCondLst>
                                  <p:childTnLst>
                                    <p:set>
                                      <p:cBhvr>
                                        <p:cTn id="21" dur="1" fill="hold">
                                          <p:stCondLst>
                                            <p:cond delay="0"/>
                                          </p:stCondLst>
                                        </p:cTn>
                                        <p:tgtEl>
                                          <p:spTgt spid="2050"/>
                                        </p:tgtEl>
                                        <p:attrNameLst>
                                          <p:attrName>style.visibility</p:attrName>
                                        </p:attrNameLst>
                                      </p:cBhvr>
                                      <p:to>
                                        <p:strVal val="visible"/>
                                      </p:to>
                                    </p:set>
                                    <p:animEffect transition="in" filter="wipe(down)">
                                      <p:cBhvr>
                                        <p:cTn id="22" dur="500"/>
                                        <p:tgtEl>
                                          <p:spTgt spid="2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כותרת 3">
            <a:extLst>
              <a:ext uri="{FF2B5EF4-FFF2-40B4-BE49-F238E27FC236}">
                <a16:creationId xmlns:a16="http://schemas.microsoft.com/office/drawing/2014/main" id="{E3B0C9D8-AA39-C91B-DACD-4F5307E6611C}"/>
              </a:ext>
            </a:extLst>
          </p:cNvPr>
          <p:cNvSpPr txBox="1"/>
          <p:nvPr/>
        </p:nvSpPr>
        <p:spPr>
          <a:xfrm>
            <a:off x="457200" y="116632"/>
            <a:ext cx="8229600" cy="1143000"/>
          </a:xfrm>
          <a:prstGeom prst="rect">
            <a:avLst/>
          </a:prstGeom>
        </p:spPr>
        <p:txBody>
          <a:bodyPr vert="horz" lIns="91440" tIns="45720" rIns="91440" bIns="45720" rtlCol="1" anchor="ctr">
            <a:normAutofit/>
          </a:bodyPr>
          <a:lstStyle>
            <a:lvl1pPr algn="ctr" defTabSz="914400" rtl="1" eaLnBrk="1" latinLnBrk="0" hangingPunct="1">
              <a:spcBef>
                <a:spcPct val="0"/>
              </a:spcBef>
              <a:buNone/>
              <a:defRPr sz="4400" kern="1200">
                <a:solidFill>
                  <a:schemeClr val="tx1"/>
                </a:solidFill>
                <a:latin typeface="+mj-lt"/>
                <a:ea typeface="+mj-ea"/>
                <a:cs typeface="+mj-cs"/>
              </a:defRPr>
            </a:lvl1pPr>
          </a:lstStyle>
          <a:p>
            <a:pPr rtl="0" fontAlgn="auto">
              <a:spcAft>
                <a:spcPct val="0"/>
              </a:spcAft>
            </a:pPr>
            <a:r>
              <a:rPr lang="he-IL"/>
              <a:t>תרבות העבודה</a:t>
            </a:r>
          </a:p>
        </p:txBody>
      </p:sp>
      <p:pic>
        <p:nvPicPr>
          <p:cNvPr id="6" name="Picture 2">
            <a:extLst>
              <a:ext uri="{FF2B5EF4-FFF2-40B4-BE49-F238E27FC236}">
                <a16:creationId xmlns:a16="http://schemas.microsoft.com/office/drawing/2014/main" id="{D62ACF45-157E-2CF5-8EC3-595463638A29}"/>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286200" y="3589959"/>
            <a:ext cx="5400600" cy="31489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מציין מיקום תוכן 4">
            <a:extLst>
              <a:ext uri="{FF2B5EF4-FFF2-40B4-BE49-F238E27FC236}">
                <a16:creationId xmlns:a16="http://schemas.microsoft.com/office/drawing/2014/main" id="{211EC93D-5534-4924-9857-92E069B07E0E}"/>
              </a:ext>
            </a:extLst>
          </p:cNvPr>
          <p:cNvSpPr txBox="1"/>
          <p:nvPr/>
        </p:nvSpPr>
        <p:spPr>
          <a:xfrm>
            <a:off x="250801" y="1452422"/>
            <a:ext cx="8784976" cy="2160240"/>
          </a:xfrm>
          <a:prstGeom prst="rect">
            <a:avLst/>
          </a:prstGeom>
        </p:spPr>
        <p:txBody>
          <a:bodyPr vert="horz" lIns="91440" tIns="45720" rIns="91440" bIns="45720" rtlCol="1">
            <a:normAutofit fontScale="92500" lnSpcReduction="10000"/>
          </a:bodyPr>
          <a:lstStyle>
            <a:lvl1pPr marL="342900" indent="-342900" algn="r" defTabSz="914400" rtl="1"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r" defTabSz="914400" rtl="1"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r" defTabSz="914400" rtl="1"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r" fontAlgn="auto">
              <a:spcAft>
                <a:spcPct val="0"/>
              </a:spcAft>
            </a:pPr>
            <a:r>
              <a:rPr lang="he-IL" sz="1800" b="1">
                <a:effectLst>
                  <a:outerShdw blurRad="38100" dist="38100" dir="2700000" algn="tl">
                    <a:srgbClr val="000000">
                      <a:alpha val="43137"/>
                    </a:srgbClr>
                  </a:outerShdw>
                </a:effectLst>
              </a:rPr>
              <a:t>תרבות האשמה </a:t>
            </a:r>
            <a:r>
              <a:rPr lang="he-IL" sz="1800"/>
              <a:t>– היא תרבות בה מחפשים את האשם באת אירוע.</a:t>
            </a:r>
          </a:p>
          <a:p>
            <a:pPr algn="r" fontAlgn="auto">
              <a:spcAft>
                <a:spcPct val="0"/>
              </a:spcAft>
            </a:pPr>
            <a:r>
              <a:rPr lang="he-IL" sz="1800" b="1">
                <a:effectLst>
                  <a:outerShdw blurRad="38100" dist="38100" dir="2700000" algn="tl">
                    <a:srgbClr val="000000">
                      <a:alpha val="43137"/>
                    </a:srgbClr>
                  </a:outerShdw>
                </a:effectLst>
              </a:rPr>
              <a:t>תרבות אי-האשמה </a:t>
            </a:r>
            <a:r>
              <a:rPr lang="he-IL" sz="1800"/>
              <a:t>– היא תרבות בה גם אם התרחשו אירועים קשים, מנסים להסתיר את קיומם ולהמשיך כאילו לא קרה כלום.</a:t>
            </a:r>
          </a:p>
          <a:p>
            <a:pPr algn="r" fontAlgn="auto">
              <a:spcAft>
                <a:spcPct val="0"/>
              </a:spcAft>
            </a:pPr>
            <a:r>
              <a:rPr lang="he-IL" sz="1800" b="1">
                <a:effectLst>
                  <a:outerShdw blurRad="38100" dist="38100" dir="2700000" algn="tl">
                    <a:srgbClr val="000000">
                      <a:alpha val="43137"/>
                    </a:srgbClr>
                  </a:outerShdw>
                </a:effectLst>
              </a:rPr>
              <a:t>תרבות צודקת (</a:t>
            </a:r>
            <a:r>
              <a:rPr lang="en-US" sz="1800" b="1">
                <a:effectLst>
                  <a:outerShdw blurRad="38100" dist="38100" dir="2700000" algn="tl">
                    <a:srgbClr val="000000">
                      <a:alpha val="43137"/>
                    </a:srgbClr>
                  </a:outerShdw>
                </a:effectLst>
              </a:rPr>
              <a:t>Just Culture</a:t>
            </a:r>
            <a:r>
              <a:rPr lang="he-IL" sz="1800" b="1">
                <a:effectLst>
                  <a:outerShdw blurRad="38100" dist="38100" dir="2700000" algn="tl">
                    <a:srgbClr val="000000">
                      <a:alpha val="43137"/>
                    </a:srgbClr>
                  </a:outerShdw>
                </a:effectLst>
              </a:rPr>
              <a:t>)</a:t>
            </a:r>
            <a:r>
              <a:rPr lang="he-IL" sz="1800"/>
              <a:t> - היא תרבות עבודה בה מתחקרים אירועים ומנסים לבנות מודל המתאר את מהלך האירוע, באמצעות המודל מזהים את תחומי האחריות של כל אחד מהגורמים לאירוע בין אם מדובר באחריות מנהלית או אחריות אישית. מנסים למצוא את סיבות השורש אשר תרמו להתרחשות האירוע (לרוב יש יותר מאחד) ולפעול באמצעות החלת שינויים בתהליך העבודה על מנת לצמצם את חשיפת הצוות לסביבת עבודה שאינה בטוחה.</a:t>
            </a:r>
          </a:p>
        </p:txBody>
      </p:sp>
    </p:spTree>
    <p:extLst>
      <p:ext uri="{BB962C8B-B14F-4D97-AF65-F5344CB8AC3E}">
        <p14:creationId xmlns:p14="http://schemas.microsoft.com/office/powerpoint/2010/main" val="2518377021"/>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כותרת 3">
            <a:extLst>
              <a:ext uri="{FF2B5EF4-FFF2-40B4-BE49-F238E27FC236}">
                <a16:creationId xmlns:a16="http://schemas.microsoft.com/office/drawing/2014/main" id="{E3B0C9D8-AA39-C91B-DACD-4F5307E6611C}"/>
              </a:ext>
            </a:extLst>
          </p:cNvPr>
          <p:cNvSpPr txBox="1"/>
          <p:nvPr/>
        </p:nvSpPr>
        <p:spPr>
          <a:xfrm>
            <a:off x="457200" y="116632"/>
            <a:ext cx="8229600" cy="1143000"/>
          </a:xfrm>
          <a:prstGeom prst="rect">
            <a:avLst/>
          </a:prstGeom>
        </p:spPr>
        <p:txBody>
          <a:bodyPr vert="horz" lIns="91440" tIns="45720" rIns="91440" bIns="45720" rtlCol="1" anchor="ctr">
            <a:normAutofit/>
          </a:bodyPr>
          <a:lstStyle>
            <a:lvl1pPr algn="ctr" defTabSz="914400" rtl="1" eaLnBrk="1" latinLnBrk="0" hangingPunct="1">
              <a:spcBef>
                <a:spcPct val="0"/>
              </a:spcBef>
              <a:buNone/>
              <a:defRPr sz="4400" kern="1200">
                <a:solidFill>
                  <a:schemeClr val="tx1"/>
                </a:solidFill>
                <a:latin typeface="+mj-lt"/>
                <a:ea typeface="+mj-ea"/>
                <a:cs typeface="+mj-cs"/>
              </a:defRPr>
            </a:lvl1pPr>
          </a:lstStyle>
          <a:p>
            <a:pPr rtl="0" fontAlgn="auto">
              <a:spcAft>
                <a:spcPct val="0"/>
              </a:spcAft>
            </a:pPr>
            <a:r>
              <a:rPr lang="he-IL"/>
              <a:t>תרבות צודקת</a:t>
            </a:r>
          </a:p>
        </p:txBody>
      </p:sp>
      <p:sp>
        <p:nvSpPr>
          <p:cNvPr id="3" name="מציין מיקום תוכן 4">
            <a:extLst>
              <a:ext uri="{FF2B5EF4-FFF2-40B4-BE49-F238E27FC236}">
                <a16:creationId xmlns:a16="http://schemas.microsoft.com/office/drawing/2014/main" id="{98FB0E5E-4429-5EAE-1CE5-0F5449152B7B}"/>
              </a:ext>
            </a:extLst>
          </p:cNvPr>
          <p:cNvSpPr txBox="1"/>
          <p:nvPr/>
        </p:nvSpPr>
        <p:spPr>
          <a:xfrm>
            <a:off x="18106" y="1571084"/>
            <a:ext cx="9108504" cy="1864286"/>
          </a:xfrm>
          <a:prstGeom prst="rect">
            <a:avLst/>
          </a:prstGeom>
        </p:spPr>
        <p:txBody>
          <a:bodyPr vert="horz" lIns="91440" tIns="45720" rIns="91440" bIns="45720" rtlCol="1">
            <a:normAutofit/>
          </a:bodyPr>
          <a:lstStyle>
            <a:lvl1pPr marL="342900" indent="-342900" algn="r" defTabSz="914400" rtl="1"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r" defTabSz="914400" rtl="1"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r" defTabSz="914400" rtl="1"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r" fontAlgn="auto">
              <a:spcAft>
                <a:spcPct val="0"/>
              </a:spcAft>
            </a:pPr>
            <a:r>
              <a:rPr lang="he-IL" sz="2000"/>
              <a:t>תרבות צודקת מסירה את הפוקוס </a:t>
            </a:r>
            <a:r>
              <a:rPr lang="he-IL" sz="2000" u="sng"/>
              <a:t>מהשגיאה</a:t>
            </a:r>
            <a:r>
              <a:rPr lang="he-IL" sz="2000"/>
              <a:t> עצמה אל </a:t>
            </a:r>
            <a:r>
              <a:rPr lang="he-IL" sz="2000" u="sng"/>
              <a:t>התוצאה</a:t>
            </a:r>
            <a:r>
              <a:rPr lang="he-IL" sz="2000"/>
              <a:t> של האירוע.</a:t>
            </a:r>
          </a:p>
          <a:p>
            <a:pPr algn="r" fontAlgn="auto">
              <a:spcAft>
                <a:spcPct val="0"/>
              </a:spcAft>
            </a:pPr>
            <a:r>
              <a:rPr lang="he-IL" sz="2000"/>
              <a:t>היא שמה פוקוס גם על </a:t>
            </a:r>
            <a:r>
              <a:rPr lang="he-IL" sz="2000" u="sng"/>
              <a:t>סביבת העבודה</a:t>
            </a:r>
            <a:r>
              <a:rPr lang="he-IL" sz="2000"/>
              <a:t> וגם על </a:t>
            </a:r>
            <a:r>
              <a:rPr lang="he-IL" sz="2000" u="sng"/>
              <a:t>התנהלות הצוות</a:t>
            </a:r>
            <a:r>
              <a:rPr lang="he-IL" sz="2000"/>
              <a:t> במהלך האירוע.</a:t>
            </a:r>
          </a:p>
          <a:p>
            <a:pPr lvl="1" fontAlgn="auto">
              <a:spcAft>
                <a:spcPct val="0"/>
              </a:spcAft>
            </a:pPr>
            <a:r>
              <a:rPr lang="he-IL" sz="1800"/>
              <a:t>בתרבות צודקת מובן שאין לאינדיבידואל אחריות על כשלים מערכתיים עליהם אין להם שליטה.</a:t>
            </a:r>
          </a:p>
          <a:p>
            <a:pPr lvl="1" fontAlgn="auto">
              <a:spcAft>
                <a:spcPct val="0"/>
              </a:spcAft>
            </a:pPr>
            <a:r>
              <a:rPr lang="he-IL" sz="1800"/>
              <a:t>בתרבות צודק גם לא מקבלים פזיזות או חוסר אכפתיות. מצפים מהצוות לשאת באחריות האישית הנגזרת מהפעולות בהם נקט במהלך האירוע.</a:t>
            </a:r>
          </a:p>
        </p:txBody>
      </p:sp>
      <p:pic>
        <p:nvPicPr>
          <p:cNvPr id="3074" name="Picture 2" descr="צדק צדק תרדוף לקריאה | יהדות | ערכים">
            <a:extLst>
              <a:ext uri="{FF2B5EF4-FFF2-40B4-BE49-F238E27FC236}">
                <a16:creationId xmlns:a16="http://schemas.microsoft.com/office/drawing/2014/main" id="{1DCA9C7D-DE84-AEF6-882C-14309BB8C006}"/>
              </a:ext>
            </a:extLst>
          </p:cNvPr>
          <p:cNvPicPr>
            <a:picLocks noChangeAspect="1" noChangeArrowheads="1"/>
          </p:cNvPicPr>
          <p:nvPr/>
        </p:nvPicPr>
        <p:blipFill>
          <a:blip r:embed="rId2">
            <a:alphaModFix amt="70000"/>
            <a:extLst>
              <a:ext uri="{28A0092B-C50C-407E-A947-70E740481C1C}">
                <a14:useLocalDpi xmlns:a14="http://schemas.microsoft.com/office/drawing/2010/main" val="0"/>
              </a:ext>
            </a:extLst>
          </a:blip>
          <a:stretch>
            <a:fillRect/>
          </a:stretch>
        </p:blipFill>
        <p:spPr bwMode="auto">
          <a:xfrm>
            <a:off x="4499992" y="4149080"/>
            <a:ext cx="4400529" cy="24642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8572782"/>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rtlCol="1">
            <a:normAutofit fontScale="90000"/>
          </a:bodyPr>
          <a:lstStyle/>
          <a:p>
            <a:pPr fontAlgn="auto">
              <a:spcAft>
                <a:spcPct val="0"/>
              </a:spcAft>
              <a:defRPr/>
            </a:pPr>
            <a:r>
              <a:rPr lang="he-IL" altLang="en-US"/>
              <a:t>סכנות בטיפול קרינתי - </a:t>
            </a:r>
            <a:r>
              <a:rPr lang="he-IL"/>
              <a:t>תאונות ברדיותרפיה</a:t>
            </a:r>
          </a:p>
        </p:txBody>
      </p:sp>
      <p:sp>
        <p:nvSpPr>
          <p:cNvPr id="6" name="מציין מיקום תוכן 5"/>
          <p:cNvSpPr>
            <a:spLocks noGrp="1"/>
          </p:cNvSpPr>
          <p:nvPr>
            <p:ph idx="1"/>
          </p:nvPr>
        </p:nvSpPr>
        <p:spPr>
          <a:xfrm>
            <a:off x="457200" y="1600200"/>
            <a:ext cx="8229600" cy="3773015"/>
          </a:xfrm>
        </p:spPr>
        <p:txBody>
          <a:bodyPr>
            <a:normAutofit fontScale="85000" lnSpcReduction="10000"/>
          </a:bodyPr>
          <a:lstStyle/>
          <a:p>
            <a:r>
              <a:rPr lang="he-IL"/>
              <a:t>פוטנציאל הנזק כתוצאה מטיפול שגוי עלול להיות </a:t>
            </a:r>
            <a:r>
              <a:rPr lang="he-IL" b="1">
                <a:solidFill>
                  <a:srgbClr val="FF0000"/>
                </a:solidFill>
                <a:effectLst>
                  <a:outerShdw blurRad="38100" dist="38100" dir="2700000" algn="tl">
                    <a:srgbClr val="000000">
                      <a:alpha val="43137"/>
                    </a:srgbClr>
                  </a:outerShdw>
                </a:effectLst>
              </a:rPr>
              <a:t>קטלני</a:t>
            </a:r>
            <a:r>
              <a:rPr lang="he-IL"/>
              <a:t>.</a:t>
            </a:r>
          </a:p>
          <a:p>
            <a:r>
              <a:rPr lang="he-IL"/>
              <a:t>פגיעת קרינה קטלנית יכולה להמשך מימים בודדים עד חודשים ולגרום להתדרדרות מתמדת של הנפגע עד רגע מותו.</a:t>
            </a:r>
          </a:p>
          <a:p>
            <a:r>
              <a:rPr lang="he-IL"/>
              <a:t>לרוב פגיעות קרינה חמורות הופכות תקשורתיות ומסוקרות בעיתונות.</a:t>
            </a:r>
          </a:p>
          <a:p>
            <a:r>
              <a:rPr lang="he-IL"/>
              <a:t>בהמשך מספר מקרים מדווחים ומתוקשרים אשר ממחישים מה יכול לקרות למטופל כתוצאה של חשיפה לקרינה שלא ע"פ התכנון.</a:t>
            </a:r>
          </a:p>
        </p:txBody>
      </p:sp>
    </p:spTree>
    <p:extLst>
      <p:ext uri="{BB962C8B-B14F-4D97-AF65-F5344CB8AC3E}">
        <p14:creationId xmlns:p14="http://schemas.microsoft.com/office/powerpoint/2010/main" val="344968633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42" presetClass="entr" presetSubtype="0" dur="1000" fill="hold" grpId="0" nodeType="afterEffect">
                                  <p:stCondLst>
                                    <p:cond delay="50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1000"/>
                                        <p:tgtEl>
                                          <p:spTgt spid="6">
                                            <p:txEl>
                                              <p:pRg st="0" end="0"/>
                                            </p:txEl>
                                          </p:spTgt>
                                        </p:tgtEl>
                                      </p:cBhvr>
                                    </p:animEffect>
                                    <p:anim calcmode="lin" valueType="num">
                                      <p:cBhvr>
                                        <p:cTn id="8"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cond evt="onBegin" delay="0">
                          <p:tn val="9"/>
                        </p:cond>
                      </p:stCondLst>
                      <p:childTnLst>
                        <p:par>
                          <p:cTn id="11" fill="hold">
                            <p:stCondLst>
                              <p:cond delay="0"/>
                            </p:stCondLst>
                            <p:childTnLst>
                              <p:par>
                                <p:cTn id="12" presetID="42" presetClass="entr" presetSubtype="0" dur="1000" fill="hold" grpId="0" nodeType="clickEffect">
                                  <p:stCondLst>
                                    <p:cond delay="500"/>
                                  </p:stCondLst>
                                  <p:childTnLst>
                                    <p:set>
                                      <p:cBhvr>
                                        <p:cTn id="13" dur="1" fill="hold">
                                          <p:stCondLst>
                                            <p:cond delay="0"/>
                                          </p:stCondLst>
                                        </p:cTn>
                                        <p:tgtEl>
                                          <p:spTgt spid="6">
                                            <p:txEl>
                                              <p:pRg st="1" end="1"/>
                                            </p:txEl>
                                          </p:spTgt>
                                        </p:tgtEl>
                                        <p:attrNameLst>
                                          <p:attrName>style.visibility</p:attrName>
                                        </p:attrNameLst>
                                      </p:cBhvr>
                                      <p:to>
                                        <p:strVal val="visible"/>
                                      </p:to>
                                    </p:set>
                                    <p:animEffect transition="in" filter="fade">
                                      <p:cBhvr>
                                        <p:cTn id="14" dur="1000"/>
                                        <p:tgtEl>
                                          <p:spTgt spid="6">
                                            <p:txEl>
                                              <p:pRg st="1" end="1"/>
                                            </p:txEl>
                                          </p:spTgt>
                                        </p:tgtEl>
                                      </p:cBhvr>
                                    </p:animEffect>
                                    <p:anim calcmode="lin" valueType="num">
                                      <p:cBhvr>
                                        <p:cTn id="15"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cond evt="onBegin" delay="0">
                          <p:tn val="16"/>
                        </p:cond>
                      </p:stCondLst>
                      <p:childTnLst>
                        <p:par>
                          <p:cTn id="18" fill="hold">
                            <p:stCondLst>
                              <p:cond delay="0"/>
                            </p:stCondLst>
                            <p:childTnLst>
                              <p:par>
                                <p:cTn id="19" presetID="42" presetClass="entr" presetSubtype="0" dur="1000" fill="hold" grpId="0" nodeType="clickEffect">
                                  <p:stCondLst>
                                    <p:cond delay="500"/>
                                  </p:stCondLst>
                                  <p:childTnLst>
                                    <p:set>
                                      <p:cBhvr>
                                        <p:cTn id="20" dur="1" fill="hold">
                                          <p:stCondLst>
                                            <p:cond delay="0"/>
                                          </p:stCondLst>
                                        </p:cTn>
                                        <p:tgtEl>
                                          <p:spTgt spid="6">
                                            <p:txEl>
                                              <p:pRg st="2" end="2"/>
                                            </p:txEl>
                                          </p:spTgt>
                                        </p:tgtEl>
                                        <p:attrNameLst>
                                          <p:attrName>style.visibility</p:attrName>
                                        </p:attrNameLst>
                                      </p:cBhvr>
                                      <p:to>
                                        <p:strVal val="visible"/>
                                      </p:to>
                                    </p:set>
                                    <p:animEffect transition="in" filter="fade">
                                      <p:cBhvr>
                                        <p:cTn id="21" dur="1000"/>
                                        <p:tgtEl>
                                          <p:spTgt spid="6">
                                            <p:txEl>
                                              <p:pRg st="2" end="2"/>
                                            </p:txEl>
                                          </p:spTgt>
                                        </p:tgtEl>
                                      </p:cBhvr>
                                    </p:animEffect>
                                    <p:anim calcmode="lin" valueType="num">
                                      <p:cBhvr>
                                        <p:cTn id="22"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nodeType="clickPar">
                      <p:stCondLst>
                        <p:cond delay="indefinite"/>
                        <p:cond evt="onBegin" delay="0">
                          <p:tn val="23"/>
                        </p:cond>
                      </p:stCondLst>
                      <p:childTnLst>
                        <p:par>
                          <p:cTn id="25" fill="hold">
                            <p:stCondLst>
                              <p:cond delay="0"/>
                            </p:stCondLst>
                            <p:childTnLst>
                              <p:par>
                                <p:cTn id="26" presetID="42" presetClass="entr" presetSubtype="0" dur="1000" fill="hold" grpId="0" nodeType="clickEffect">
                                  <p:stCondLst>
                                    <p:cond delay="500"/>
                                  </p:stCondLst>
                                  <p:childTnLst>
                                    <p:set>
                                      <p:cBhvr>
                                        <p:cTn id="27" dur="1" fill="hold">
                                          <p:stCondLst>
                                            <p:cond delay="0"/>
                                          </p:stCondLst>
                                        </p:cTn>
                                        <p:tgtEl>
                                          <p:spTgt spid="6">
                                            <p:txEl>
                                              <p:pRg st="3" end="3"/>
                                            </p:txEl>
                                          </p:spTgt>
                                        </p:tgtEl>
                                        <p:attrNameLst>
                                          <p:attrName>style.visibility</p:attrName>
                                        </p:attrNameLst>
                                      </p:cBhvr>
                                      <p:to>
                                        <p:strVal val="visible"/>
                                      </p:to>
                                    </p:set>
                                    <p:animEffect transition="in" filter="fade">
                                      <p:cBhvr>
                                        <p:cTn id="28" dur="1000"/>
                                        <p:tgtEl>
                                          <p:spTgt spid="6">
                                            <p:txEl>
                                              <p:pRg st="3" end="3"/>
                                            </p:txEl>
                                          </p:spTgt>
                                        </p:tgtEl>
                                      </p:cBhvr>
                                    </p:animEffect>
                                    <p:anim calcmode="lin" valueType="num">
                                      <p:cBhvr>
                                        <p:cTn id="29"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6">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rtlCol="1">
            <a:normAutofit fontScale="90000"/>
          </a:bodyPr>
          <a:lstStyle/>
          <a:p>
            <a:pPr fontAlgn="auto">
              <a:spcAft>
                <a:spcPct val="0"/>
              </a:spcAft>
              <a:defRPr/>
            </a:pPr>
            <a:r>
              <a:rPr lang="he-IL" altLang="en-US" u="sng"/>
              <a:t>סכנות בטיפול קרינתי - </a:t>
            </a:r>
            <a:r>
              <a:rPr lang="he-IL" u="sng"/>
              <a:t>תאונות ברדיותרפיה מקרה 1</a:t>
            </a:r>
          </a:p>
        </p:txBody>
      </p:sp>
      <p:sp>
        <p:nvSpPr>
          <p:cNvPr id="6" name="מציין מיקום תוכן 5"/>
          <p:cNvSpPr>
            <a:spLocks noGrp="1"/>
          </p:cNvSpPr>
          <p:nvPr>
            <p:ph idx="1"/>
          </p:nvPr>
        </p:nvSpPr>
        <p:spPr>
          <a:xfrm>
            <a:off x="457200" y="1600200"/>
            <a:ext cx="8229600" cy="2931823"/>
          </a:xfrm>
        </p:spPr>
        <p:txBody>
          <a:bodyPr/>
          <a:lstStyle/>
          <a:p>
            <a:pPr eaLnBrk="0" hangingPunct="0">
              <a:buClr>
                <a:srgbClr val="A50021"/>
              </a:buClr>
              <a:buSzPct val="75000"/>
            </a:pPr>
            <a:r>
              <a:rPr lang="he-IL" sz="2800"/>
              <a:t>ינואר 2006, בבית חולים </a:t>
            </a:r>
            <a:r>
              <a:rPr lang="en-GB" altLang="en-US" sz="2800">
                <a:latin typeface="Arial"/>
              </a:rPr>
              <a:t>The Beatson Oncology Centre in Glasgow, UK</a:t>
            </a:r>
            <a:r>
              <a:rPr lang="he-IL" altLang="en-US" sz="2800">
                <a:latin typeface="Arial"/>
              </a:rPr>
              <a:t>.</a:t>
            </a:r>
          </a:p>
          <a:p>
            <a:pPr eaLnBrk="0" hangingPunct="0">
              <a:buClr>
                <a:srgbClr val="A50021"/>
              </a:buClr>
              <a:buSzPct val="75000"/>
            </a:pPr>
            <a:r>
              <a:rPr lang="he-IL" altLang="en-US" sz="2800">
                <a:latin typeface="Arial"/>
              </a:rPr>
              <a:t>ליסה נוריס נערה בת 15 קיבלה טיפול קרינה למרכז העצבי הראשי </a:t>
            </a:r>
            <a:r>
              <a:rPr lang="en-US" altLang="en-US" sz="2800">
                <a:latin typeface="Arial"/>
              </a:rPr>
              <a:t>(Central Nervous System -CNS)</a:t>
            </a:r>
          </a:p>
          <a:p>
            <a:pPr eaLnBrk="0" hangingPunct="0">
              <a:buClr>
                <a:srgbClr val="A50021"/>
              </a:buClr>
              <a:buSzPct val="75000"/>
            </a:pPr>
            <a:r>
              <a:rPr lang="he-IL" altLang="en-US" sz="2800">
                <a:latin typeface="Arial"/>
              </a:rPr>
              <a:t>בטיפול זה מקרינים את המח ועמוד השדרה של המטופל. </a:t>
            </a:r>
            <a:endParaRPr lang="en-GB" altLang="en-US" sz="2800">
              <a:latin typeface="Arial"/>
            </a:endParaRPr>
          </a:p>
          <a:p>
            <a:r>
              <a:rPr lang="he-IL" sz="2800"/>
              <a:t>תכנון טיפול זה דורש מיומנות רבה מהצוות המתכנן.</a:t>
            </a:r>
            <a:endParaRPr lang="en-US" sz="2800"/>
          </a:p>
        </p:txBody>
      </p:sp>
      <p:pic>
        <p:nvPicPr>
          <p:cNvPr id="10" name="Picture 13"/>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black">
          <a:xfrm>
            <a:off x="179512" y="4581128"/>
            <a:ext cx="2833687" cy="2122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 name="Picture 2"/>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3635896" y="4532023"/>
            <a:ext cx="2319188" cy="23079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3302719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2" presetClass="entr" presetSubtype="4" dur="50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4" dur="500" fill="hold" grpId="0" nodeType="after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 calcmode="lin" valueType="num">
                                      <p:cBhvr additive="base">
                                        <p:cTn id="12"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par>
                          <p:cTn id="14" fill="hold" nodeType="afterGroup">
                            <p:stCondLst>
                              <p:cond delay="1000"/>
                            </p:stCondLst>
                            <p:childTnLst>
                              <p:par>
                                <p:cTn id="15" presetID="2" presetClass="entr" presetSubtype="4" dur="500" fill="hold" grpId="0" nodeType="afterEffect">
                                  <p:stCondLst>
                                    <p:cond delay="500"/>
                                  </p:stCondLst>
                                  <p:childTnLst>
                                    <p:set>
                                      <p:cBhvr>
                                        <p:cTn id="16" dur="1" fill="hold">
                                          <p:stCondLst>
                                            <p:cond delay="0"/>
                                          </p:stCondLst>
                                        </p:cTn>
                                        <p:tgtEl>
                                          <p:spTgt spid="6">
                                            <p:txEl>
                                              <p:pRg st="2" end="2"/>
                                            </p:txEl>
                                          </p:spTgt>
                                        </p:tgtEl>
                                        <p:attrNameLst>
                                          <p:attrName>style.visibility</p:attrName>
                                        </p:attrNameLst>
                                      </p:cBhvr>
                                      <p:to>
                                        <p:strVal val="visible"/>
                                      </p:to>
                                    </p:set>
                                    <p:anim calcmode="lin" valueType="num">
                                      <p:cBhvr additive="base">
                                        <p:cTn id="17"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par>
                          <p:cTn id="19" fill="hold" nodeType="afterGroup">
                            <p:stCondLst>
                              <p:cond delay="2000"/>
                            </p:stCondLst>
                            <p:childTnLst>
                              <p:par>
                                <p:cTn id="20" presetID="2" presetClass="entr" presetSubtype="4" dur="500" fill="hold" grpId="0" nodeType="after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 calcmode="lin" valueType="num">
                                      <p:cBhvr additive="base">
                                        <p:cTn id="22"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6">
                                            <p:txEl>
                                              <p:pRg st="3" end="3"/>
                                            </p:txEl>
                                          </p:spTgt>
                                        </p:tgtEl>
                                        <p:attrNameLst>
                                          <p:attrName>ppt_y</p:attrName>
                                        </p:attrNameLst>
                                      </p:cBhvr>
                                      <p:tavLst>
                                        <p:tav tm="0">
                                          <p:val>
                                            <p:strVal val="1+#ppt_h/2"/>
                                          </p:val>
                                        </p:tav>
                                        <p:tav tm="100000">
                                          <p:val>
                                            <p:strVal val="#ppt_y"/>
                                          </p:val>
                                        </p:tav>
                                      </p:tavLst>
                                    </p:anim>
                                  </p:childTnLst>
                                </p:cTn>
                              </p:par>
                            </p:childTnLst>
                          </p:cTn>
                        </p:par>
                        <p:par>
                          <p:cTn id="24" fill="hold" nodeType="afterGroup">
                            <p:stCondLst>
                              <p:cond delay="2500"/>
                            </p:stCondLst>
                            <p:childTnLst>
                              <p:par>
                                <p:cTn id="25" presetID="53" presetClass="entr" presetSubtype="16" dur="500" fill="hold" nodeType="after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p:cTn id="27" dur="500" fill="hold"/>
                                        <p:tgtEl>
                                          <p:spTgt spid="10"/>
                                        </p:tgtEl>
                                        <p:attrNameLst>
                                          <p:attrName>ppt_w</p:attrName>
                                        </p:attrNameLst>
                                      </p:cBhvr>
                                      <p:tavLst>
                                        <p:tav tm="0">
                                          <p:val>
                                            <p:fltVal val="0"/>
                                          </p:val>
                                        </p:tav>
                                        <p:tav tm="100000">
                                          <p:val>
                                            <p:strVal val="#ppt_w"/>
                                          </p:val>
                                        </p:tav>
                                      </p:tavLst>
                                    </p:anim>
                                    <p:anim calcmode="lin" valueType="num">
                                      <p:cBhvr>
                                        <p:cTn id="28" dur="500" fill="hold"/>
                                        <p:tgtEl>
                                          <p:spTgt spid="10"/>
                                        </p:tgtEl>
                                        <p:attrNameLst>
                                          <p:attrName>ppt_h</p:attrName>
                                        </p:attrNameLst>
                                      </p:cBhvr>
                                      <p:tavLst>
                                        <p:tav tm="0">
                                          <p:val>
                                            <p:fltVal val="0"/>
                                          </p:val>
                                        </p:tav>
                                        <p:tav tm="100000">
                                          <p:val>
                                            <p:strVal val="#ppt_h"/>
                                          </p:val>
                                        </p:tav>
                                      </p:tavLst>
                                    </p:anim>
                                    <p:animEffect transition="in" filter="fade">
                                      <p:cBhvr>
                                        <p:cTn id="29" dur="500"/>
                                        <p:tgtEl>
                                          <p:spTgt spid="10"/>
                                        </p:tgtEl>
                                      </p:cBhvr>
                                    </p:animEffect>
                                  </p:childTnLst>
                                </p:cTn>
                              </p:par>
                            </p:childTnLst>
                          </p:cTn>
                        </p:par>
                        <p:par>
                          <p:cTn id="30" fill="hold" nodeType="afterGroup">
                            <p:stCondLst>
                              <p:cond delay="3000"/>
                            </p:stCondLst>
                            <p:childTnLst>
                              <p:par>
                                <p:cTn id="31" presetID="53" presetClass="entr" presetSubtype="16" dur="500" fill="hold" nodeType="afterEffect">
                                  <p:stCondLst>
                                    <p:cond delay="0"/>
                                  </p:stCondLst>
                                  <p:childTnLst>
                                    <p:set>
                                      <p:cBhvr>
                                        <p:cTn id="32" dur="1" fill="hold">
                                          <p:stCondLst>
                                            <p:cond delay="0"/>
                                          </p:stCondLst>
                                        </p:cTn>
                                        <p:tgtEl>
                                          <p:spTgt spid="12"/>
                                        </p:tgtEl>
                                        <p:attrNameLst>
                                          <p:attrName>style.visibility</p:attrName>
                                        </p:attrNameLst>
                                      </p:cBhvr>
                                      <p:to>
                                        <p:strVal val="visible"/>
                                      </p:to>
                                    </p:set>
                                    <p:anim calcmode="lin" valueType="num">
                                      <p:cBhvr>
                                        <p:cTn id="33" dur="500" fill="hold"/>
                                        <p:tgtEl>
                                          <p:spTgt spid="12"/>
                                        </p:tgtEl>
                                        <p:attrNameLst>
                                          <p:attrName>ppt_w</p:attrName>
                                        </p:attrNameLst>
                                      </p:cBhvr>
                                      <p:tavLst>
                                        <p:tav tm="0">
                                          <p:val>
                                            <p:fltVal val="0"/>
                                          </p:val>
                                        </p:tav>
                                        <p:tav tm="100000">
                                          <p:val>
                                            <p:strVal val="#ppt_w"/>
                                          </p:val>
                                        </p:tav>
                                      </p:tavLst>
                                    </p:anim>
                                    <p:anim calcmode="lin" valueType="num">
                                      <p:cBhvr>
                                        <p:cTn id="34" dur="500" fill="hold"/>
                                        <p:tgtEl>
                                          <p:spTgt spid="12"/>
                                        </p:tgtEl>
                                        <p:attrNameLst>
                                          <p:attrName>ppt_h</p:attrName>
                                        </p:attrNameLst>
                                      </p:cBhvr>
                                      <p:tavLst>
                                        <p:tav tm="0">
                                          <p:val>
                                            <p:fltVal val="0"/>
                                          </p:val>
                                        </p:tav>
                                        <p:tav tm="100000">
                                          <p:val>
                                            <p:strVal val="#ppt_h"/>
                                          </p:val>
                                        </p:tav>
                                      </p:tavLst>
                                    </p:anim>
                                    <p:animEffect transition="in" filter="fade">
                                      <p:cBhvr>
                                        <p:cTn id="3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rtlCol="1">
            <a:normAutofit fontScale="90000"/>
          </a:bodyPr>
          <a:lstStyle/>
          <a:p>
            <a:pPr fontAlgn="auto">
              <a:spcAft>
                <a:spcPct val="0"/>
              </a:spcAft>
              <a:defRPr/>
            </a:pPr>
            <a:r>
              <a:rPr lang="he-IL" altLang="en-US" u="sng"/>
              <a:t>סכנות בטיפול קרינתי </a:t>
            </a:r>
            <a:r>
              <a:rPr lang="he-IL" u="sng"/>
              <a:t>תאונות ברדיותרפיה - מקרה 1</a:t>
            </a:r>
          </a:p>
        </p:txBody>
      </p:sp>
      <p:sp>
        <p:nvSpPr>
          <p:cNvPr id="6" name="מציין מיקום תוכן 5"/>
          <p:cNvSpPr>
            <a:spLocks noGrp="1"/>
          </p:cNvSpPr>
          <p:nvPr>
            <p:ph idx="1"/>
          </p:nvPr>
        </p:nvSpPr>
        <p:spPr>
          <a:xfrm>
            <a:off x="2627784" y="1600201"/>
            <a:ext cx="6116807" cy="3773016"/>
          </a:xfrm>
          <a:noFill/>
        </p:spPr>
        <p:txBody>
          <a:bodyPr>
            <a:normAutofit fontScale="70000" lnSpcReduction="20000"/>
          </a:bodyPr>
          <a:lstStyle/>
          <a:p>
            <a:r>
              <a:rPr lang="he-IL" sz="2800"/>
              <a:t>מנת המרשם הייתה 20 פרקציות של </a:t>
            </a:r>
            <a:r>
              <a:rPr lang="en-US" sz="2800"/>
              <a:t>1.75Gy</a:t>
            </a:r>
            <a:r>
              <a:rPr lang="he-IL" sz="2800"/>
              <a:t> + 11 פרקציות של </a:t>
            </a:r>
            <a:r>
              <a:rPr lang="en-US" sz="2800"/>
              <a:t>1.8Gy</a:t>
            </a:r>
            <a:r>
              <a:rPr lang="he-IL" sz="2800"/>
              <a:t>.</a:t>
            </a:r>
          </a:p>
          <a:p>
            <a:r>
              <a:rPr lang="he-IL" sz="2800"/>
              <a:t>ליסה קיבלה 58% מנה עודפת למוח לכל הטיפול. </a:t>
            </a:r>
          </a:p>
          <a:p>
            <a:r>
              <a:rPr lang="he-IL" sz="2800"/>
              <a:t>השדות של עמוד השדרה היו תקינים.</a:t>
            </a:r>
          </a:p>
          <a:p>
            <a:r>
              <a:rPr lang="he-IL" sz="2800"/>
              <a:t>האירוע כלל מכלול של נסיבות:</a:t>
            </a:r>
          </a:p>
          <a:p>
            <a:pPr marL="914400" lvl="1" indent="-457200">
              <a:buFont typeface="+mj-lt"/>
              <a:buAutoNum type="arabicPeriod"/>
            </a:pPr>
            <a:r>
              <a:rPr lang="he-IL" sz="2400"/>
              <a:t>הכשרה לקויה של המתכנן.</a:t>
            </a:r>
          </a:p>
          <a:p>
            <a:pPr marL="914400" lvl="1" indent="-457200">
              <a:buFont typeface="+mj-lt"/>
              <a:buAutoNum type="arabicPeriod"/>
            </a:pPr>
            <a:r>
              <a:rPr lang="he-IL" sz="2400"/>
              <a:t>מחסור בצוות מיומן.</a:t>
            </a:r>
          </a:p>
          <a:p>
            <a:pPr marL="914400" lvl="1" indent="-457200">
              <a:buFont typeface="+mj-lt"/>
              <a:buAutoNum type="arabicPeriod"/>
            </a:pPr>
            <a:r>
              <a:rPr lang="he-IL" sz="2400"/>
              <a:t>פיקוח ובקרה לא מספקים.</a:t>
            </a:r>
          </a:p>
          <a:p>
            <a:pPr marL="914400" lvl="1" indent="-457200">
              <a:buFont typeface="+mj-lt"/>
              <a:buAutoNum type="arabicPeriod"/>
            </a:pPr>
            <a:r>
              <a:rPr lang="he-IL" sz="2400"/>
              <a:t>התכנון בוצע באופן ידני למרות שהייתה קיימת מערכת ממוחשבת.</a:t>
            </a:r>
          </a:p>
          <a:p>
            <a:pPr marL="914400" lvl="1" indent="-457200">
              <a:buFont typeface="+mj-lt"/>
              <a:buAutoNum type="arabicPeriod"/>
            </a:pPr>
            <a:r>
              <a:rPr lang="he-IL" sz="2400"/>
              <a:t>טיפול מסוג זה מבוצע בתדירות נמוכה מאד. כ- 5 עד 6 פעמים בשנה כאשר המרכז מטפל בכ- 4500 עד 5000 מטופלים מדי שנה.</a:t>
            </a:r>
          </a:p>
          <a:p>
            <a:endParaRPr lang="he-IL" sz="2800"/>
          </a:p>
        </p:txBody>
      </p:sp>
      <p:pic>
        <p:nvPicPr>
          <p:cNvPr id="4" name="Picture 6"/>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79218" y="1628800"/>
            <a:ext cx="2390775" cy="2849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3520772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42" presetClass="entr" presetSubtype="0" dur="1000" fill="hold" grpId="0"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1000"/>
                                        <p:tgtEl>
                                          <p:spTgt spid="6">
                                            <p:txEl>
                                              <p:pRg st="0" end="0"/>
                                            </p:txEl>
                                          </p:spTgt>
                                        </p:tgtEl>
                                      </p:cBhvr>
                                    </p:animEffect>
                                    <p:anim calcmode="lin" valueType="num">
                                      <p:cBhvr>
                                        <p:cTn id="8"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cond evt="onBegin" delay="0">
                          <p:tn val="9"/>
                        </p:cond>
                      </p:stCondLst>
                      <p:childTnLst>
                        <p:par>
                          <p:cTn id="11" fill="hold">
                            <p:stCondLst>
                              <p:cond delay="0"/>
                            </p:stCondLst>
                            <p:childTnLst>
                              <p:par>
                                <p:cTn id="12" presetID="42" presetClass="entr" presetSubtype="0" dur="1000" fill="hold" grpId="0" nodeType="clickEffect">
                                  <p:stCondLst>
                                    <p:cond delay="0"/>
                                  </p:stCondLst>
                                  <p:childTnLst>
                                    <p:set>
                                      <p:cBhvr>
                                        <p:cTn id="13" dur="1" fill="hold">
                                          <p:stCondLst>
                                            <p:cond delay="0"/>
                                          </p:stCondLst>
                                        </p:cTn>
                                        <p:tgtEl>
                                          <p:spTgt spid="6">
                                            <p:txEl>
                                              <p:pRg st="1" end="1"/>
                                            </p:txEl>
                                          </p:spTgt>
                                        </p:tgtEl>
                                        <p:attrNameLst>
                                          <p:attrName>style.visibility</p:attrName>
                                        </p:attrNameLst>
                                      </p:cBhvr>
                                      <p:to>
                                        <p:strVal val="visible"/>
                                      </p:to>
                                    </p:set>
                                    <p:animEffect transition="in" filter="fade">
                                      <p:cBhvr>
                                        <p:cTn id="14" dur="1000"/>
                                        <p:tgtEl>
                                          <p:spTgt spid="6">
                                            <p:txEl>
                                              <p:pRg st="1" end="1"/>
                                            </p:txEl>
                                          </p:spTgt>
                                        </p:tgtEl>
                                      </p:cBhvr>
                                    </p:animEffect>
                                    <p:anim calcmode="lin" valueType="num">
                                      <p:cBhvr>
                                        <p:cTn id="15"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cond evt="onBegin" delay="0">
                          <p:tn val="16"/>
                        </p:cond>
                      </p:stCondLst>
                      <p:childTnLst>
                        <p:par>
                          <p:cTn id="18" fill="hold">
                            <p:stCondLst>
                              <p:cond delay="0"/>
                            </p:stCondLst>
                            <p:childTnLst>
                              <p:par>
                                <p:cTn id="19" presetID="42" presetClass="entr" presetSubtype="0" dur="1000" fill="hold" grpId="0" nodeType="clickEffect">
                                  <p:stCondLst>
                                    <p:cond delay="0"/>
                                  </p:stCondLst>
                                  <p:childTnLst>
                                    <p:set>
                                      <p:cBhvr>
                                        <p:cTn id="20" dur="1" fill="hold">
                                          <p:stCondLst>
                                            <p:cond delay="0"/>
                                          </p:stCondLst>
                                        </p:cTn>
                                        <p:tgtEl>
                                          <p:spTgt spid="6">
                                            <p:txEl>
                                              <p:pRg st="2" end="2"/>
                                            </p:txEl>
                                          </p:spTgt>
                                        </p:tgtEl>
                                        <p:attrNameLst>
                                          <p:attrName>style.visibility</p:attrName>
                                        </p:attrNameLst>
                                      </p:cBhvr>
                                      <p:to>
                                        <p:strVal val="visible"/>
                                      </p:to>
                                    </p:set>
                                    <p:animEffect transition="in" filter="fade">
                                      <p:cBhvr>
                                        <p:cTn id="21" dur="1000"/>
                                        <p:tgtEl>
                                          <p:spTgt spid="6">
                                            <p:txEl>
                                              <p:pRg st="2" end="2"/>
                                            </p:txEl>
                                          </p:spTgt>
                                        </p:tgtEl>
                                      </p:cBhvr>
                                    </p:animEffect>
                                    <p:anim calcmode="lin" valueType="num">
                                      <p:cBhvr>
                                        <p:cTn id="22"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nodeType="clickPar">
                      <p:stCondLst>
                        <p:cond delay="indefinite"/>
                        <p:cond evt="onBegin" delay="0">
                          <p:tn val="23"/>
                        </p:cond>
                      </p:stCondLst>
                      <p:childTnLst>
                        <p:par>
                          <p:cTn id="25" fill="hold">
                            <p:stCondLst>
                              <p:cond delay="0"/>
                            </p:stCondLst>
                            <p:childTnLst>
                              <p:par>
                                <p:cTn id="26" presetID="42" presetClass="entr" presetSubtype="0" dur="1000" fill="hold" grpId="0" nodeType="clickEffect">
                                  <p:stCondLst>
                                    <p:cond delay="0"/>
                                  </p:stCondLst>
                                  <p:childTnLst>
                                    <p:set>
                                      <p:cBhvr>
                                        <p:cTn id="27" dur="1" fill="hold">
                                          <p:stCondLst>
                                            <p:cond delay="0"/>
                                          </p:stCondLst>
                                        </p:cTn>
                                        <p:tgtEl>
                                          <p:spTgt spid="6">
                                            <p:txEl>
                                              <p:pRg st="3" end="3"/>
                                            </p:txEl>
                                          </p:spTgt>
                                        </p:tgtEl>
                                        <p:attrNameLst>
                                          <p:attrName>style.visibility</p:attrName>
                                        </p:attrNameLst>
                                      </p:cBhvr>
                                      <p:to>
                                        <p:strVal val="visible"/>
                                      </p:to>
                                    </p:set>
                                    <p:animEffect transition="in" filter="fade">
                                      <p:cBhvr>
                                        <p:cTn id="28" dur="1000"/>
                                        <p:tgtEl>
                                          <p:spTgt spid="6">
                                            <p:txEl>
                                              <p:pRg st="3" end="3"/>
                                            </p:txEl>
                                          </p:spTgt>
                                        </p:tgtEl>
                                      </p:cBhvr>
                                    </p:animEffect>
                                    <p:anim calcmode="lin" valueType="num">
                                      <p:cBhvr>
                                        <p:cTn id="29"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6">
                                            <p:txEl>
                                              <p:pRg st="3" end="3"/>
                                            </p:txEl>
                                          </p:spTgt>
                                        </p:tgtEl>
                                        <p:attrNameLst>
                                          <p:attrName>ppt_y</p:attrName>
                                        </p:attrNameLst>
                                      </p:cBhvr>
                                      <p:tavLst>
                                        <p:tav tm="0">
                                          <p:val>
                                            <p:strVal val="#ppt_y+.1"/>
                                          </p:val>
                                        </p:tav>
                                        <p:tav tm="100000">
                                          <p:val>
                                            <p:strVal val="#ppt_y"/>
                                          </p:val>
                                        </p:tav>
                                      </p:tavLst>
                                    </p:anim>
                                  </p:childTnLst>
                                </p:cTn>
                              </p:par>
                              <p:par>
                                <p:cTn id="31" presetID="42" presetClass="entr" presetSubtype="0" dur="1000" fill="hold" grpId="0" nodeType="withEffect">
                                  <p:stCondLst>
                                    <p:cond delay="0"/>
                                  </p:stCondLst>
                                  <p:childTnLst>
                                    <p:set>
                                      <p:cBhvr>
                                        <p:cTn id="32" dur="1" fill="hold">
                                          <p:stCondLst>
                                            <p:cond delay="0"/>
                                          </p:stCondLst>
                                        </p:cTn>
                                        <p:tgtEl>
                                          <p:spTgt spid="6">
                                            <p:txEl>
                                              <p:pRg st="4" end="4"/>
                                            </p:txEl>
                                          </p:spTgt>
                                        </p:tgtEl>
                                        <p:attrNameLst>
                                          <p:attrName>style.visibility</p:attrName>
                                        </p:attrNameLst>
                                      </p:cBhvr>
                                      <p:to>
                                        <p:strVal val="visible"/>
                                      </p:to>
                                    </p:set>
                                    <p:animEffect transition="in" filter="fade">
                                      <p:cBhvr>
                                        <p:cTn id="33" dur="1000"/>
                                        <p:tgtEl>
                                          <p:spTgt spid="6">
                                            <p:txEl>
                                              <p:pRg st="4" end="4"/>
                                            </p:txEl>
                                          </p:spTgt>
                                        </p:tgtEl>
                                      </p:cBhvr>
                                    </p:animEffect>
                                    <p:anim calcmode="lin" valueType="num">
                                      <p:cBhvr>
                                        <p:cTn id="34"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35" dur="1000" fill="hold"/>
                                        <p:tgtEl>
                                          <p:spTgt spid="6">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6" fill="hold" nodeType="clickPar">
                      <p:stCondLst>
                        <p:cond delay="indefinite"/>
                        <p:cond evt="onBegin" delay="0">
                          <p:tn val="35"/>
                        </p:cond>
                      </p:stCondLst>
                      <p:childTnLst>
                        <p:par>
                          <p:cTn id="37" fill="hold">
                            <p:stCondLst>
                              <p:cond delay="0"/>
                            </p:stCondLst>
                            <p:childTnLst>
                              <p:par>
                                <p:cTn id="38" presetID="42" presetClass="entr" presetSubtype="0" dur="1000" fill="hold" grpId="0" nodeType="clickEffect">
                                  <p:stCondLst>
                                    <p:cond delay="0"/>
                                  </p:stCondLst>
                                  <p:childTnLst>
                                    <p:set>
                                      <p:cBhvr>
                                        <p:cTn id="39" dur="1" fill="hold">
                                          <p:stCondLst>
                                            <p:cond delay="0"/>
                                          </p:stCondLst>
                                        </p:cTn>
                                        <p:tgtEl>
                                          <p:spTgt spid="6">
                                            <p:txEl>
                                              <p:pRg st="5" end="5"/>
                                            </p:txEl>
                                          </p:spTgt>
                                        </p:tgtEl>
                                        <p:attrNameLst>
                                          <p:attrName>style.visibility</p:attrName>
                                        </p:attrNameLst>
                                      </p:cBhvr>
                                      <p:to>
                                        <p:strVal val="visible"/>
                                      </p:to>
                                    </p:set>
                                    <p:animEffect transition="in" filter="fade">
                                      <p:cBhvr>
                                        <p:cTn id="40" dur="1000"/>
                                        <p:tgtEl>
                                          <p:spTgt spid="6">
                                            <p:txEl>
                                              <p:pRg st="5" end="5"/>
                                            </p:txEl>
                                          </p:spTgt>
                                        </p:tgtEl>
                                      </p:cBhvr>
                                    </p:animEffect>
                                    <p:anim calcmode="lin" valueType="num">
                                      <p:cBhvr>
                                        <p:cTn id="41" dur="1000" fill="hold"/>
                                        <p:tgtEl>
                                          <p:spTgt spid="6">
                                            <p:txEl>
                                              <p:pRg st="5" end="5"/>
                                            </p:txEl>
                                          </p:spTgt>
                                        </p:tgtEl>
                                        <p:attrNameLst>
                                          <p:attrName>ppt_x</p:attrName>
                                        </p:attrNameLst>
                                      </p:cBhvr>
                                      <p:tavLst>
                                        <p:tav tm="0">
                                          <p:val>
                                            <p:strVal val="#ppt_x"/>
                                          </p:val>
                                        </p:tav>
                                        <p:tav tm="100000">
                                          <p:val>
                                            <p:strVal val="#ppt_x"/>
                                          </p:val>
                                        </p:tav>
                                      </p:tavLst>
                                    </p:anim>
                                    <p:anim calcmode="lin" valueType="num">
                                      <p:cBhvr>
                                        <p:cTn id="42" dur="1000" fill="hold"/>
                                        <p:tgtEl>
                                          <p:spTgt spid="6">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3" fill="hold" nodeType="clickPar">
                      <p:stCondLst>
                        <p:cond delay="indefinite"/>
                        <p:cond evt="onBegin" delay="0">
                          <p:tn val="42"/>
                        </p:cond>
                      </p:stCondLst>
                      <p:childTnLst>
                        <p:par>
                          <p:cTn id="44" fill="hold">
                            <p:stCondLst>
                              <p:cond delay="0"/>
                            </p:stCondLst>
                            <p:childTnLst>
                              <p:par>
                                <p:cTn id="45" presetID="42" presetClass="entr" presetSubtype="0" dur="1000" fill="hold" grpId="0" nodeType="clickEffect">
                                  <p:stCondLst>
                                    <p:cond delay="0"/>
                                  </p:stCondLst>
                                  <p:childTnLst>
                                    <p:set>
                                      <p:cBhvr>
                                        <p:cTn id="46" dur="1" fill="hold">
                                          <p:stCondLst>
                                            <p:cond delay="0"/>
                                          </p:stCondLst>
                                        </p:cTn>
                                        <p:tgtEl>
                                          <p:spTgt spid="6">
                                            <p:txEl>
                                              <p:pRg st="6" end="6"/>
                                            </p:txEl>
                                          </p:spTgt>
                                        </p:tgtEl>
                                        <p:attrNameLst>
                                          <p:attrName>style.visibility</p:attrName>
                                        </p:attrNameLst>
                                      </p:cBhvr>
                                      <p:to>
                                        <p:strVal val="visible"/>
                                      </p:to>
                                    </p:set>
                                    <p:animEffect transition="in" filter="fade">
                                      <p:cBhvr>
                                        <p:cTn id="47" dur="1000"/>
                                        <p:tgtEl>
                                          <p:spTgt spid="6">
                                            <p:txEl>
                                              <p:pRg st="6" end="6"/>
                                            </p:txEl>
                                          </p:spTgt>
                                        </p:tgtEl>
                                      </p:cBhvr>
                                    </p:animEffect>
                                    <p:anim calcmode="lin" valueType="num">
                                      <p:cBhvr>
                                        <p:cTn id="48" dur="1000" fill="hold"/>
                                        <p:tgtEl>
                                          <p:spTgt spid="6">
                                            <p:txEl>
                                              <p:pRg st="6" end="6"/>
                                            </p:txEl>
                                          </p:spTgt>
                                        </p:tgtEl>
                                        <p:attrNameLst>
                                          <p:attrName>ppt_x</p:attrName>
                                        </p:attrNameLst>
                                      </p:cBhvr>
                                      <p:tavLst>
                                        <p:tav tm="0">
                                          <p:val>
                                            <p:strVal val="#ppt_x"/>
                                          </p:val>
                                        </p:tav>
                                        <p:tav tm="100000">
                                          <p:val>
                                            <p:strVal val="#ppt_x"/>
                                          </p:val>
                                        </p:tav>
                                      </p:tavLst>
                                    </p:anim>
                                    <p:anim calcmode="lin" valueType="num">
                                      <p:cBhvr>
                                        <p:cTn id="49" dur="1000" fill="hold"/>
                                        <p:tgtEl>
                                          <p:spTgt spid="6">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0" fill="hold" nodeType="clickPar">
                      <p:stCondLst>
                        <p:cond delay="indefinite"/>
                        <p:cond evt="onBegin" delay="0">
                          <p:tn val="49"/>
                        </p:cond>
                      </p:stCondLst>
                      <p:childTnLst>
                        <p:par>
                          <p:cTn id="51" fill="hold">
                            <p:stCondLst>
                              <p:cond delay="0"/>
                            </p:stCondLst>
                            <p:childTnLst>
                              <p:par>
                                <p:cTn id="52" presetID="42" presetClass="entr" presetSubtype="0" dur="1000" fill="hold" grpId="0" nodeType="clickEffect">
                                  <p:stCondLst>
                                    <p:cond delay="0"/>
                                  </p:stCondLst>
                                  <p:childTnLst>
                                    <p:set>
                                      <p:cBhvr>
                                        <p:cTn id="53" dur="1" fill="hold">
                                          <p:stCondLst>
                                            <p:cond delay="0"/>
                                          </p:stCondLst>
                                        </p:cTn>
                                        <p:tgtEl>
                                          <p:spTgt spid="6">
                                            <p:txEl>
                                              <p:pRg st="7" end="7"/>
                                            </p:txEl>
                                          </p:spTgt>
                                        </p:tgtEl>
                                        <p:attrNameLst>
                                          <p:attrName>style.visibility</p:attrName>
                                        </p:attrNameLst>
                                      </p:cBhvr>
                                      <p:to>
                                        <p:strVal val="visible"/>
                                      </p:to>
                                    </p:set>
                                    <p:animEffect transition="in" filter="fade">
                                      <p:cBhvr>
                                        <p:cTn id="54" dur="1000"/>
                                        <p:tgtEl>
                                          <p:spTgt spid="6">
                                            <p:txEl>
                                              <p:pRg st="7" end="7"/>
                                            </p:txEl>
                                          </p:spTgt>
                                        </p:tgtEl>
                                      </p:cBhvr>
                                    </p:animEffect>
                                    <p:anim calcmode="lin" valueType="num">
                                      <p:cBhvr>
                                        <p:cTn id="55" dur="1000" fill="hold"/>
                                        <p:tgtEl>
                                          <p:spTgt spid="6">
                                            <p:txEl>
                                              <p:pRg st="7" end="7"/>
                                            </p:txEl>
                                          </p:spTgt>
                                        </p:tgtEl>
                                        <p:attrNameLst>
                                          <p:attrName>ppt_x</p:attrName>
                                        </p:attrNameLst>
                                      </p:cBhvr>
                                      <p:tavLst>
                                        <p:tav tm="0">
                                          <p:val>
                                            <p:strVal val="#ppt_x"/>
                                          </p:val>
                                        </p:tav>
                                        <p:tav tm="100000">
                                          <p:val>
                                            <p:strVal val="#ppt_x"/>
                                          </p:val>
                                        </p:tav>
                                      </p:tavLst>
                                    </p:anim>
                                    <p:anim calcmode="lin" valueType="num">
                                      <p:cBhvr>
                                        <p:cTn id="56" dur="1000" fill="hold"/>
                                        <p:tgtEl>
                                          <p:spTgt spid="6">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7" fill="hold" nodeType="clickPar">
                      <p:stCondLst>
                        <p:cond delay="indefinite"/>
                        <p:cond evt="onBegin" delay="0">
                          <p:tn val="56"/>
                        </p:cond>
                      </p:stCondLst>
                      <p:childTnLst>
                        <p:par>
                          <p:cTn id="58" fill="hold">
                            <p:stCondLst>
                              <p:cond delay="0"/>
                            </p:stCondLst>
                            <p:childTnLst>
                              <p:par>
                                <p:cTn id="59" presetID="42" presetClass="entr" presetSubtype="0" dur="1000" fill="hold" grpId="0" nodeType="clickEffect">
                                  <p:stCondLst>
                                    <p:cond delay="0"/>
                                  </p:stCondLst>
                                  <p:childTnLst>
                                    <p:set>
                                      <p:cBhvr>
                                        <p:cTn id="60" dur="1" fill="hold">
                                          <p:stCondLst>
                                            <p:cond delay="0"/>
                                          </p:stCondLst>
                                        </p:cTn>
                                        <p:tgtEl>
                                          <p:spTgt spid="6">
                                            <p:txEl>
                                              <p:pRg st="8" end="8"/>
                                            </p:txEl>
                                          </p:spTgt>
                                        </p:tgtEl>
                                        <p:attrNameLst>
                                          <p:attrName>style.visibility</p:attrName>
                                        </p:attrNameLst>
                                      </p:cBhvr>
                                      <p:to>
                                        <p:strVal val="visible"/>
                                      </p:to>
                                    </p:set>
                                    <p:animEffect transition="in" filter="fade">
                                      <p:cBhvr>
                                        <p:cTn id="61" dur="1000"/>
                                        <p:tgtEl>
                                          <p:spTgt spid="6">
                                            <p:txEl>
                                              <p:pRg st="8" end="8"/>
                                            </p:txEl>
                                          </p:spTgt>
                                        </p:tgtEl>
                                      </p:cBhvr>
                                    </p:animEffect>
                                    <p:anim calcmode="lin" valueType="num">
                                      <p:cBhvr>
                                        <p:cTn id="62" dur="1000" fill="hold"/>
                                        <p:tgtEl>
                                          <p:spTgt spid="6">
                                            <p:txEl>
                                              <p:pRg st="8" end="8"/>
                                            </p:txEl>
                                          </p:spTgt>
                                        </p:tgtEl>
                                        <p:attrNameLst>
                                          <p:attrName>ppt_x</p:attrName>
                                        </p:attrNameLst>
                                      </p:cBhvr>
                                      <p:tavLst>
                                        <p:tav tm="0">
                                          <p:val>
                                            <p:strVal val="#ppt_x"/>
                                          </p:val>
                                        </p:tav>
                                        <p:tav tm="100000">
                                          <p:val>
                                            <p:strVal val="#ppt_x"/>
                                          </p:val>
                                        </p:tav>
                                      </p:tavLst>
                                    </p:anim>
                                    <p:anim calcmode="lin" valueType="num">
                                      <p:cBhvr>
                                        <p:cTn id="63" dur="1000" fill="hold"/>
                                        <p:tgtEl>
                                          <p:spTgt spid="6">
                                            <p:txEl>
                                              <p:pRg st="8" end="8"/>
                                            </p:txEl>
                                          </p:spTgt>
                                        </p:tgtEl>
                                        <p:attrNameLst>
                                          <p:attrName>ppt_y</p:attrName>
                                        </p:attrNameLst>
                                      </p:cBhvr>
                                      <p:tavLst>
                                        <p:tav tm="0">
                                          <p:val>
                                            <p:strVal val="#ppt_y+.1"/>
                                          </p:val>
                                        </p:tav>
                                        <p:tav tm="100000">
                                          <p:val>
                                            <p:strVal val="#ppt_y"/>
                                          </p:val>
                                        </p:tav>
                                      </p:tavLst>
                                    </p:anim>
                                  </p:childTnLst>
                                </p:cTn>
                              </p:par>
                            </p:childTnLst>
                          </p:cTn>
                        </p:par>
                        <p:par>
                          <p:cTn id="64" fill="hold" nodeType="afterGroup">
                            <p:stCondLst>
                              <p:cond delay="1000"/>
                            </p:stCondLst>
                            <p:childTnLst>
                              <p:par>
                                <p:cTn id="65" presetID="53" presetClass="entr" presetSubtype="16" dur="500" fill="hold" nodeType="afterEffect">
                                  <p:stCondLst>
                                    <p:cond delay="0"/>
                                  </p:stCondLst>
                                  <p:childTnLst>
                                    <p:set>
                                      <p:cBhvr>
                                        <p:cTn id="66" dur="1" fill="hold">
                                          <p:stCondLst>
                                            <p:cond delay="0"/>
                                          </p:stCondLst>
                                        </p:cTn>
                                        <p:tgtEl>
                                          <p:spTgt spid="4"/>
                                        </p:tgtEl>
                                        <p:attrNameLst>
                                          <p:attrName>style.visibility</p:attrName>
                                        </p:attrNameLst>
                                      </p:cBhvr>
                                      <p:to>
                                        <p:strVal val="visible"/>
                                      </p:to>
                                    </p:set>
                                    <p:anim calcmode="lin" valueType="num">
                                      <p:cBhvr>
                                        <p:cTn id="67" dur="500" fill="hold"/>
                                        <p:tgtEl>
                                          <p:spTgt spid="4"/>
                                        </p:tgtEl>
                                        <p:attrNameLst>
                                          <p:attrName>ppt_w</p:attrName>
                                        </p:attrNameLst>
                                      </p:cBhvr>
                                      <p:tavLst>
                                        <p:tav tm="0">
                                          <p:val>
                                            <p:fltVal val="0"/>
                                          </p:val>
                                        </p:tav>
                                        <p:tav tm="100000">
                                          <p:val>
                                            <p:strVal val="#ppt_w"/>
                                          </p:val>
                                        </p:tav>
                                      </p:tavLst>
                                    </p:anim>
                                    <p:anim calcmode="lin" valueType="num">
                                      <p:cBhvr>
                                        <p:cTn id="68" dur="500" fill="hold"/>
                                        <p:tgtEl>
                                          <p:spTgt spid="4"/>
                                        </p:tgtEl>
                                        <p:attrNameLst>
                                          <p:attrName>ppt_h</p:attrName>
                                        </p:attrNameLst>
                                      </p:cBhvr>
                                      <p:tavLst>
                                        <p:tav tm="0">
                                          <p:val>
                                            <p:fltVal val="0"/>
                                          </p:val>
                                        </p:tav>
                                        <p:tav tm="100000">
                                          <p:val>
                                            <p:strVal val="#ppt_h"/>
                                          </p:val>
                                        </p:tav>
                                      </p:tavLst>
                                    </p:anim>
                                    <p:animEffect transition="in" filter="fade">
                                      <p:cBhvr>
                                        <p:cTn id="6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rtlCol="1">
            <a:normAutofit fontScale="90000"/>
          </a:bodyPr>
          <a:lstStyle/>
          <a:p>
            <a:pPr fontAlgn="auto">
              <a:spcAft>
                <a:spcPct val="0"/>
              </a:spcAft>
              <a:defRPr/>
            </a:pPr>
            <a:r>
              <a:rPr lang="he-IL" altLang="en-US" u="sng"/>
              <a:t>סכנות בטיפול קרינתי </a:t>
            </a:r>
            <a:r>
              <a:rPr lang="he-IL" u="sng"/>
              <a:t>תאונות ברדיותרפיה - מקרה 1</a:t>
            </a:r>
          </a:p>
        </p:txBody>
      </p:sp>
      <p:sp>
        <p:nvSpPr>
          <p:cNvPr id="6" name="מציין מיקום תוכן 5"/>
          <p:cNvSpPr>
            <a:spLocks noGrp="1"/>
          </p:cNvSpPr>
          <p:nvPr>
            <p:ph idx="1"/>
          </p:nvPr>
        </p:nvSpPr>
        <p:spPr>
          <a:xfrm>
            <a:off x="2789362" y="1600200"/>
            <a:ext cx="6175126" cy="4133055"/>
          </a:xfrm>
          <a:noFill/>
        </p:spPr>
        <p:txBody>
          <a:bodyPr>
            <a:normAutofit fontScale="62500" lnSpcReduction="20000"/>
          </a:bodyPr>
          <a:lstStyle/>
          <a:p>
            <a:r>
              <a:rPr lang="he-IL" sz="2800"/>
              <a:t>הטעות שבגינה ניתנה מנת יתר הייתה:</a:t>
            </a:r>
          </a:p>
          <a:p>
            <a:pPr lvl="1"/>
            <a:r>
              <a:rPr lang="he-IL" sz="2400"/>
              <a:t>בפרוטוקול החישוב הידני של היחידה מחשבים </a:t>
            </a:r>
            <a:r>
              <a:rPr lang="en-US" sz="2400"/>
              <a:t>MU</a:t>
            </a:r>
            <a:r>
              <a:rPr lang="he-IL" sz="2400"/>
              <a:t> ל- </a:t>
            </a:r>
            <a:r>
              <a:rPr lang="en-US" sz="2400"/>
              <a:t>100cGy</a:t>
            </a:r>
            <a:r>
              <a:rPr lang="he-IL" sz="2400"/>
              <a:t> ומזינים את התוצאה למערכת הטיפול  ביחידות של </a:t>
            </a:r>
            <a:r>
              <a:rPr lang="en-US" sz="2400"/>
              <a:t>[MU/100cGy]</a:t>
            </a:r>
            <a:r>
              <a:rPr lang="he-IL" sz="2400"/>
              <a:t>.</a:t>
            </a:r>
            <a:endParaRPr lang="en-US" sz="2400"/>
          </a:p>
          <a:p>
            <a:pPr lvl="1"/>
            <a:r>
              <a:rPr lang="he-IL" sz="2400"/>
              <a:t>עבור השדות של הראש חושבה מנה כוללת של 21 פרקציות ולא 20 אשר נותנת מנה יומית של </a:t>
            </a:r>
            <a:r>
              <a:rPr lang="en-US" sz="2400"/>
              <a:t>167cGy</a:t>
            </a:r>
            <a:r>
              <a:rPr lang="he-IL" sz="2400"/>
              <a:t> ולא </a:t>
            </a:r>
            <a:r>
              <a:rPr lang="en-US" sz="2400"/>
              <a:t>175cGy</a:t>
            </a:r>
            <a:r>
              <a:rPr lang="he-IL" sz="2400"/>
              <a:t> כפי שמופיע במרשם.</a:t>
            </a:r>
          </a:p>
          <a:p>
            <a:pPr lvl="1"/>
            <a:r>
              <a:rPr lang="he-IL" sz="2400"/>
              <a:t>לפי החישוב, התקבלו </a:t>
            </a:r>
            <a:r>
              <a:rPr lang="en-US" sz="2400"/>
              <a:t>91MU</a:t>
            </a:r>
            <a:r>
              <a:rPr lang="he-IL" sz="2400"/>
              <a:t> עבור </a:t>
            </a:r>
            <a:r>
              <a:rPr lang="en-US" sz="2400"/>
              <a:t>167cGy</a:t>
            </a:r>
            <a:r>
              <a:rPr lang="he-IL" sz="2400"/>
              <a:t>. </a:t>
            </a:r>
          </a:p>
          <a:p>
            <a:pPr lvl="1"/>
            <a:r>
              <a:rPr lang="he-IL" sz="2400"/>
              <a:t>ערך זה </a:t>
            </a:r>
            <a:r>
              <a:rPr lang="en-US" sz="2400"/>
              <a:t>91MU</a:t>
            </a:r>
            <a:r>
              <a:rPr lang="he-IL" sz="2400"/>
              <a:t> היה צריך להיות מנורמל ל- </a:t>
            </a:r>
            <a:r>
              <a:rPr lang="en-US" sz="2400"/>
              <a:t>100MU</a:t>
            </a:r>
            <a:r>
              <a:rPr lang="he-IL" sz="2400"/>
              <a:t>. כלומר, </a:t>
            </a:r>
            <a:r>
              <a:rPr lang="en-US" sz="2400"/>
              <a:t> 91MU*100/167=54MU</a:t>
            </a:r>
            <a:r>
              <a:rPr lang="he-IL" sz="2400"/>
              <a:t>.</a:t>
            </a:r>
          </a:p>
          <a:p>
            <a:pPr lvl="1"/>
            <a:r>
              <a:rPr lang="he-IL" sz="2400"/>
              <a:t>הנרמול לא בוצע ולמערכת הטיפול הוזנו </a:t>
            </a:r>
            <a:r>
              <a:rPr lang="en-US" sz="2400"/>
              <a:t>91MU</a:t>
            </a:r>
            <a:r>
              <a:rPr lang="he-IL" sz="2400"/>
              <a:t> במקום </a:t>
            </a:r>
            <a:r>
              <a:rPr lang="en-US" sz="2400"/>
              <a:t>54MU</a:t>
            </a:r>
            <a:r>
              <a:rPr lang="he-IL" sz="2400"/>
              <a:t>.</a:t>
            </a:r>
          </a:p>
          <a:p>
            <a:r>
              <a:rPr lang="he-IL" sz="2800"/>
              <a:t>הטעות התגלתה כאשר המתכנן ביצע את אותה שגיאה עבור טיפול אחר שתכנן.</a:t>
            </a:r>
          </a:p>
          <a:p>
            <a:r>
              <a:rPr lang="he-IL" sz="2800"/>
              <a:t>עד שהתגלתה הטעות, היא קיבלה 19 טיפולים מתוך 20 ומנה כוללת של </a:t>
            </a:r>
            <a:r>
              <a:rPr lang="en-US" sz="2800"/>
              <a:t>55.5Gy</a:t>
            </a:r>
            <a:r>
              <a:rPr lang="he-IL" sz="2800"/>
              <a:t> במקום לקבל </a:t>
            </a:r>
            <a:r>
              <a:rPr lang="en-US" sz="2800"/>
              <a:t>35Gy</a:t>
            </a:r>
            <a:r>
              <a:rPr lang="he-IL" sz="2800"/>
              <a:t> (</a:t>
            </a:r>
            <a:r>
              <a:rPr lang="en-US" sz="2800"/>
              <a:t>158.6%</a:t>
            </a:r>
            <a:r>
              <a:rPr lang="he-IL" sz="2800"/>
              <a:t>).</a:t>
            </a:r>
            <a:endParaRPr lang="en-US" sz="2800"/>
          </a:p>
          <a:p>
            <a:r>
              <a:rPr lang="he-IL" sz="2800" b="1">
                <a:solidFill>
                  <a:srgbClr val="FF0000"/>
                </a:solidFill>
                <a:effectLst>
                  <a:outerShdw blurRad="38100" dist="38100" dir="2700000" algn="tl">
                    <a:srgbClr val="000000">
                      <a:alpha val="43137"/>
                    </a:srgbClr>
                  </a:outerShdw>
                </a:effectLst>
              </a:rPr>
              <a:t>היא מתה 9 חודשים לאחר הטיפול.</a:t>
            </a:r>
          </a:p>
          <a:p>
            <a:r>
              <a:rPr lang="he-IL" sz="2800" b="1">
                <a:solidFill>
                  <a:srgbClr val="FF0000"/>
                </a:solidFill>
                <a:effectLst>
                  <a:outerShdw blurRad="38100" dist="38100" dir="2700000" algn="tl">
                    <a:srgbClr val="000000">
                      <a:alpha val="43137"/>
                    </a:srgbClr>
                  </a:outerShdw>
                </a:effectLst>
              </a:rPr>
              <a:t>המקרה סוקר נרחבות בעיתונות הבריטית ודוח החקירה המלא של המקרה הפך ציבורי.</a:t>
            </a:r>
          </a:p>
        </p:txBody>
      </p:sp>
      <p:pic>
        <p:nvPicPr>
          <p:cNvPr id="8" name="תמונה 7">
            <a:extLst>
              <a:ext uri="{FF2B5EF4-FFF2-40B4-BE49-F238E27FC236}">
                <a16:creationId xmlns:a16="http://schemas.microsoft.com/office/drawing/2014/main" id="{D0DF9892-2B71-3245-0ABC-815F04B045BF}"/>
              </a:ext>
            </a:extLst>
          </p:cNvPr>
          <p:cNvPicPr>
            <a:picLocks noChangeAspect="1"/>
          </p:cNvPicPr>
          <p:nvPr/>
        </p:nvPicPr>
        <p:blipFill>
          <a:blip r:embed="rId2"/>
          <a:stretch>
            <a:fillRect/>
          </a:stretch>
        </p:blipFill>
        <p:spPr>
          <a:xfrm>
            <a:off x="107504" y="1766292"/>
            <a:ext cx="2609850" cy="3390900"/>
          </a:xfrm>
          <a:prstGeom prst="rect">
            <a:avLst/>
          </a:prstGeom>
        </p:spPr>
      </p:pic>
    </p:spTree>
    <p:extLst>
      <p:ext uri="{BB962C8B-B14F-4D97-AF65-F5344CB8AC3E}">
        <p14:creationId xmlns:p14="http://schemas.microsoft.com/office/powerpoint/2010/main" val="18653568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42" presetClass="entr" presetSubtype="0" dur="1000" fill="hold" grpId="0"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1000"/>
                                        <p:tgtEl>
                                          <p:spTgt spid="6">
                                            <p:txEl>
                                              <p:pRg st="0" end="0"/>
                                            </p:txEl>
                                          </p:spTgt>
                                        </p:tgtEl>
                                      </p:cBhvr>
                                    </p:animEffect>
                                    <p:anim calcmode="lin" valueType="num">
                                      <p:cBhvr>
                                        <p:cTn id="8"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par>
                          <p:cTn id="10" fill="hold" nodeType="afterGroup">
                            <p:stCondLst>
                              <p:cond delay="1000"/>
                            </p:stCondLst>
                            <p:childTnLst>
                              <p:par>
                                <p:cTn id="11" presetID="42" presetClass="entr" presetSubtype="0" dur="1000" fill="hold" grpId="0" nodeType="after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animEffect transition="in" filter="fade">
                                      <p:cBhvr>
                                        <p:cTn id="13" dur="1000"/>
                                        <p:tgtEl>
                                          <p:spTgt spid="6">
                                            <p:txEl>
                                              <p:pRg st="1" end="1"/>
                                            </p:txEl>
                                          </p:spTgt>
                                        </p:tgtEl>
                                      </p:cBhvr>
                                    </p:animEffect>
                                    <p:anim calcmode="lin" valueType="num">
                                      <p:cBhvr>
                                        <p:cTn id="14"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15"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par>
                          <p:cTn id="16" fill="hold" nodeType="afterGroup">
                            <p:stCondLst>
                              <p:cond delay="2000"/>
                            </p:stCondLst>
                            <p:childTnLst>
                              <p:par>
                                <p:cTn id="17" presetID="42" presetClass="entr" presetSubtype="0" dur="1000" fill="hold" grpId="0" nodeType="after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animEffect transition="in" filter="fade">
                                      <p:cBhvr>
                                        <p:cTn id="19" dur="1000"/>
                                        <p:tgtEl>
                                          <p:spTgt spid="6">
                                            <p:txEl>
                                              <p:pRg st="2" end="2"/>
                                            </p:txEl>
                                          </p:spTgt>
                                        </p:tgtEl>
                                      </p:cBhvr>
                                    </p:animEffect>
                                    <p:anim calcmode="lin" valueType="num">
                                      <p:cBhvr>
                                        <p:cTn id="20"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par>
                          <p:cTn id="22" fill="hold" nodeType="afterGroup">
                            <p:stCondLst>
                              <p:cond delay="3000"/>
                            </p:stCondLst>
                            <p:childTnLst>
                              <p:par>
                                <p:cTn id="23" presetID="42" presetClass="entr" presetSubtype="0" dur="1000" fill="hold" grpId="0" nodeType="afterEffect">
                                  <p:stCondLst>
                                    <p:cond delay="0"/>
                                  </p:stCondLst>
                                  <p:childTnLst>
                                    <p:set>
                                      <p:cBhvr>
                                        <p:cTn id="24" dur="1" fill="hold">
                                          <p:stCondLst>
                                            <p:cond delay="0"/>
                                          </p:stCondLst>
                                        </p:cTn>
                                        <p:tgtEl>
                                          <p:spTgt spid="6">
                                            <p:txEl>
                                              <p:pRg st="3" end="3"/>
                                            </p:txEl>
                                          </p:spTgt>
                                        </p:tgtEl>
                                        <p:attrNameLst>
                                          <p:attrName>style.visibility</p:attrName>
                                        </p:attrNameLst>
                                      </p:cBhvr>
                                      <p:to>
                                        <p:strVal val="visible"/>
                                      </p:to>
                                    </p:set>
                                    <p:animEffect transition="in" filter="fade">
                                      <p:cBhvr>
                                        <p:cTn id="25" dur="1000"/>
                                        <p:tgtEl>
                                          <p:spTgt spid="6">
                                            <p:txEl>
                                              <p:pRg st="3" end="3"/>
                                            </p:txEl>
                                          </p:spTgt>
                                        </p:tgtEl>
                                      </p:cBhvr>
                                    </p:animEffect>
                                    <p:anim calcmode="lin" valueType="num">
                                      <p:cBhvr>
                                        <p:cTn id="26"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27" dur="1000" fill="hold"/>
                                        <p:tgtEl>
                                          <p:spTgt spid="6">
                                            <p:txEl>
                                              <p:pRg st="3" end="3"/>
                                            </p:txEl>
                                          </p:spTgt>
                                        </p:tgtEl>
                                        <p:attrNameLst>
                                          <p:attrName>ppt_y</p:attrName>
                                        </p:attrNameLst>
                                      </p:cBhvr>
                                      <p:tavLst>
                                        <p:tav tm="0">
                                          <p:val>
                                            <p:strVal val="#ppt_y+.1"/>
                                          </p:val>
                                        </p:tav>
                                        <p:tav tm="100000">
                                          <p:val>
                                            <p:strVal val="#ppt_y"/>
                                          </p:val>
                                        </p:tav>
                                      </p:tavLst>
                                    </p:anim>
                                  </p:childTnLst>
                                </p:cTn>
                              </p:par>
                            </p:childTnLst>
                          </p:cTn>
                        </p:par>
                        <p:par>
                          <p:cTn id="28" fill="hold" nodeType="afterGroup">
                            <p:stCondLst>
                              <p:cond delay="4000"/>
                            </p:stCondLst>
                            <p:childTnLst>
                              <p:par>
                                <p:cTn id="29" presetID="42" presetClass="entr" presetSubtype="0" dur="1000" fill="hold" grpId="0" nodeType="afterEffect">
                                  <p:stCondLst>
                                    <p:cond delay="0"/>
                                  </p:stCondLst>
                                  <p:childTnLst>
                                    <p:set>
                                      <p:cBhvr>
                                        <p:cTn id="30" dur="1" fill="hold">
                                          <p:stCondLst>
                                            <p:cond delay="0"/>
                                          </p:stCondLst>
                                        </p:cTn>
                                        <p:tgtEl>
                                          <p:spTgt spid="6">
                                            <p:txEl>
                                              <p:pRg st="4" end="4"/>
                                            </p:txEl>
                                          </p:spTgt>
                                        </p:tgtEl>
                                        <p:attrNameLst>
                                          <p:attrName>style.visibility</p:attrName>
                                        </p:attrNameLst>
                                      </p:cBhvr>
                                      <p:to>
                                        <p:strVal val="visible"/>
                                      </p:to>
                                    </p:set>
                                    <p:animEffect transition="in" filter="fade">
                                      <p:cBhvr>
                                        <p:cTn id="31" dur="1000"/>
                                        <p:tgtEl>
                                          <p:spTgt spid="6">
                                            <p:txEl>
                                              <p:pRg st="4" end="4"/>
                                            </p:txEl>
                                          </p:spTgt>
                                        </p:tgtEl>
                                      </p:cBhvr>
                                    </p:animEffect>
                                    <p:anim calcmode="lin" valueType="num">
                                      <p:cBhvr>
                                        <p:cTn id="32"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33" dur="1000" fill="hold"/>
                                        <p:tgtEl>
                                          <p:spTgt spid="6">
                                            <p:txEl>
                                              <p:pRg st="4" end="4"/>
                                            </p:txEl>
                                          </p:spTgt>
                                        </p:tgtEl>
                                        <p:attrNameLst>
                                          <p:attrName>ppt_y</p:attrName>
                                        </p:attrNameLst>
                                      </p:cBhvr>
                                      <p:tavLst>
                                        <p:tav tm="0">
                                          <p:val>
                                            <p:strVal val="#ppt_y+.1"/>
                                          </p:val>
                                        </p:tav>
                                        <p:tav tm="100000">
                                          <p:val>
                                            <p:strVal val="#ppt_y"/>
                                          </p:val>
                                        </p:tav>
                                      </p:tavLst>
                                    </p:anim>
                                  </p:childTnLst>
                                </p:cTn>
                              </p:par>
                            </p:childTnLst>
                          </p:cTn>
                        </p:par>
                        <p:par>
                          <p:cTn id="34" fill="hold" nodeType="afterGroup">
                            <p:stCondLst>
                              <p:cond delay="5000"/>
                            </p:stCondLst>
                            <p:childTnLst>
                              <p:par>
                                <p:cTn id="35" presetID="42" presetClass="entr" presetSubtype="0" dur="1000" fill="hold" grpId="0" nodeType="afterEffect">
                                  <p:stCondLst>
                                    <p:cond delay="0"/>
                                  </p:stCondLst>
                                  <p:childTnLst>
                                    <p:set>
                                      <p:cBhvr>
                                        <p:cTn id="36" dur="1" fill="hold">
                                          <p:stCondLst>
                                            <p:cond delay="0"/>
                                          </p:stCondLst>
                                        </p:cTn>
                                        <p:tgtEl>
                                          <p:spTgt spid="6">
                                            <p:txEl>
                                              <p:pRg st="5" end="5"/>
                                            </p:txEl>
                                          </p:spTgt>
                                        </p:tgtEl>
                                        <p:attrNameLst>
                                          <p:attrName>style.visibility</p:attrName>
                                        </p:attrNameLst>
                                      </p:cBhvr>
                                      <p:to>
                                        <p:strVal val="visible"/>
                                      </p:to>
                                    </p:set>
                                    <p:animEffect transition="in" filter="fade">
                                      <p:cBhvr>
                                        <p:cTn id="37" dur="1000"/>
                                        <p:tgtEl>
                                          <p:spTgt spid="6">
                                            <p:txEl>
                                              <p:pRg st="5" end="5"/>
                                            </p:txEl>
                                          </p:spTgt>
                                        </p:tgtEl>
                                      </p:cBhvr>
                                    </p:animEffect>
                                    <p:anim calcmode="lin" valueType="num">
                                      <p:cBhvr>
                                        <p:cTn id="38" dur="1000" fill="hold"/>
                                        <p:tgtEl>
                                          <p:spTgt spid="6">
                                            <p:txEl>
                                              <p:pRg st="5" end="5"/>
                                            </p:txEl>
                                          </p:spTgt>
                                        </p:tgtEl>
                                        <p:attrNameLst>
                                          <p:attrName>ppt_x</p:attrName>
                                        </p:attrNameLst>
                                      </p:cBhvr>
                                      <p:tavLst>
                                        <p:tav tm="0">
                                          <p:val>
                                            <p:strVal val="#ppt_x"/>
                                          </p:val>
                                        </p:tav>
                                        <p:tav tm="100000">
                                          <p:val>
                                            <p:strVal val="#ppt_x"/>
                                          </p:val>
                                        </p:tav>
                                      </p:tavLst>
                                    </p:anim>
                                    <p:anim calcmode="lin" valueType="num">
                                      <p:cBhvr>
                                        <p:cTn id="39" dur="1000" fill="hold"/>
                                        <p:tgtEl>
                                          <p:spTgt spid="6">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0" fill="hold" nodeType="clickPar">
                      <p:stCondLst>
                        <p:cond delay="indefinite"/>
                        <p:cond evt="onBegin" delay="0">
                          <p:tn val="39"/>
                        </p:cond>
                      </p:stCondLst>
                      <p:childTnLst>
                        <p:par>
                          <p:cTn id="41" fill="hold">
                            <p:stCondLst>
                              <p:cond delay="0"/>
                            </p:stCondLst>
                            <p:childTnLst>
                              <p:par>
                                <p:cTn id="42" presetID="42" presetClass="entr" presetSubtype="0" dur="1000" fill="hold" grpId="0" nodeType="clickEffect">
                                  <p:stCondLst>
                                    <p:cond delay="0"/>
                                  </p:stCondLst>
                                  <p:childTnLst>
                                    <p:set>
                                      <p:cBhvr>
                                        <p:cTn id="43" dur="1" fill="hold">
                                          <p:stCondLst>
                                            <p:cond delay="0"/>
                                          </p:stCondLst>
                                        </p:cTn>
                                        <p:tgtEl>
                                          <p:spTgt spid="6">
                                            <p:txEl>
                                              <p:pRg st="6" end="6"/>
                                            </p:txEl>
                                          </p:spTgt>
                                        </p:tgtEl>
                                        <p:attrNameLst>
                                          <p:attrName>style.visibility</p:attrName>
                                        </p:attrNameLst>
                                      </p:cBhvr>
                                      <p:to>
                                        <p:strVal val="visible"/>
                                      </p:to>
                                    </p:set>
                                    <p:animEffect transition="in" filter="fade">
                                      <p:cBhvr>
                                        <p:cTn id="44" dur="1000"/>
                                        <p:tgtEl>
                                          <p:spTgt spid="6">
                                            <p:txEl>
                                              <p:pRg st="6" end="6"/>
                                            </p:txEl>
                                          </p:spTgt>
                                        </p:tgtEl>
                                      </p:cBhvr>
                                    </p:animEffect>
                                    <p:anim calcmode="lin" valueType="num">
                                      <p:cBhvr>
                                        <p:cTn id="45" dur="1000" fill="hold"/>
                                        <p:tgtEl>
                                          <p:spTgt spid="6">
                                            <p:txEl>
                                              <p:pRg st="6" end="6"/>
                                            </p:txEl>
                                          </p:spTgt>
                                        </p:tgtEl>
                                        <p:attrNameLst>
                                          <p:attrName>ppt_x</p:attrName>
                                        </p:attrNameLst>
                                      </p:cBhvr>
                                      <p:tavLst>
                                        <p:tav tm="0">
                                          <p:val>
                                            <p:strVal val="#ppt_x"/>
                                          </p:val>
                                        </p:tav>
                                        <p:tav tm="100000">
                                          <p:val>
                                            <p:strVal val="#ppt_x"/>
                                          </p:val>
                                        </p:tav>
                                      </p:tavLst>
                                    </p:anim>
                                    <p:anim calcmode="lin" valueType="num">
                                      <p:cBhvr>
                                        <p:cTn id="46" dur="1000" fill="hold"/>
                                        <p:tgtEl>
                                          <p:spTgt spid="6">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7" fill="hold" nodeType="clickPar">
                      <p:stCondLst>
                        <p:cond delay="indefinite"/>
                        <p:cond evt="onBegin" delay="0">
                          <p:tn val="46"/>
                        </p:cond>
                      </p:stCondLst>
                      <p:childTnLst>
                        <p:par>
                          <p:cTn id="48" fill="hold">
                            <p:stCondLst>
                              <p:cond delay="0"/>
                            </p:stCondLst>
                            <p:childTnLst>
                              <p:par>
                                <p:cTn id="49" presetID="42" presetClass="entr" presetSubtype="0" dur="1000" fill="hold" grpId="0" nodeType="clickEffect">
                                  <p:stCondLst>
                                    <p:cond delay="0"/>
                                  </p:stCondLst>
                                  <p:childTnLst>
                                    <p:set>
                                      <p:cBhvr>
                                        <p:cTn id="50" dur="1" fill="hold">
                                          <p:stCondLst>
                                            <p:cond delay="0"/>
                                          </p:stCondLst>
                                        </p:cTn>
                                        <p:tgtEl>
                                          <p:spTgt spid="6">
                                            <p:txEl>
                                              <p:pRg st="7" end="7"/>
                                            </p:txEl>
                                          </p:spTgt>
                                        </p:tgtEl>
                                        <p:attrNameLst>
                                          <p:attrName>style.visibility</p:attrName>
                                        </p:attrNameLst>
                                      </p:cBhvr>
                                      <p:to>
                                        <p:strVal val="visible"/>
                                      </p:to>
                                    </p:set>
                                    <p:animEffect transition="in" filter="fade">
                                      <p:cBhvr>
                                        <p:cTn id="51" dur="1000"/>
                                        <p:tgtEl>
                                          <p:spTgt spid="6">
                                            <p:txEl>
                                              <p:pRg st="7" end="7"/>
                                            </p:txEl>
                                          </p:spTgt>
                                        </p:tgtEl>
                                      </p:cBhvr>
                                    </p:animEffect>
                                    <p:anim calcmode="lin" valueType="num">
                                      <p:cBhvr>
                                        <p:cTn id="52" dur="1000" fill="hold"/>
                                        <p:tgtEl>
                                          <p:spTgt spid="6">
                                            <p:txEl>
                                              <p:pRg st="7" end="7"/>
                                            </p:txEl>
                                          </p:spTgt>
                                        </p:tgtEl>
                                        <p:attrNameLst>
                                          <p:attrName>ppt_x</p:attrName>
                                        </p:attrNameLst>
                                      </p:cBhvr>
                                      <p:tavLst>
                                        <p:tav tm="0">
                                          <p:val>
                                            <p:strVal val="#ppt_x"/>
                                          </p:val>
                                        </p:tav>
                                        <p:tav tm="100000">
                                          <p:val>
                                            <p:strVal val="#ppt_x"/>
                                          </p:val>
                                        </p:tav>
                                      </p:tavLst>
                                    </p:anim>
                                    <p:anim calcmode="lin" valueType="num">
                                      <p:cBhvr>
                                        <p:cTn id="53" dur="1000" fill="hold"/>
                                        <p:tgtEl>
                                          <p:spTgt spid="6">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4" fill="hold" nodeType="clickPar">
                      <p:stCondLst>
                        <p:cond delay="indefinite"/>
                        <p:cond evt="onBegin" delay="0">
                          <p:tn val="53"/>
                        </p:cond>
                      </p:stCondLst>
                      <p:childTnLst>
                        <p:par>
                          <p:cTn id="55" fill="hold">
                            <p:stCondLst>
                              <p:cond delay="0"/>
                            </p:stCondLst>
                            <p:childTnLst>
                              <p:par>
                                <p:cTn id="56" presetID="42" presetClass="entr" presetSubtype="0" dur="1000" fill="hold" grpId="0" nodeType="clickEffect">
                                  <p:stCondLst>
                                    <p:cond delay="0"/>
                                  </p:stCondLst>
                                  <p:childTnLst>
                                    <p:set>
                                      <p:cBhvr>
                                        <p:cTn id="57" dur="1" fill="hold">
                                          <p:stCondLst>
                                            <p:cond delay="0"/>
                                          </p:stCondLst>
                                        </p:cTn>
                                        <p:tgtEl>
                                          <p:spTgt spid="6">
                                            <p:txEl>
                                              <p:pRg st="8" end="8"/>
                                            </p:txEl>
                                          </p:spTgt>
                                        </p:tgtEl>
                                        <p:attrNameLst>
                                          <p:attrName>style.visibility</p:attrName>
                                        </p:attrNameLst>
                                      </p:cBhvr>
                                      <p:to>
                                        <p:strVal val="visible"/>
                                      </p:to>
                                    </p:set>
                                    <p:animEffect transition="in" filter="fade">
                                      <p:cBhvr>
                                        <p:cTn id="58" dur="1000"/>
                                        <p:tgtEl>
                                          <p:spTgt spid="6">
                                            <p:txEl>
                                              <p:pRg st="8" end="8"/>
                                            </p:txEl>
                                          </p:spTgt>
                                        </p:tgtEl>
                                      </p:cBhvr>
                                    </p:animEffect>
                                    <p:anim calcmode="lin" valueType="num">
                                      <p:cBhvr>
                                        <p:cTn id="59" dur="1000" fill="hold"/>
                                        <p:tgtEl>
                                          <p:spTgt spid="6">
                                            <p:txEl>
                                              <p:pRg st="8" end="8"/>
                                            </p:txEl>
                                          </p:spTgt>
                                        </p:tgtEl>
                                        <p:attrNameLst>
                                          <p:attrName>ppt_x</p:attrName>
                                        </p:attrNameLst>
                                      </p:cBhvr>
                                      <p:tavLst>
                                        <p:tav tm="0">
                                          <p:val>
                                            <p:strVal val="#ppt_x"/>
                                          </p:val>
                                        </p:tav>
                                        <p:tav tm="100000">
                                          <p:val>
                                            <p:strVal val="#ppt_x"/>
                                          </p:val>
                                        </p:tav>
                                      </p:tavLst>
                                    </p:anim>
                                    <p:anim calcmode="lin" valueType="num">
                                      <p:cBhvr>
                                        <p:cTn id="60" dur="1000" fill="hold"/>
                                        <p:tgtEl>
                                          <p:spTgt spid="6">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61" fill="hold" nodeType="clickPar">
                      <p:stCondLst>
                        <p:cond delay="indefinite"/>
                        <p:cond evt="onBegin" delay="0">
                          <p:tn val="60"/>
                        </p:cond>
                      </p:stCondLst>
                      <p:childTnLst>
                        <p:par>
                          <p:cTn id="62" fill="hold">
                            <p:stCondLst>
                              <p:cond delay="0"/>
                            </p:stCondLst>
                            <p:childTnLst>
                              <p:par>
                                <p:cTn id="63" presetID="42" presetClass="entr" presetSubtype="0" dur="1000" fill="hold" grpId="0" nodeType="clickEffect">
                                  <p:stCondLst>
                                    <p:cond delay="0"/>
                                  </p:stCondLst>
                                  <p:childTnLst>
                                    <p:set>
                                      <p:cBhvr>
                                        <p:cTn id="64" dur="1" fill="hold">
                                          <p:stCondLst>
                                            <p:cond delay="0"/>
                                          </p:stCondLst>
                                        </p:cTn>
                                        <p:tgtEl>
                                          <p:spTgt spid="6">
                                            <p:txEl>
                                              <p:pRg st="9" end="9"/>
                                            </p:txEl>
                                          </p:spTgt>
                                        </p:tgtEl>
                                        <p:attrNameLst>
                                          <p:attrName>style.visibility</p:attrName>
                                        </p:attrNameLst>
                                      </p:cBhvr>
                                      <p:to>
                                        <p:strVal val="visible"/>
                                      </p:to>
                                    </p:set>
                                    <p:animEffect transition="in" filter="fade">
                                      <p:cBhvr>
                                        <p:cTn id="65" dur="1000"/>
                                        <p:tgtEl>
                                          <p:spTgt spid="6">
                                            <p:txEl>
                                              <p:pRg st="9" end="9"/>
                                            </p:txEl>
                                          </p:spTgt>
                                        </p:tgtEl>
                                      </p:cBhvr>
                                    </p:animEffect>
                                    <p:anim calcmode="lin" valueType="num">
                                      <p:cBhvr>
                                        <p:cTn id="66" dur="1000" fill="hold"/>
                                        <p:tgtEl>
                                          <p:spTgt spid="6">
                                            <p:txEl>
                                              <p:pRg st="9" end="9"/>
                                            </p:txEl>
                                          </p:spTgt>
                                        </p:tgtEl>
                                        <p:attrNameLst>
                                          <p:attrName>ppt_x</p:attrName>
                                        </p:attrNameLst>
                                      </p:cBhvr>
                                      <p:tavLst>
                                        <p:tav tm="0">
                                          <p:val>
                                            <p:strVal val="#ppt_x"/>
                                          </p:val>
                                        </p:tav>
                                        <p:tav tm="100000">
                                          <p:val>
                                            <p:strVal val="#ppt_x"/>
                                          </p:val>
                                        </p:tav>
                                      </p:tavLst>
                                    </p:anim>
                                    <p:anim calcmode="lin" valueType="num">
                                      <p:cBhvr>
                                        <p:cTn id="67" dur="1000" fill="hold"/>
                                        <p:tgtEl>
                                          <p:spTgt spid="6">
                                            <p:txEl>
                                              <p:pRg st="9" end="9"/>
                                            </p:txEl>
                                          </p:spTgt>
                                        </p:tgtEl>
                                        <p:attrNameLst>
                                          <p:attrName>ppt_y</p:attrName>
                                        </p:attrNameLst>
                                      </p:cBhvr>
                                      <p:tavLst>
                                        <p:tav tm="0">
                                          <p:val>
                                            <p:strVal val="#ppt_y+.1"/>
                                          </p:val>
                                        </p:tav>
                                        <p:tav tm="100000">
                                          <p:val>
                                            <p:strVal val="#ppt_y"/>
                                          </p:val>
                                        </p:tav>
                                      </p:tavLst>
                                    </p:anim>
                                  </p:childTnLst>
                                </p:cTn>
                              </p:par>
                            </p:childTnLst>
                          </p:cTn>
                        </p:par>
                        <p:par>
                          <p:cTn id="68" fill="hold" nodeType="afterGroup">
                            <p:stCondLst>
                              <p:cond delay="1000"/>
                            </p:stCondLst>
                            <p:childTnLst>
                              <p:par>
                                <p:cTn id="69" presetID="1" presetClass="entr" presetSubtype="0" dur="1" fill="hold" nodeType="afterEffect">
                                  <p:stCondLst>
                                    <p:cond delay="0"/>
                                  </p:stCondLst>
                                  <p:childTnLst>
                                    <p:set>
                                      <p:cBhvr>
                                        <p:cTn id="7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rtlCol="1">
            <a:normAutofit fontScale="90000"/>
          </a:bodyPr>
          <a:lstStyle/>
          <a:p>
            <a:pPr fontAlgn="auto">
              <a:spcAft>
                <a:spcPct val="0"/>
              </a:spcAft>
              <a:defRPr/>
            </a:pPr>
            <a:r>
              <a:rPr lang="he-IL" altLang="en-US" u="sng"/>
              <a:t>סכנות בטיפול קרינתי </a:t>
            </a:r>
            <a:r>
              <a:rPr lang="he-IL" u="sng"/>
              <a:t>תאונות ברדיותרפיה - מקרה 2</a:t>
            </a:r>
          </a:p>
        </p:txBody>
      </p:sp>
      <p:sp>
        <p:nvSpPr>
          <p:cNvPr id="6" name="מציין מיקום תוכן 5"/>
          <p:cNvSpPr>
            <a:spLocks noGrp="1"/>
          </p:cNvSpPr>
          <p:nvPr>
            <p:ph idx="1"/>
          </p:nvPr>
        </p:nvSpPr>
        <p:spPr>
          <a:xfrm>
            <a:off x="374848" y="1772816"/>
            <a:ext cx="8229600" cy="4392488"/>
          </a:xfrm>
          <a:noFill/>
          <a:ln>
            <a:noFill/>
          </a:ln>
        </p:spPr>
        <p:txBody>
          <a:bodyPr>
            <a:normAutofit fontScale="92500" lnSpcReduction="20000"/>
          </a:bodyPr>
          <a:lstStyle/>
          <a:p>
            <a:r>
              <a:rPr lang="he-IL" sz="2800"/>
              <a:t>טעות חישוב בבריטניה </a:t>
            </a:r>
            <a:r>
              <a:rPr lang="en-US" sz="2800"/>
              <a:t>1982-1991</a:t>
            </a:r>
            <a:r>
              <a:rPr lang="he-IL" sz="2800"/>
              <a:t> במעבר ממערכת חישוב ידנית למערכת חישוב ממוחשבת.</a:t>
            </a:r>
          </a:p>
          <a:p>
            <a:r>
              <a:rPr lang="he-IL" sz="2800"/>
              <a:t>בחישוב הידני עבור טיפולים ב- </a:t>
            </a:r>
            <a:r>
              <a:rPr lang="en-US" sz="2800"/>
              <a:t>Extended SSD</a:t>
            </a:r>
            <a:r>
              <a:rPr lang="he-IL" sz="2800"/>
              <a:t>, בוצע חישוב מנה והכפלה בפקטור לצורך תיקון מרחק הטיפול השונה מ- </a:t>
            </a:r>
            <a:r>
              <a:rPr lang="en-US" sz="2800"/>
              <a:t>SSD=100cm</a:t>
            </a:r>
            <a:r>
              <a:rPr lang="he-IL" sz="2800"/>
              <a:t>.</a:t>
            </a:r>
          </a:p>
          <a:p>
            <a:r>
              <a:rPr lang="he-IL" sz="2800"/>
              <a:t>במערכת החדשה, החישוב בוצע באמצעות המערכת הממוחשבת.</a:t>
            </a:r>
          </a:p>
          <a:p>
            <a:r>
              <a:rPr lang="he-IL" sz="2800"/>
              <a:t>הפיזיקאים הכפילו את הפקטור כפי שנהגו במערכת הישנה</a:t>
            </a:r>
          </a:p>
          <a:p>
            <a:r>
              <a:rPr lang="he-IL" sz="2800"/>
              <a:t>התוצאה היא שבמהלך כמעט 9 שנים מטופלים קיבלו תת-מנה בטווח שבין 5%-35%.</a:t>
            </a:r>
            <a:endParaRPr lang="en-US" sz="2800"/>
          </a:p>
          <a:p>
            <a:r>
              <a:rPr lang="he-IL" sz="2800"/>
              <a:t>השגיאה בחישוב התגלתה כאשר נרכשה מערכת טיפול חדשה בשנת 1991 ומצאו חוסר התאמה בתוצאות החישוב.</a:t>
            </a:r>
            <a:endParaRPr lang="en-US" sz="2800"/>
          </a:p>
        </p:txBody>
      </p:sp>
    </p:spTree>
    <p:extLst>
      <p:ext uri="{BB962C8B-B14F-4D97-AF65-F5344CB8AC3E}">
        <p14:creationId xmlns:p14="http://schemas.microsoft.com/office/powerpoint/2010/main" val="353998894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 presetClass="entr" presetSubtype="4" dur="500" fill="hold" grpId="0"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4" dur="500" fill="hold" grpId="0" nodeType="afterEffect">
                                  <p:stCondLst>
                                    <p:cond delay="500"/>
                                  </p:stCondLst>
                                  <p:childTnLst>
                                    <p:set>
                                      <p:cBhvr>
                                        <p:cTn id="11" dur="1" fill="hold">
                                          <p:stCondLst>
                                            <p:cond delay="0"/>
                                          </p:stCondLst>
                                        </p:cTn>
                                        <p:tgtEl>
                                          <p:spTgt spid="6">
                                            <p:txEl>
                                              <p:pRg st="1" end="1"/>
                                            </p:txEl>
                                          </p:spTgt>
                                        </p:tgtEl>
                                        <p:attrNameLst>
                                          <p:attrName>style.visibility</p:attrName>
                                        </p:attrNameLst>
                                      </p:cBhvr>
                                      <p:to>
                                        <p:strVal val="visible"/>
                                      </p:to>
                                    </p:set>
                                    <p:anim calcmode="lin" valueType="num">
                                      <p:cBhvr additive="base">
                                        <p:cTn id="12"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par>
                          <p:cTn id="14" fill="hold" nodeType="afterGroup">
                            <p:stCondLst>
                              <p:cond delay="1500"/>
                            </p:stCondLst>
                            <p:childTnLst>
                              <p:par>
                                <p:cTn id="15" presetID="2" presetClass="entr" presetSubtype="4" dur="500" fill="hold" grpId="0" nodeType="afterEffect">
                                  <p:stCondLst>
                                    <p:cond delay="500"/>
                                  </p:stCondLst>
                                  <p:childTnLst>
                                    <p:set>
                                      <p:cBhvr>
                                        <p:cTn id="16" dur="1" fill="hold">
                                          <p:stCondLst>
                                            <p:cond delay="0"/>
                                          </p:stCondLst>
                                        </p:cTn>
                                        <p:tgtEl>
                                          <p:spTgt spid="6">
                                            <p:txEl>
                                              <p:pRg st="2" end="2"/>
                                            </p:txEl>
                                          </p:spTgt>
                                        </p:tgtEl>
                                        <p:attrNameLst>
                                          <p:attrName>style.visibility</p:attrName>
                                        </p:attrNameLst>
                                      </p:cBhvr>
                                      <p:to>
                                        <p:strVal val="visible"/>
                                      </p:to>
                                    </p:set>
                                    <p:anim calcmode="lin" valueType="num">
                                      <p:cBhvr additive="base">
                                        <p:cTn id="17"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par>
                          <p:cTn id="19" fill="hold" nodeType="afterGroup">
                            <p:stCondLst>
                              <p:cond delay="2500"/>
                            </p:stCondLst>
                            <p:childTnLst>
                              <p:par>
                                <p:cTn id="20" presetID="2" presetClass="entr" presetSubtype="4" dur="500" fill="hold" grpId="0" nodeType="afterEffect">
                                  <p:stCondLst>
                                    <p:cond delay="500"/>
                                  </p:stCondLst>
                                  <p:childTnLst>
                                    <p:set>
                                      <p:cBhvr>
                                        <p:cTn id="21" dur="1" fill="hold">
                                          <p:stCondLst>
                                            <p:cond delay="0"/>
                                          </p:stCondLst>
                                        </p:cTn>
                                        <p:tgtEl>
                                          <p:spTgt spid="6">
                                            <p:txEl>
                                              <p:pRg st="3" end="3"/>
                                            </p:txEl>
                                          </p:spTgt>
                                        </p:tgtEl>
                                        <p:attrNameLst>
                                          <p:attrName>style.visibility</p:attrName>
                                        </p:attrNameLst>
                                      </p:cBhvr>
                                      <p:to>
                                        <p:strVal val="visible"/>
                                      </p:to>
                                    </p:set>
                                    <p:anim calcmode="lin" valueType="num">
                                      <p:cBhvr additive="base">
                                        <p:cTn id="22"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6">
                                            <p:txEl>
                                              <p:pRg st="3" end="3"/>
                                            </p:txEl>
                                          </p:spTgt>
                                        </p:tgtEl>
                                        <p:attrNameLst>
                                          <p:attrName>ppt_y</p:attrName>
                                        </p:attrNameLst>
                                      </p:cBhvr>
                                      <p:tavLst>
                                        <p:tav tm="0">
                                          <p:val>
                                            <p:strVal val="1+#ppt_h/2"/>
                                          </p:val>
                                        </p:tav>
                                        <p:tav tm="100000">
                                          <p:val>
                                            <p:strVal val="#ppt_y"/>
                                          </p:val>
                                        </p:tav>
                                      </p:tavLst>
                                    </p:anim>
                                  </p:childTnLst>
                                </p:cTn>
                              </p:par>
                            </p:childTnLst>
                          </p:cTn>
                        </p:par>
                        <p:par>
                          <p:cTn id="24" fill="hold" nodeType="afterGroup">
                            <p:stCondLst>
                              <p:cond delay="3500"/>
                            </p:stCondLst>
                            <p:childTnLst>
                              <p:par>
                                <p:cTn id="25" presetID="2" presetClass="entr" presetSubtype="4" dur="500" fill="hold" grpId="0" nodeType="afterEffect">
                                  <p:stCondLst>
                                    <p:cond delay="500"/>
                                  </p:stCondLst>
                                  <p:childTnLst>
                                    <p:set>
                                      <p:cBhvr>
                                        <p:cTn id="26" dur="1" fill="hold">
                                          <p:stCondLst>
                                            <p:cond delay="0"/>
                                          </p:stCondLst>
                                        </p:cTn>
                                        <p:tgtEl>
                                          <p:spTgt spid="6">
                                            <p:txEl>
                                              <p:pRg st="4" end="4"/>
                                            </p:txEl>
                                          </p:spTgt>
                                        </p:tgtEl>
                                        <p:attrNameLst>
                                          <p:attrName>style.visibility</p:attrName>
                                        </p:attrNameLst>
                                      </p:cBhvr>
                                      <p:to>
                                        <p:strVal val="visible"/>
                                      </p:to>
                                    </p:set>
                                    <p:anim calcmode="lin" valueType="num">
                                      <p:cBhvr additive="base">
                                        <p:cTn id="27"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9" fill="hold" nodeType="clickPar">
                      <p:stCondLst>
                        <p:cond delay="indefinite"/>
                        <p:cond evt="onBegin" delay="0">
                          <p:tn val="28"/>
                        </p:cond>
                      </p:stCondLst>
                      <p:childTnLst>
                        <p:par>
                          <p:cTn id="30" fill="hold">
                            <p:stCondLst>
                              <p:cond delay="0"/>
                            </p:stCondLst>
                            <p:childTnLst>
                              <p:par>
                                <p:cTn id="31" presetID="2" presetClass="entr" presetSubtype="4" dur="500" fill="hold" grpId="0" nodeType="clickEffect">
                                  <p:stCondLst>
                                    <p:cond delay="500"/>
                                  </p:stCondLst>
                                  <p:childTnLst>
                                    <p:set>
                                      <p:cBhvr>
                                        <p:cTn id="32" dur="1" fill="hold">
                                          <p:stCondLst>
                                            <p:cond delay="0"/>
                                          </p:stCondLst>
                                        </p:cTn>
                                        <p:tgtEl>
                                          <p:spTgt spid="6">
                                            <p:txEl>
                                              <p:pRg st="5" end="5"/>
                                            </p:txEl>
                                          </p:spTgt>
                                        </p:tgtEl>
                                        <p:attrNameLst>
                                          <p:attrName>style.visibility</p:attrName>
                                        </p:attrNameLst>
                                      </p:cBhvr>
                                      <p:to>
                                        <p:strVal val="visible"/>
                                      </p:to>
                                    </p:set>
                                    <p:anim calcmode="lin" valueType="num">
                                      <p:cBhvr additive="base">
                                        <p:cTn id="33" dur="500" fill="hold"/>
                                        <p:tgtEl>
                                          <p:spTgt spid="6">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6">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rtlCol="1">
            <a:normAutofit fontScale="90000"/>
          </a:bodyPr>
          <a:lstStyle/>
          <a:p>
            <a:pPr fontAlgn="auto">
              <a:spcAft>
                <a:spcPct val="0"/>
              </a:spcAft>
              <a:defRPr/>
            </a:pPr>
            <a:r>
              <a:rPr lang="he-IL" altLang="en-US" u="sng"/>
              <a:t>סכנות בטיפול קרינתי </a:t>
            </a:r>
            <a:r>
              <a:rPr lang="he-IL" u="sng"/>
              <a:t>תאונות ברדיותרפיה - מקרה 2</a:t>
            </a:r>
          </a:p>
        </p:txBody>
      </p:sp>
      <p:sp>
        <p:nvSpPr>
          <p:cNvPr id="6" name="מציין מיקום תוכן 5"/>
          <p:cNvSpPr>
            <a:spLocks noGrp="1"/>
          </p:cNvSpPr>
          <p:nvPr>
            <p:ph idx="1"/>
          </p:nvPr>
        </p:nvSpPr>
        <p:spPr>
          <a:xfrm>
            <a:off x="457200" y="1600201"/>
            <a:ext cx="8229600" cy="1684784"/>
          </a:xfrm>
        </p:spPr>
        <p:txBody>
          <a:bodyPr/>
          <a:lstStyle/>
          <a:p>
            <a:r>
              <a:rPr lang="he-IL"/>
              <a:t>טעות זו השפיעה על 1045 מטופלים.</a:t>
            </a:r>
          </a:p>
          <a:p>
            <a:r>
              <a:rPr lang="he-IL" b="1">
                <a:solidFill>
                  <a:srgbClr val="FF0000"/>
                </a:solidFill>
                <a:effectLst>
                  <a:outerShdw blurRad="38100" dist="38100" dir="2700000" algn="tl">
                    <a:srgbClr val="000000">
                      <a:alpha val="43137"/>
                    </a:srgbClr>
                  </a:outerShdw>
                </a:effectLst>
              </a:rPr>
              <a:t>ל- 492 מטופלים הייתה חזרה מקומית של המחלה. כנראה, עקב הטעות.</a:t>
            </a:r>
            <a:endParaRPr lang="en-US" b="1">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35404094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42" presetClass="entr" presetSubtype="0" dur="1000"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1000"/>
                                        <p:tgtEl>
                                          <p:spTgt spid="6">
                                            <p:txEl>
                                              <p:pRg st="0" end="0"/>
                                            </p:txEl>
                                          </p:spTgt>
                                        </p:tgtEl>
                                      </p:cBhvr>
                                    </p:animEffect>
                                    <p:anim calcmode="lin" valueType="num">
                                      <p:cBhvr>
                                        <p:cTn id="8"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cond evt="onBegin" delay="0">
                          <p:tn val="9"/>
                        </p:cond>
                      </p:stCondLst>
                      <p:childTnLst>
                        <p:par>
                          <p:cTn id="11" fill="hold">
                            <p:stCondLst>
                              <p:cond delay="0"/>
                            </p:stCondLst>
                            <p:childTnLst>
                              <p:par>
                                <p:cTn id="12" presetID="42" presetClass="entr" presetSubtype="0" dur="1000" fill="hold" grpId="0" nodeType="clickEffect">
                                  <p:stCondLst>
                                    <p:cond delay="0"/>
                                  </p:stCondLst>
                                  <p:childTnLst>
                                    <p:set>
                                      <p:cBhvr>
                                        <p:cTn id="13" dur="1" fill="hold">
                                          <p:stCondLst>
                                            <p:cond delay="0"/>
                                          </p:stCondLst>
                                        </p:cTn>
                                        <p:tgtEl>
                                          <p:spTgt spid="6">
                                            <p:txEl>
                                              <p:pRg st="1" end="1"/>
                                            </p:txEl>
                                          </p:spTgt>
                                        </p:tgtEl>
                                        <p:attrNameLst>
                                          <p:attrName>style.visibility</p:attrName>
                                        </p:attrNameLst>
                                      </p:cBhvr>
                                      <p:to>
                                        <p:strVal val="visible"/>
                                      </p:to>
                                    </p:set>
                                    <p:animEffect transition="in" filter="fade">
                                      <p:cBhvr>
                                        <p:cTn id="14" dur="1000"/>
                                        <p:tgtEl>
                                          <p:spTgt spid="6">
                                            <p:txEl>
                                              <p:pRg st="1" end="1"/>
                                            </p:txEl>
                                          </p:spTgt>
                                        </p:tgtEl>
                                      </p:cBhvr>
                                    </p:animEffect>
                                    <p:anim calcmode="lin" valueType="num">
                                      <p:cBhvr>
                                        <p:cTn id="15"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457200" y="128161"/>
            <a:ext cx="8229600" cy="1143000"/>
          </a:xfrm>
        </p:spPr>
        <p:txBody>
          <a:bodyPr rtlCol="1">
            <a:normAutofit fontScale="90000"/>
          </a:bodyPr>
          <a:lstStyle/>
          <a:p>
            <a:pPr fontAlgn="auto">
              <a:spcAft>
                <a:spcPct val="0"/>
              </a:spcAft>
              <a:defRPr/>
            </a:pPr>
            <a:r>
              <a:rPr lang="he-IL" altLang="en-US" u="sng"/>
              <a:t>סכנות בטיפול קרינתי </a:t>
            </a:r>
            <a:r>
              <a:rPr lang="he-IL" u="sng"/>
              <a:t>תאונות ברדיותרפיה - מקרה 2</a:t>
            </a:r>
          </a:p>
        </p:txBody>
      </p:sp>
      <p:sp>
        <p:nvSpPr>
          <p:cNvPr id="6" name="מציין מיקום תוכן 5"/>
          <p:cNvSpPr>
            <a:spLocks noGrp="1"/>
          </p:cNvSpPr>
          <p:nvPr>
            <p:ph idx="1"/>
          </p:nvPr>
        </p:nvSpPr>
        <p:spPr>
          <a:xfrm>
            <a:off x="107504" y="1159476"/>
            <a:ext cx="8928992" cy="2448272"/>
          </a:xfrm>
        </p:spPr>
        <p:txBody>
          <a:bodyPr>
            <a:normAutofit fontScale="92500" lnSpcReduction="10000"/>
          </a:bodyPr>
          <a:lstStyle/>
          <a:p>
            <a:pPr marL="0" indent="0">
              <a:buNone/>
            </a:pPr>
            <a:r>
              <a:rPr lang="he-IL" sz="2800" b="1">
                <a:solidFill>
                  <a:srgbClr val="333333"/>
                </a:solidFill>
                <a:effectLst>
                  <a:outerShdw blurRad="38100" dist="38100" dir="2700000" algn="tl">
                    <a:srgbClr val="000000">
                      <a:alpha val="43137"/>
                    </a:srgbClr>
                  </a:outerShdw>
                </a:effectLst>
                <a:latin typeface="Open Sans" panose="020B0606030504020204" pitchFamily="34" charset="0"/>
              </a:rPr>
              <a:t>למידה מהאירוע</a:t>
            </a:r>
          </a:p>
          <a:p>
            <a:r>
              <a:rPr lang="he-IL" sz="2000">
                <a:solidFill>
                  <a:srgbClr val="333333"/>
                </a:solidFill>
                <a:latin typeface="Open Sans" panose="020B0606030504020204" pitchFamily="34" charset="0"/>
              </a:rPr>
              <a:t>ודא שהצוותים עברו הכשרה נאותה על טכנולוגיות חדשות.</a:t>
            </a:r>
            <a:endParaRPr lang="en-GB" sz="2000">
              <a:solidFill>
                <a:srgbClr val="333333"/>
              </a:solidFill>
              <a:latin typeface="Open Sans" panose="020B0606030504020204" pitchFamily="34" charset="0"/>
            </a:endParaRPr>
          </a:p>
          <a:p>
            <a:r>
              <a:rPr lang="he-IL" sz="2000">
                <a:solidFill>
                  <a:srgbClr val="333333"/>
                </a:solidFill>
                <a:latin typeface="Open Sans" panose="020B0606030504020204" pitchFamily="34" charset="0"/>
              </a:rPr>
              <a:t>ביצוע של </a:t>
            </a:r>
            <a:r>
              <a:rPr lang="en-US" sz="2000">
                <a:solidFill>
                  <a:srgbClr val="333333"/>
                </a:solidFill>
                <a:latin typeface="Open Sans" panose="020B0606030504020204" pitchFamily="34" charset="0"/>
              </a:rPr>
              <a:t>commissioning</a:t>
            </a:r>
            <a:r>
              <a:rPr lang="he-IL" sz="2000">
                <a:solidFill>
                  <a:srgbClr val="333333"/>
                </a:solidFill>
                <a:latin typeface="Open Sans" panose="020B0606030504020204" pitchFamily="34" charset="0"/>
              </a:rPr>
              <a:t> מלא לפני הקרנת מטופלים.</a:t>
            </a:r>
            <a:endParaRPr lang="en-GB" sz="2000">
              <a:solidFill>
                <a:srgbClr val="333333"/>
              </a:solidFill>
              <a:latin typeface="Open Sans" panose="020B0606030504020204" pitchFamily="34" charset="0"/>
            </a:endParaRPr>
          </a:p>
          <a:p>
            <a:r>
              <a:rPr lang="he-IL" sz="2000">
                <a:solidFill>
                  <a:srgbClr val="333333"/>
                </a:solidFill>
                <a:latin typeface="Open Sans" panose="020B0606030504020204" pitchFamily="34" charset="0"/>
              </a:rPr>
              <a:t>כתיבת פרוצדורות ונהלי העבודה בטרם הקרנת מטופלים.</a:t>
            </a:r>
          </a:p>
          <a:p>
            <a:r>
              <a:rPr lang="he-IL" sz="2000">
                <a:solidFill>
                  <a:srgbClr val="333333"/>
                </a:solidFill>
                <a:latin typeface="Open Sans" panose="020B0606030504020204" pitchFamily="34" charset="0"/>
              </a:rPr>
              <a:t>ודא שהצוותים מכירים את המערכות ואת נהלי העבודה המתאימים.</a:t>
            </a:r>
            <a:endParaRPr lang="en-GB" sz="2000">
              <a:solidFill>
                <a:srgbClr val="333333"/>
              </a:solidFill>
              <a:latin typeface="Open Sans" panose="020B0606030504020204" pitchFamily="34" charset="0"/>
            </a:endParaRPr>
          </a:p>
          <a:p>
            <a:r>
              <a:rPr lang="he-IL" sz="2000">
                <a:solidFill>
                  <a:srgbClr val="333333"/>
                </a:solidFill>
                <a:latin typeface="Open Sans" panose="020B0606030504020204" pitchFamily="34" charset="0"/>
              </a:rPr>
              <a:t>הטמעה וכתיבת נוהל בדיקה בלתי תלויה של </a:t>
            </a:r>
            <a:r>
              <a:rPr lang="en-US" sz="2000">
                <a:solidFill>
                  <a:srgbClr val="333333"/>
                </a:solidFill>
                <a:latin typeface="Open Sans" panose="020B0606030504020204" pitchFamily="34" charset="0"/>
              </a:rPr>
              <a:t>MU</a:t>
            </a:r>
            <a:r>
              <a:rPr lang="he-IL" sz="2000">
                <a:solidFill>
                  <a:srgbClr val="333333"/>
                </a:solidFill>
                <a:latin typeface="Open Sans" panose="020B0606030504020204" pitchFamily="34" charset="0"/>
              </a:rPr>
              <a:t>.</a:t>
            </a:r>
            <a:endParaRPr lang="en-GB" sz="2000">
              <a:solidFill>
                <a:srgbClr val="333333"/>
              </a:solidFill>
              <a:latin typeface="Open Sans" panose="020B0606030504020204" pitchFamily="34" charset="0"/>
            </a:endParaRPr>
          </a:p>
          <a:p>
            <a:r>
              <a:rPr lang="he-IL" sz="2000">
                <a:solidFill>
                  <a:srgbClr val="333333"/>
                </a:solidFill>
                <a:latin typeface="Open Sans" panose="020B0606030504020204" pitchFamily="34" charset="0"/>
              </a:rPr>
              <a:t>ביצוע בדיקות מעקב למטופלים ולוודא את יעילות ההקרנות.  </a:t>
            </a:r>
            <a:endParaRPr lang="en-GB" sz="2000">
              <a:solidFill>
                <a:srgbClr val="333333"/>
              </a:solidFill>
              <a:latin typeface="Open Sans" panose="020B0606030504020204" pitchFamily="34" charset="0"/>
            </a:endParaRPr>
          </a:p>
        </p:txBody>
      </p:sp>
      <p:sp>
        <p:nvSpPr>
          <p:cNvPr id="4" name="TextBox 3">
            <a:extLst>
              <a:ext uri="{FF2B5EF4-FFF2-40B4-BE49-F238E27FC236}">
                <a16:creationId xmlns:a16="http://schemas.microsoft.com/office/drawing/2014/main" id="{5977C89E-A6A9-2107-B52D-64613CBBA6A3}"/>
              </a:ext>
            </a:extLst>
          </p:cNvPr>
          <p:cNvSpPr txBox="1"/>
          <p:nvPr/>
        </p:nvSpPr>
        <p:spPr>
          <a:xfrm>
            <a:off x="107504" y="3573016"/>
            <a:ext cx="8856984" cy="2585323"/>
          </a:xfrm>
          <a:prstGeom prst="rect">
            <a:avLst/>
          </a:prstGeom>
          <a:noFill/>
        </p:spPr>
        <p:txBody>
          <a:bodyPr wrap="square">
            <a:spAutoFit/>
          </a:bodyPr>
          <a:lstStyle/>
          <a:p>
            <a:pPr algn="l" rtl="0"/>
            <a:r>
              <a:rPr lang="en-GB" b="0" i="0">
                <a:solidFill>
                  <a:srgbClr val="333333"/>
                </a:solidFill>
                <a:effectLst/>
                <a:latin typeface="Open Sans" panose="020B0606030504020204" pitchFamily="34" charset="0"/>
              </a:rPr>
              <a:t>Lessons learned for health professionals:</a:t>
            </a:r>
            <a:endParaRPr lang="he-IL" b="0" i="0">
              <a:solidFill>
                <a:srgbClr val="333333"/>
              </a:solidFill>
              <a:effectLst/>
              <a:latin typeface="Open Sans" panose="020B0606030504020204" pitchFamily="34" charset="0"/>
            </a:endParaRPr>
          </a:p>
          <a:p>
            <a:pPr marL="285750" indent="-285750" algn="l" rtl="0">
              <a:buFont typeface="Arial" pitchFamily="34" charset="0"/>
              <a:buChar char="•"/>
            </a:pPr>
            <a:r>
              <a:rPr lang="en-GB" b="0" i="0">
                <a:solidFill>
                  <a:srgbClr val="333333"/>
                </a:solidFill>
                <a:effectLst/>
                <a:latin typeface="Open Sans" panose="020B0606030504020204" pitchFamily="34" charset="0"/>
              </a:rPr>
              <a:t>Ensure that staff is properly trained in the operation of the equipment;</a:t>
            </a:r>
          </a:p>
          <a:p>
            <a:pPr marL="285750" indent="-285750" algn="l" rtl="0">
              <a:buFont typeface="Arial" pitchFamily="34" charset="0"/>
              <a:buChar char="•"/>
            </a:pPr>
            <a:r>
              <a:rPr lang="en-GB" b="0" i="0">
                <a:solidFill>
                  <a:srgbClr val="333333"/>
                </a:solidFill>
                <a:effectLst/>
                <a:latin typeface="Open Sans" panose="020B0606030504020204" pitchFamily="34" charset="0"/>
              </a:rPr>
              <a:t>Ensure that staff understands the operating procedures; </a:t>
            </a:r>
          </a:p>
          <a:p>
            <a:pPr marL="285750" indent="-285750" algn="l" rtl="0">
              <a:buFont typeface="Arial" pitchFamily="34" charset="0"/>
              <a:buChar char="•"/>
            </a:pPr>
            <a:r>
              <a:rPr lang="en-GB" b="0" i="0">
                <a:solidFill>
                  <a:srgbClr val="333333"/>
                </a:solidFill>
                <a:effectLst/>
                <a:latin typeface="Open Sans" panose="020B0606030504020204" pitchFamily="34" charset="0"/>
              </a:rPr>
              <a:t>Implement procedures to perform complete commissioning of treatment planning equipment before first use; </a:t>
            </a:r>
          </a:p>
          <a:p>
            <a:pPr marL="285750" indent="-285750" algn="l" rtl="0">
              <a:buFont typeface="Arial" pitchFamily="34" charset="0"/>
              <a:buChar char="•"/>
            </a:pPr>
            <a:r>
              <a:rPr lang="en-GB" b="0" i="0">
                <a:solidFill>
                  <a:srgbClr val="333333"/>
                </a:solidFill>
                <a:effectLst/>
                <a:latin typeface="Open Sans" panose="020B0606030504020204" pitchFamily="34" charset="0"/>
              </a:rPr>
              <a:t>Implement procedures for independent checking of individual patient treatment time calculations;</a:t>
            </a:r>
          </a:p>
          <a:p>
            <a:pPr marL="285750" indent="-285750" algn="l" rtl="0">
              <a:buFont typeface="Arial" pitchFamily="34" charset="0"/>
              <a:buChar char="•"/>
            </a:pPr>
            <a:r>
              <a:rPr lang="en-GB" b="0" i="0">
                <a:solidFill>
                  <a:srgbClr val="333333"/>
                </a:solidFill>
                <a:effectLst/>
                <a:latin typeface="Open Sans" panose="020B0606030504020204" pitchFamily="34" charset="0"/>
              </a:rPr>
              <a:t>Audit the treatment outcomes because underdose is difficult to assess, as it does not produce recognizable symptoms.</a:t>
            </a:r>
          </a:p>
        </p:txBody>
      </p:sp>
    </p:spTree>
    <p:extLst>
      <p:ext uri="{BB962C8B-B14F-4D97-AF65-F5344CB8AC3E}">
        <p14:creationId xmlns:p14="http://schemas.microsoft.com/office/powerpoint/2010/main" val="284379355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42" presetClass="entr" presetSubtype="0" dur="1000"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1000"/>
                                        <p:tgtEl>
                                          <p:spTgt spid="6">
                                            <p:txEl>
                                              <p:pRg st="0" end="0"/>
                                            </p:txEl>
                                          </p:spTgt>
                                        </p:tgtEl>
                                      </p:cBhvr>
                                    </p:animEffect>
                                    <p:anim calcmode="lin" valueType="num">
                                      <p:cBhvr>
                                        <p:cTn id="8"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par>
                          <p:cTn id="10" fill="hold" nodeType="afterGroup">
                            <p:stCondLst>
                              <p:cond delay="1000"/>
                            </p:stCondLst>
                            <p:childTnLst>
                              <p:par>
                                <p:cTn id="11" presetID="42" presetClass="entr" presetSubtype="0" dur="1000" fill="hold" grpId="0" nodeType="after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animEffect transition="in" filter="fade">
                                      <p:cBhvr>
                                        <p:cTn id="13" dur="1000"/>
                                        <p:tgtEl>
                                          <p:spTgt spid="6">
                                            <p:txEl>
                                              <p:pRg st="1" end="1"/>
                                            </p:txEl>
                                          </p:spTgt>
                                        </p:tgtEl>
                                      </p:cBhvr>
                                    </p:animEffect>
                                    <p:anim calcmode="lin" valueType="num">
                                      <p:cBhvr>
                                        <p:cTn id="14"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15"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par>
                          <p:cTn id="16" fill="hold" nodeType="afterGroup">
                            <p:stCondLst>
                              <p:cond delay="2000"/>
                            </p:stCondLst>
                            <p:childTnLst>
                              <p:par>
                                <p:cTn id="17" presetID="42" presetClass="entr" presetSubtype="0" dur="1000" fill="hold" grpId="0" nodeType="after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animEffect transition="in" filter="fade">
                                      <p:cBhvr>
                                        <p:cTn id="19" dur="1000"/>
                                        <p:tgtEl>
                                          <p:spTgt spid="6">
                                            <p:txEl>
                                              <p:pRg st="2" end="2"/>
                                            </p:txEl>
                                          </p:spTgt>
                                        </p:tgtEl>
                                      </p:cBhvr>
                                    </p:animEffect>
                                    <p:anim calcmode="lin" valueType="num">
                                      <p:cBhvr>
                                        <p:cTn id="20"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par>
                          <p:cTn id="22" fill="hold" nodeType="afterGroup">
                            <p:stCondLst>
                              <p:cond delay="3000"/>
                            </p:stCondLst>
                            <p:childTnLst>
                              <p:par>
                                <p:cTn id="23" presetID="42" presetClass="entr" presetSubtype="0" dur="1000" fill="hold" grpId="0" nodeType="afterEffect">
                                  <p:stCondLst>
                                    <p:cond delay="0"/>
                                  </p:stCondLst>
                                  <p:childTnLst>
                                    <p:set>
                                      <p:cBhvr>
                                        <p:cTn id="24" dur="1" fill="hold">
                                          <p:stCondLst>
                                            <p:cond delay="0"/>
                                          </p:stCondLst>
                                        </p:cTn>
                                        <p:tgtEl>
                                          <p:spTgt spid="6">
                                            <p:txEl>
                                              <p:pRg st="3" end="3"/>
                                            </p:txEl>
                                          </p:spTgt>
                                        </p:tgtEl>
                                        <p:attrNameLst>
                                          <p:attrName>style.visibility</p:attrName>
                                        </p:attrNameLst>
                                      </p:cBhvr>
                                      <p:to>
                                        <p:strVal val="visible"/>
                                      </p:to>
                                    </p:set>
                                    <p:animEffect transition="in" filter="fade">
                                      <p:cBhvr>
                                        <p:cTn id="25" dur="1000"/>
                                        <p:tgtEl>
                                          <p:spTgt spid="6">
                                            <p:txEl>
                                              <p:pRg st="3" end="3"/>
                                            </p:txEl>
                                          </p:spTgt>
                                        </p:tgtEl>
                                      </p:cBhvr>
                                    </p:animEffect>
                                    <p:anim calcmode="lin" valueType="num">
                                      <p:cBhvr>
                                        <p:cTn id="26"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27" dur="1000" fill="hold"/>
                                        <p:tgtEl>
                                          <p:spTgt spid="6">
                                            <p:txEl>
                                              <p:pRg st="3" end="3"/>
                                            </p:txEl>
                                          </p:spTgt>
                                        </p:tgtEl>
                                        <p:attrNameLst>
                                          <p:attrName>ppt_y</p:attrName>
                                        </p:attrNameLst>
                                      </p:cBhvr>
                                      <p:tavLst>
                                        <p:tav tm="0">
                                          <p:val>
                                            <p:strVal val="#ppt_y+.1"/>
                                          </p:val>
                                        </p:tav>
                                        <p:tav tm="100000">
                                          <p:val>
                                            <p:strVal val="#ppt_y"/>
                                          </p:val>
                                        </p:tav>
                                      </p:tavLst>
                                    </p:anim>
                                  </p:childTnLst>
                                </p:cTn>
                              </p:par>
                            </p:childTnLst>
                          </p:cTn>
                        </p:par>
                        <p:par>
                          <p:cTn id="28" fill="hold" nodeType="afterGroup">
                            <p:stCondLst>
                              <p:cond delay="4000"/>
                            </p:stCondLst>
                            <p:childTnLst>
                              <p:par>
                                <p:cTn id="29" presetID="42" presetClass="entr" presetSubtype="0" dur="1000" fill="hold" grpId="0" nodeType="afterEffect">
                                  <p:stCondLst>
                                    <p:cond delay="0"/>
                                  </p:stCondLst>
                                  <p:childTnLst>
                                    <p:set>
                                      <p:cBhvr>
                                        <p:cTn id="30" dur="1" fill="hold">
                                          <p:stCondLst>
                                            <p:cond delay="0"/>
                                          </p:stCondLst>
                                        </p:cTn>
                                        <p:tgtEl>
                                          <p:spTgt spid="6">
                                            <p:txEl>
                                              <p:pRg st="4" end="4"/>
                                            </p:txEl>
                                          </p:spTgt>
                                        </p:tgtEl>
                                        <p:attrNameLst>
                                          <p:attrName>style.visibility</p:attrName>
                                        </p:attrNameLst>
                                      </p:cBhvr>
                                      <p:to>
                                        <p:strVal val="visible"/>
                                      </p:to>
                                    </p:set>
                                    <p:animEffect transition="in" filter="fade">
                                      <p:cBhvr>
                                        <p:cTn id="31" dur="1000"/>
                                        <p:tgtEl>
                                          <p:spTgt spid="6">
                                            <p:txEl>
                                              <p:pRg st="4" end="4"/>
                                            </p:txEl>
                                          </p:spTgt>
                                        </p:tgtEl>
                                      </p:cBhvr>
                                    </p:animEffect>
                                    <p:anim calcmode="lin" valueType="num">
                                      <p:cBhvr>
                                        <p:cTn id="32"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33" dur="1000" fill="hold"/>
                                        <p:tgtEl>
                                          <p:spTgt spid="6">
                                            <p:txEl>
                                              <p:pRg st="4" end="4"/>
                                            </p:txEl>
                                          </p:spTgt>
                                        </p:tgtEl>
                                        <p:attrNameLst>
                                          <p:attrName>ppt_y</p:attrName>
                                        </p:attrNameLst>
                                      </p:cBhvr>
                                      <p:tavLst>
                                        <p:tav tm="0">
                                          <p:val>
                                            <p:strVal val="#ppt_y+.1"/>
                                          </p:val>
                                        </p:tav>
                                        <p:tav tm="100000">
                                          <p:val>
                                            <p:strVal val="#ppt_y"/>
                                          </p:val>
                                        </p:tav>
                                      </p:tavLst>
                                    </p:anim>
                                  </p:childTnLst>
                                </p:cTn>
                              </p:par>
                            </p:childTnLst>
                          </p:cTn>
                        </p:par>
                        <p:par>
                          <p:cTn id="34" fill="hold" nodeType="afterGroup">
                            <p:stCondLst>
                              <p:cond delay="5000"/>
                            </p:stCondLst>
                            <p:childTnLst>
                              <p:par>
                                <p:cTn id="35" presetID="42" presetClass="entr" presetSubtype="0" dur="1000" fill="hold" grpId="0" nodeType="afterEffect">
                                  <p:stCondLst>
                                    <p:cond delay="0"/>
                                  </p:stCondLst>
                                  <p:childTnLst>
                                    <p:set>
                                      <p:cBhvr>
                                        <p:cTn id="36" dur="1" fill="hold">
                                          <p:stCondLst>
                                            <p:cond delay="0"/>
                                          </p:stCondLst>
                                        </p:cTn>
                                        <p:tgtEl>
                                          <p:spTgt spid="6">
                                            <p:txEl>
                                              <p:pRg st="5" end="5"/>
                                            </p:txEl>
                                          </p:spTgt>
                                        </p:tgtEl>
                                        <p:attrNameLst>
                                          <p:attrName>style.visibility</p:attrName>
                                        </p:attrNameLst>
                                      </p:cBhvr>
                                      <p:to>
                                        <p:strVal val="visible"/>
                                      </p:to>
                                    </p:set>
                                    <p:animEffect transition="in" filter="fade">
                                      <p:cBhvr>
                                        <p:cTn id="37" dur="1000"/>
                                        <p:tgtEl>
                                          <p:spTgt spid="6">
                                            <p:txEl>
                                              <p:pRg st="5" end="5"/>
                                            </p:txEl>
                                          </p:spTgt>
                                        </p:tgtEl>
                                      </p:cBhvr>
                                    </p:animEffect>
                                    <p:anim calcmode="lin" valueType="num">
                                      <p:cBhvr>
                                        <p:cTn id="38" dur="1000" fill="hold"/>
                                        <p:tgtEl>
                                          <p:spTgt spid="6">
                                            <p:txEl>
                                              <p:pRg st="5" end="5"/>
                                            </p:txEl>
                                          </p:spTgt>
                                        </p:tgtEl>
                                        <p:attrNameLst>
                                          <p:attrName>ppt_x</p:attrName>
                                        </p:attrNameLst>
                                      </p:cBhvr>
                                      <p:tavLst>
                                        <p:tav tm="0">
                                          <p:val>
                                            <p:strVal val="#ppt_x"/>
                                          </p:val>
                                        </p:tav>
                                        <p:tav tm="100000">
                                          <p:val>
                                            <p:strVal val="#ppt_x"/>
                                          </p:val>
                                        </p:tav>
                                      </p:tavLst>
                                    </p:anim>
                                    <p:anim calcmode="lin" valueType="num">
                                      <p:cBhvr>
                                        <p:cTn id="39" dur="1000" fill="hold"/>
                                        <p:tgtEl>
                                          <p:spTgt spid="6">
                                            <p:txEl>
                                              <p:pRg st="5" end="5"/>
                                            </p:txEl>
                                          </p:spTgt>
                                        </p:tgtEl>
                                        <p:attrNameLst>
                                          <p:attrName>ppt_y</p:attrName>
                                        </p:attrNameLst>
                                      </p:cBhvr>
                                      <p:tavLst>
                                        <p:tav tm="0">
                                          <p:val>
                                            <p:strVal val="#ppt_y+.1"/>
                                          </p:val>
                                        </p:tav>
                                        <p:tav tm="100000">
                                          <p:val>
                                            <p:strVal val="#ppt_y"/>
                                          </p:val>
                                        </p:tav>
                                      </p:tavLst>
                                    </p:anim>
                                  </p:childTnLst>
                                </p:cTn>
                              </p:par>
                            </p:childTnLst>
                          </p:cTn>
                        </p:par>
                        <p:par>
                          <p:cTn id="40" fill="hold" nodeType="afterGroup">
                            <p:stCondLst>
                              <p:cond delay="6000"/>
                            </p:stCondLst>
                            <p:childTnLst>
                              <p:par>
                                <p:cTn id="41" presetID="42" presetClass="entr" presetSubtype="0" dur="1000" fill="hold" grpId="0" nodeType="afterEffect">
                                  <p:stCondLst>
                                    <p:cond delay="0"/>
                                  </p:stCondLst>
                                  <p:childTnLst>
                                    <p:set>
                                      <p:cBhvr>
                                        <p:cTn id="42" dur="1" fill="hold">
                                          <p:stCondLst>
                                            <p:cond delay="0"/>
                                          </p:stCondLst>
                                        </p:cTn>
                                        <p:tgtEl>
                                          <p:spTgt spid="6">
                                            <p:txEl>
                                              <p:pRg st="6" end="6"/>
                                            </p:txEl>
                                          </p:spTgt>
                                        </p:tgtEl>
                                        <p:attrNameLst>
                                          <p:attrName>style.visibility</p:attrName>
                                        </p:attrNameLst>
                                      </p:cBhvr>
                                      <p:to>
                                        <p:strVal val="visible"/>
                                      </p:to>
                                    </p:set>
                                    <p:animEffect transition="in" filter="fade">
                                      <p:cBhvr>
                                        <p:cTn id="43" dur="1000"/>
                                        <p:tgtEl>
                                          <p:spTgt spid="6">
                                            <p:txEl>
                                              <p:pRg st="6" end="6"/>
                                            </p:txEl>
                                          </p:spTgt>
                                        </p:tgtEl>
                                      </p:cBhvr>
                                    </p:animEffect>
                                    <p:anim calcmode="lin" valueType="num">
                                      <p:cBhvr>
                                        <p:cTn id="44" dur="1000" fill="hold"/>
                                        <p:tgtEl>
                                          <p:spTgt spid="6">
                                            <p:txEl>
                                              <p:pRg st="6" end="6"/>
                                            </p:txEl>
                                          </p:spTgt>
                                        </p:tgtEl>
                                        <p:attrNameLst>
                                          <p:attrName>ppt_x</p:attrName>
                                        </p:attrNameLst>
                                      </p:cBhvr>
                                      <p:tavLst>
                                        <p:tav tm="0">
                                          <p:val>
                                            <p:strVal val="#ppt_x"/>
                                          </p:val>
                                        </p:tav>
                                        <p:tav tm="100000">
                                          <p:val>
                                            <p:strVal val="#ppt_x"/>
                                          </p:val>
                                        </p:tav>
                                      </p:tavLst>
                                    </p:anim>
                                    <p:anim calcmode="lin" valueType="num">
                                      <p:cBhvr>
                                        <p:cTn id="45" dur="1000" fill="hold"/>
                                        <p:tgtEl>
                                          <p:spTgt spid="6">
                                            <p:txEl>
                                              <p:pRg st="6" end="6"/>
                                            </p:txEl>
                                          </p:spTgt>
                                        </p:tgtEl>
                                        <p:attrNameLst>
                                          <p:attrName>ppt_y</p:attrName>
                                        </p:attrNameLst>
                                      </p:cBhvr>
                                      <p:tavLst>
                                        <p:tav tm="0">
                                          <p:val>
                                            <p:strVal val="#ppt_y+.1"/>
                                          </p:val>
                                        </p:tav>
                                        <p:tav tm="100000">
                                          <p:val>
                                            <p:strVal val="#ppt_y"/>
                                          </p:val>
                                        </p:tav>
                                      </p:tavLst>
                                    </p:anim>
                                  </p:childTnLst>
                                </p:cTn>
                              </p:par>
                            </p:childTnLst>
                          </p:cTn>
                        </p:par>
                        <p:par>
                          <p:cTn id="46" fill="hold" nodeType="afterGroup">
                            <p:stCondLst>
                              <p:cond delay="7000"/>
                            </p:stCondLst>
                            <p:childTnLst>
                              <p:par>
                                <p:cTn id="47" presetID="1" presetClass="entr" presetSubtype="0" dur="1" fill="hold" grpId="0" nodeType="afterEffect">
                                  <p:stCondLst>
                                    <p:cond delay="0"/>
                                  </p:stCondLst>
                                  <p:childTnLst>
                                    <p:set>
                                      <p:cBhvr>
                                        <p:cTn id="4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D354095-8B4D-CF10-2D4F-29E82B031D6B}"/>
              </a:ext>
            </a:extLst>
          </p:cNvPr>
          <p:cNvPicPr>
            <a:picLocks noChangeAspect="1"/>
          </p:cNvPicPr>
          <p:nvPr/>
        </p:nvPicPr>
        <p:blipFill>
          <a:blip r:embed="rId2"/>
          <a:stretch>
            <a:fillRect/>
          </a:stretch>
        </p:blipFill>
        <p:spPr>
          <a:xfrm>
            <a:off x="755576" y="4121989"/>
            <a:ext cx="3657600" cy="2429256"/>
          </a:xfrm>
          <a:prstGeom prst="rect">
            <a:avLst/>
          </a:prstGeom>
        </p:spPr>
      </p:pic>
      <p:sp>
        <p:nvSpPr>
          <p:cNvPr id="2" name="כותרת 1"/>
          <p:cNvSpPr>
            <a:spLocks noGrp="1"/>
          </p:cNvSpPr>
          <p:nvPr>
            <p:ph type="title"/>
          </p:nvPr>
        </p:nvSpPr>
        <p:spPr/>
        <p:txBody>
          <a:bodyPr rtlCol="1">
            <a:normAutofit fontScale="90000"/>
          </a:bodyPr>
          <a:lstStyle/>
          <a:p>
            <a:pPr fontAlgn="auto">
              <a:spcAft>
                <a:spcPct val="0"/>
              </a:spcAft>
              <a:defRPr/>
            </a:pPr>
            <a:r>
              <a:rPr lang="he-IL" altLang="en-US" u="sng"/>
              <a:t>סכנות בטיפול קרינתי </a:t>
            </a:r>
            <a:r>
              <a:rPr lang="he-IL" u="sng"/>
              <a:t>תאונות ברדיותרפיה - מקרה 3</a:t>
            </a:r>
          </a:p>
        </p:txBody>
      </p:sp>
      <p:sp>
        <p:nvSpPr>
          <p:cNvPr id="6" name="מציין מיקום תוכן 5"/>
          <p:cNvSpPr>
            <a:spLocks noGrp="1"/>
          </p:cNvSpPr>
          <p:nvPr>
            <p:ph idx="1"/>
          </p:nvPr>
        </p:nvSpPr>
        <p:spPr>
          <a:xfrm>
            <a:off x="914400" y="1772816"/>
            <a:ext cx="8229600" cy="4525963"/>
          </a:xfrm>
        </p:spPr>
        <p:txBody>
          <a:bodyPr>
            <a:normAutofit/>
          </a:bodyPr>
          <a:lstStyle/>
          <a:p>
            <a:r>
              <a:rPr lang="he-IL" sz="2400"/>
              <a:t>ב- </a:t>
            </a:r>
            <a:r>
              <a:rPr lang="en-US" sz="2400"/>
              <a:t>Zaragoza</a:t>
            </a:r>
            <a:r>
              <a:rPr lang="he-IL" sz="2400"/>
              <a:t> בספרד 1990, לאחר תיקון תקלה במאיץ על ידי מהנדסים, קרן האלקטרונים נתנה את האנרגיה המקסימאלית </a:t>
            </a:r>
            <a:r>
              <a:rPr lang="en-US" sz="2400"/>
              <a:t>(36MeV)</a:t>
            </a:r>
            <a:r>
              <a:rPr lang="he-IL" sz="2400"/>
              <a:t> ללא תלות בבחירת המתכנן.</a:t>
            </a:r>
          </a:p>
          <a:p>
            <a:r>
              <a:rPr lang="he-IL" sz="2400"/>
              <a:t>דבר התיקון לא עבר לבדיקת פיזיקאי ולא בוצעו בדיקות מנה.</a:t>
            </a:r>
          </a:p>
          <a:p>
            <a:r>
              <a:rPr lang="he-IL" sz="2400"/>
              <a:t>במאיץ התצוגה נראתה על פי התכנון. אך בפועל האנרגיה הייתה שונה.</a:t>
            </a:r>
          </a:p>
          <a:p>
            <a:r>
              <a:rPr lang="he-IL" sz="2400"/>
              <a:t>כ- 27 מטופלים הושפעו מהתקלה.</a:t>
            </a:r>
          </a:p>
          <a:p>
            <a:r>
              <a:rPr lang="he-IL" sz="2400" b="1">
                <a:solidFill>
                  <a:srgbClr val="FF0000"/>
                </a:solidFill>
                <a:effectLst>
                  <a:outerShdw blurRad="38100" dist="38100" dir="2700000" algn="tl">
                    <a:srgbClr val="000000">
                      <a:alpha val="43137"/>
                    </a:srgbClr>
                  </a:outerShdw>
                </a:effectLst>
              </a:rPr>
              <a:t>לפחות 11 מתוכם מתו.</a:t>
            </a:r>
            <a:endParaRPr lang="en-US" sz="2400" b="1">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69022182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42" presetClass="entr" presetSubtype="0" dur="1000"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1000"/>
                                        <p:tgtEl>
                                          <p:spTgt spid="6">
                                            <p:txEl>
                                              <p:pRg st="0" end="0"/>
                                            </p:txEl>
                                          </p:spTgt>
                                        </p:tgtEl>
                                      </p:cBhvr>
                                    </p:animEffect>
                                    <p:anim calcmode="lin" valueType="num">
                                      <p:cBhvr>
                                        <p:cTn id="8"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par>
                          <p:cTn id="10" fill="hold" nodeType="afterGroup">
                            <p:stCondLst>
                              <p:cond delay="1000"/>
                            </p:stCondLst>
                            <p:childTnLst>
                              <p:par>
                                <p:cTn id="11" presetID="42" presetClass="entr" presetSubtype="0" dur="1000" fill="hold" grpId="0" nodeType="after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animEffect transition="in" filter="fade">
                                      <p:cBhvr>
                                        <p:cTn id="13" dur="1000"/>
                                        <p:tgtEl>
                                          <p:spTgt spid="6">
                                            <p:txEl>
                                              <p:pRg st="1" end="1"/>
                                            </p:txEl>
                                          </p:spTgt>
                                        </p:tgtEl>
                                      </p:cBhvr>
                                    </p:animEffect>
                                    <p:anim calcmode="lin" valueType="num">
                                      <p:cBhvr>
                                        <p:cTn id="14"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15"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par>
                          <p:cTn id="16" fill="hold" nodeType="afterGroup">
                            <p:stCondLst>
                              <p:cond delay="2000"/>
                            </p:stCondLst>
                            <p:childTnLst>
                              <p:par>
                                <p:cTn id="17" presetID="42" presetClass="entr" presetSubtype="0" dur="1000" fill="hold" grpId="0" nodeType="after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animEffect transition="in" filter="fade">
                                      <p:cBhvr>
                                        <p:cTn id="19" dur="1000"/>
                                        <p:tgtEl>
                                          <p:spTgt spid="6">
                                            <p:txEl>
                                              <p:pRg st="2" end="2"/>
                                            </p:txEl>
                                          </p:spTgt>
                                        </p:tgtEl>
                                      </p:cBhvr>
                                    </p:animEffect>
                                    <p:anim calcmode="lin" valueType="num">
                                      <p:cBhvr>
                                        <p:cTn id="20"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par>
                          <p:cTn id="22" fill="hold" nodeType="afterGroup">
                            <p:stCondLst>
                              <p:cond delay="3000"/>
                            </p:stCondLst>
                            <p:childTnLst>
                              <p:par>
                                <p:cTn id="23" presetID="42" presetClass="entr" presetSubtype="0" dur="1000" fill="hold" grpId="0" nodeType="afterEffect">
                                  <p:stCondLst>
                                    <p:cond delay="0"/>
                                  </p:stCondLst>
                                  <p:childTnLst>
                                    <p:set>
                                      <p:cBhvr>
                                        <p:cTn id="24" dur="1" fill="hold">
                                          <p:stCondLst>
                                            <p:cond delay="0"/>
                                          </p:stCondLst>
                                        </p:cTn>
                                        <p:tgtEl>
                                          <p:spTgt spid="6">
                                            <p:txEl>
                                              <p:pRg st="3" end="3"/>
                                            </p:txEl>
                                          </p:spTgt>
                                        </p:tgtEl>
                                        <p:attrNameLst>
                                          <p:attrName>style.visibility</p:attrName>
                                        </p:attrNameLst>
                                      </p:cBhvr>
                                      <p:to>
                                        <p:strVal val="visible"/>
                                      </p:to>
                                    </p:set>
                                    <p:animEffect transition="in" filter="fade">
                                      <p:cBhvr>
                                        <p:cTn id="25" dur="1000"/>
                                        <p:tgtEl>
                                          <p:spTgt spid="6">
                                            <p:txEl>
                                              <p:pRg st="3" end="3"/>
                                            </p:txEl>
                                          </p:spTgt>
                                        </p:tgtEl>
                                      </p:cBhvr>
                                    </p:animEffect>
                                    <p:anim calcmode="lin" valueType="num">
                                      <p:cBhvr>
                                        <p:cTn id="26"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27" dur="1000" fill="hold"/>
                                        <p:tgtEl>
                                          <p:spTgt spid="6">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8" fill="hold" nodeType="clickPar">
                      <p:stCondLst>
                        <p:cond delay="indefinite"/>
                        <p:cond evt="onBegin" delay="0">
                          <p:tn val="27"/>
                        </p:cond>
                      </p:stCondLst>
                      <p:childTnLst>
                        <p:par>
                          <p:cTn id="29" fill="hold">
                            <p:stCondLst>
                              <p:cond delay="0"/>
                            </p:stCondLst>
                            <p:childTnLst>
                              <p:par>
                                <p:cTn id="30" presetID="42" presetClass="entr" presetSubtype="0" dur="1000" fill="hold" grpId="0" nodeType="clickEffect">
                                  <p:stCondLst>
                                    <p:cond delay="0"/>
                                  </p:stCondLst>
                                  <p:childTnLst>
                                    <p:set>
                                      <p:cBhvr>
                                        <p:cTn id="31" dur="1" fill="hold">
                                          <p:stCondLst>
                                            <p:cond delay="0"/>
                                          </p:stCondLst>
                                        </p:cTn>
                                        <p:tgtEl>
                                          <p:spTgt spid="6">
                                            <p:txEl>
                                              <p:pRg st="4" end="4"/>
                                            </p:txEl>
                                          </p:spTgt>
                                        </p:tgtEl>
                                        <p:attrNameLst>
                                          <p:attrName>style.visibility</p:attrName>
                                        </p:attrNameLst>
                                      </p:cBhvr>
                                      <p:to>
                                        <p:strVal val="visible"/>
                                      </p:to>
                                    </p:set>
                                    <p:animEffect transition="in" filter="fade">
                                      <p:cBhvr>
                                        <p:cTn id="32" dur="1000"/>
                                        <p:tgtEl>
                                          <p:spTgt spid="6">
                                            <p:txEl>
                                              <p:pRg st="4" end="4"/>
                                            </p:txEl>
                                          </p:spTgt>
                                        </p:tgtEl>
                                      </p:cBhvr>
                                    </p:animEffect>
                                    <p:anim calcmode="lin" valueType="num">
                                      <p:cBhvr>
                                        <p:cTn id="33"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34" dur="1000" fill="hold"/>
                                        <p:tgtEl>
                                          <p:spTgt spid="6">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normAutofit fontScale="90000"/>
          </a:bodyPr>
          <a:lstStyle/>
          <a:p>
            <a:r>
              <a:rPr lang="he-IL" altLang="en-US" u="sng"/>
              <a:t>סכנות בטיפול קרינתי </a:t>
            </a:r>
            <a:r>
              <a:rPr lang="he-IL" u="sng"/>
              <a:t>תאונות ברדיותרפיה - מקרה </a:t>
            </a:r>
            <a:r>
              <a:rPr lang="en-US" u="sng"/>
              <a:t>4</a:t>
            </a:r>
            <a:endParaRPr lang="en-US"/>
          </a:p>
        </p:txBody>
      </p:sp>
      <p:sp>
        <p:nvSpPr>
          <p:cNvPr id="5" name="Content Placeholder 4">
            <a:extLst>
              <a:ext uri="{FF2B5EF4-FFF2-40B4-BE49-F238E27FC236}">
                <a16:creationId xmlns:a16="http://schemas.microsoft.com/office/drawing/2014/main" id="{7138D944-A2F1-B5EB-0D62-D4BD36FFAF83}"/>
              </a:ext>
            </a:extLst>
          </p:cNvPr>
          <p:cNvSpPr>
            <a:spLocks noGrp="1"/>
          </p:cNvSpPr>
          <p:nvPr>
            <p:ph idx="1"/>
          </p:nvPr>
        </p:nvSpPr>
        <p:spPr>
          <a:xfrm>
            <a:off x="323528" y="1600200"/>
            <a:ext cx="8363272" cy="4525963"/>
          </a:xfrm>
        </p:spPr>
        <p:txBody>
          <a:bodyPr>
            <a:normAutofit/>
          </a:bodyPr>
          <a:lstStyle/>
          <a:p>
            <a:r>
              <a:rPr lang="he-IL" sz="2800"/>
              <a:t>במאי 2004 מרכז רפואי </a:t>
            </a:r>
            <a:r>
              <a:rPr lang="en-US" sz="2800"/>
              <a:t>Jean Monnet</a:t>
            </a:r>
            <a:r>
              <a:rPr lang="he-IL" sz="2800"/>
              <a:t> שנמצא ב- </a:t>
            </a:r>
            <a:r>
              <a:rPr lang="en-US" sz="2800" err="1"/>
              <a:t>Epinal</a:t>
            </a:r>
            <a:r>
              <a:rPr lang="he-IL" sz="2800"/>
              <a:t> שבצרפת.</a:t>
            </a:r>
          </a:p>
          <a:p>
            <a:r>
              <a:rPr lang="he-IL" sz="2800"/>
              <a:t>עברו לשימוש ב- </a:t>
            </a:r>
            <a:r>
              <a:rPr lang="en-US" sz="2800"/>
              <a:t>Dynamic Wedge</a:t>
            </a:r>
            <a:r>
              <a:rPr lang="he-IL" sz="2800"/>
              <a:t> במקום ב- </a:t>
            </a:r>
            <a:r>
              <a:rPr lang="en-US" sz="2800"/>
              <a:t>wedge</a:t>
            </a:r>
            <a:r>
              <a:rPr lang="he-IL" sz="2800"/>
              <a:t> פיזי.</a:t>
            </a:r>
          </a:p>
          <a:p>
            <a:r>
              <a:rPr lang="he-IL" sz="2800"/>
              <a:t>קיים הבדל בחישוב ה- </a:t>
            </a:r>
            <a:r>
              <a:rPr lang="en-US" sz="2800"/>
              <a:t>MU</a:t>
            </a:r>
            <a:r>
              <a:rPr lang="he-IL" sz="2800"/>
              <a:t> בין שתי השיטות כיוון של- </a:t>
            </a:r>
            <a:r>
              <a:rPr lang="en-US" sz="2800"/>
              <a:t>wedge</a:t>
            </a:r>
            <a:r>
              <a:rPr lang="he-IL" sz="2800"/>
              <a:t> פיזי יש בליעה גדולה יותר עקב תוספת של בולע.</a:t>
            </a:r>
            <a:endParaRPr lang="LID4096" sz="2800"/>
          </a:p>
        </p:txBody>
      </p:sp>
      <p:pic>
        <p:nvPicPr>
          <p:cNvPr id="7" name="Picture 6" descr="A picture containing electronics, electronic device, hard disc, drive">
            <a:extLst>
              <a:ext uri="{FF2B5EF4-FFF2-40B4-BE49-F238E27FC236}">
                <a16:creationId xmlns:a16="http://schemas.microsoft.com/office/drawing/2014/main" id="{229055C7-1633-A465-E16F-191234221C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9512" y="4137323"/>
            <a:ext cx="1988840" cy="1988840"/>
          </a:xfrm>
          <a:prstGeom prst="rect">
            <a:avLst/>
          </a:prstGeom>
        </p:spPr>
      </p:pic>
      <p:pic>
        <p:nvPicPr>
          <p:cNvPr id="4098" name="Picture 2" descr="Verification of Varian enhanced dynamic wedge implementation in MasterPlan  treatment planning system - Pasquino - 2009 - Journal of Applied Clinical  Medical Physics - Wiley Online Library">
            <a:extLst>
              <a:ext uri="{FF2B5EF4-FFF2-40B4-BE49-F238E27FC236}">
                <a16:creationId xmlns:a16="http://schemas.microsoft.com/office/drawing/2014/main" id="{0F05A65A-11AD-EFC1-3655-BA9A50A402B9}"/>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3131840" y="4098846"/>
            <a:ext cx="2344761" cy="2601276"/>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Schematic drawing of the Varian Clinac 2100C linac | Download ...">
            <a:extLst>
              <a:ext uri="{FF2B5EF4-FFF2-40B4-BE49-F238E27FC236}">
                <a16:creationId xmlns:a16="http://schemas.microsoft.com/office/drawing/2014/main" id="{767B4726-1A96-6CCE-F2B8-374B7A42BDFF}"/>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a:off x="6084168" y="4098845"/>
            <a:ext cx="1387950" cy="26012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4468213"/>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normAutofit fontScale="90000"/>
          </a:bodyPr>
          <a:lstStyle/>
          <a:p>
            <a:r>
              <a:rPr lang="he-IL" altLang="en-US" u="sng"/>
              <a:t>סכנות בטיפול קרינתי </a:t>
            </a:r>
            <a:r>
              <a:rPr lang="he-IL" u="sng"/>
              <a:t>תאונות ברדיותרפיה - מקרה </a:t>
            </a:r>
            <a:r>
              <a:rPr lang="en-US" u="sng"/>
              <a:t>4</a:t>
            </a:r>
            <a:endParaRPr lang="en-US"/>
          </a:p>
        </p:txBody>
      </p:sp>
      <p:sp>
        <p:nvSpPr>
          <p:cNvPr id="5" name="Content Placeholder 4">
            <a:extLst>
              <a:ext uri="{FF2B5EF4-FFF2-40B4-BE49-F238E27FC236}">
                <a16:creationId xmlns:a16="http://schemas.microsoft.com/office/drawing/2014/main" id="{7138D944-A2F1-B5EB-0D62-D4BD36FFAF83}"/>
              </a:ext>
            </a:extLst>
          </p:cNvPr>
          <p:cNvSpPr>
            <a:spLocks noGrp="1"/>
          </p:cNvSpPr>
          <p:nvPr>
            <p:ph idx="1"/>
          </p:nvPr>
        </p:nvSpPr>
        <p:spPr>
          <a:xfrm>
            <a:off x="107504" y="1600201"/>
            <a:ext cx="8928992" cy="2260848"/>
          </a:xfrm>
        </p:spPr>
        <p:txBody>
          <a:bodyPr>
            <a:normAutofit fontScale="92500" lnSpcReduction="20000"/>
          </a:bodyPr>
          <a:lstStyle/>
          <a:p>
            <a:r>
              <a:rPr lang="he-IL" sz="2800"/>
              <a:t>מערכת התכנון </a:t>
            </a:r>
            <a:r>
              <a:rPr lang="en-US" sz="2800"/>
              <a:t>Eclipse</a:t>
            </a:r>
            <a:r>
              <a:rPr lang="en-US" sz="2800" baseline="30000"/>
              <a:t>©</a:t>
            </a:r>
            <a:r>
              <a:rPr lang="he-IL" sz="2800"/>
              <a:t> של ורייאן, הייתה חדשה והמתכננים לא הכירו את המערכת.</a:t>
            </a:r>
          </a:p>
          <a:p>
            <a:r>
              <a:rPr lang="he-IL" sz="2800"/>
              <a:t>הוראות ההפעלה של המערכת לא היו בשפת האם שלהם.</a:t>
            </a:r>
          </a:p>
          <a:p>
            <a:r>
              <a:rPr lang="he-IL" sz="2800"/>
              <a:t>בתכנה ניתן היה לבחור בין שימוש ב- </a:t>
            </a:r>
            <a:r>
              <a:rPr lang="en-US" sz="2800"/>
              <a:t>wedge</a:t>
            </a:r>
            <a:r>
              <a:rPr lang="he-IL" sz="2800"/>
              <a:t> פיזי לדינאמי.</a:t>
            </a:r>
          </a:p>
          <a:p>
            <a:r>
              <a:rPr lang="he-IL" sz="2800"/>
              <a:t>המתכננים בחרו ב </a:t>
            </a:r>
            <a:r>
              <a:rPr lang="en-US" sz="2800" u="sng"/>
              <a:t>wedge</a:t>
            </a:r>
            <a:r>
              <a:rPr lang="he-IL" sz="2800" u="sng"/>
              <a:t> פיזי</a:t>
            </a:r>
            <a:r>
              <a:rPr lang="he-IL" sz="2800"/>
              <a:t> במערכת החישוב כאשר בתכנון תכננו ל- </a:t>
            </a:r>
            <a:r>
              <a:rPr lang="en-US" sz="2800" u="sng"/>
              <a:t>wedge</a:t>
            </a:r>
            <a:r>
              <a:rPr lang="he-IL" sz="2800" u="sng"/>
              <a:t> דינאמי</a:t>
            </a:r>
            <a:r>
              <a:rPr lang="he-IL" sz="2800"/>
              <a:t>.</a:t>
            </a:r>
            <a:endParaRPr lang="he-IL" sz="2800" u="sng"/>
          </a:p>
          <a:p>
            <a:endParaRPr lang="he-IL" sz="2800"/>
          </a:p>
          <a:p>
            <a:endParaRPr lang="LID4096" sz="2800"/>
          </a:p>
        </p:txBody>
      </p:sp>
      <p:pic>
        <p:nvPicPr>
          <p:cNvPr id="14" name="Picture 13">
            <a:extLst>
              <a:ext uri="{FF2B5EF4-FFF2-40B4-BE49-F238E27FC236}">
                <a16:creationId xmlns:a16="http://schemas.microsoft.com/office/drawing/2014/main" id="{705444FB-AB4D-DE2C-3B2A-3711D4005E26}"/>
              </a:ext>
            </a:extLst>
          </p:cNvPr>
          <p:cNvPicPr>
            <a:picLocks noChangeAspect="1"/>
          </p:cNvPicPr>
          <p:nvPr/>
        </p:nvPicPr>
        <p:blipFill>
          <a:blip r:embed="rId2"/>
          <a:stretch>
            <a:fillRect/>
          </a:stretch>
        </p:blipFill>
        <p:spPr>
          <a:xfrm>
            <a:off x="2077775" y="4049668"/>
            <a:ext cx="2932430" cy="2554445"/>
          </a:xfrm>
          <a:prstGeom prst="rect">
            <a:avLst/>
          </a:prstGeom>
        </p:spPr>
      </p:pic>
      <p:pic>
        <p:nvPicPr>
          <p:cNvPr id="15" name="Picture 14">
            <a:extLst>
              <a:ext uri="{FF2B5EF4-FFF2-40B4-BE49-F238E27FC236}">
                <a16:creationId xmlns:a16="http://schemas.microsoft.com/office/drawing/2014/main" id="{9628BB85-9B6E-DF8F-00EE-E72AE6930870}"/>
              </a:ext>
            </a:extLst>
          </p:cNvPr>
          <p:cNvPicPr>
            <a:picLocks noChangeAspect="1"/>
          </p:cNvPicPr>
          <p:nvPr/>
        </p:nvPicPr>
        <p:blipFill>
          <a:blip r:embed="rId3"/>
          <a:stretch>
            <a:fillRect/>
          </a:stretch>
        </p:blipFill>
        <p:spPr>
          <a:xfrm>
            <a:off x="323528" y="4049668"/>
            <a:ext cx="1584176" cy="2128359"/>
          </a:xfrm>
          <a:prstGeom prst="rect">
            <a:avLst/>
          </a:prstGeom>
        </p:spPr>
      </p:pic>
    </p:spTree>
    <p:extLst>
      <p:ext uri="{BB962C8B-B14F-4D97-AF65-F5344CB8AC3E}">
        <p14:creationId xmlns:p14="http://schemas.microsoft.com/office/powerpoint/2010/main" val="3824662349"/>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normAutofit fontScale="90000"/>
          </a:bodyPr>
          <a:lstStyle/>
          <a:p>
            <a:r>
              <a:rPr lang="he-IL" altLang="en-US" u="sng"/>
              <a:t>סכנות בטיפול קרינתי </a:t>
            </a:r>
            <a:r>
              <a:rPr lang="he-IL" u="sng"/>
              <a:t>תאונות ברדיותרפיה - מקרה </a:t>
            </a:r>
            <a:r>
              <a:rPr lang="en-US" u="sng"/>
              <a:t>4</a:t>
            </a:r>
            <a:endParaRPr lang="en-US"/>
          </a:p>
        </p:txBody>
      </p:sp>
      <p:sp>
        <p:nvSpPr>
          <p:cNvPr id="5" name="Content Placeholder 4">
            <a:extLst>
              <a:ext uri="{FF2B5EF4-FFF2-40B4-BE49-F238E27FC236}">
                <a16:creationId xmlns:a16="http://schemas.microsoft.com/office/drawing/2014/main" id="{7138D944-A2F1-B5EB-0D62-D4BD36FFAF83}"/>
              </a:ext>
            </a:extLst>
          </p:cNvPr>
          <p:cNvSpPr>
            <a:spLocks noGrp="1"/>
          </p:cNvSpPr>
          <p:nvPr>
            <p:ph idx="1"/>
          </p:nvPr>
        </p:nvSpPr>
        <p:spPr>
          <a:xfrm>
            <a:off x="107504" y="1600200"/>
            <a:ext cx="8928992" cy="2836912"/>
          </a:xfrm>
        </p:spPr>
        <p:txBody>
          <a:bodyPr>
            <a:normAutofit fontScale="92500"/>
          </a:bodyPr>
          <a:lstStyle/>
          <a:p>
            <a:r>
              <a:rPr lang="he-IL" sz="2800"/>
              <a:t>ב- 15 לספטמבר 2005 ראשות הבריאות המחוזית קיבלה דיווח על האירוע.</a:t>
            </a:r>
          </a:p>
          <a:p>
            <a:r>
              <a:rPr lang="he-IL" sz="2800"/>
              <a:t>ב- 5 לאוקטובר 2005 נערך דיון בנושא אך לא נכתב פרוטוקול לישיבה ודבר האירוע הועבר למשרד הבריאות הלאומי של צרפת רק ביולי 2006. כשנה אחרי.</a:t>
            </a:r>
          </a:p>
          <a:p>
            <a:r>
              <a:rPr lang="he-IL" sz="2800"/>
              <a:t>לפחות 23 מטופלים קיבלו מנות יתר של 20% בין 2005 ל- 2006.</a:t>
            </a:r>
          </a:p>
          <a:p>
            <a:endParaRPr lang="he-IL" sz="2800"/>
          </a:p>
          <a:p>
            <a:endParaRPr lang="LID4096" sz="2800"/>
          </a:p>
        </p:txBody>
      </p:sp>
    </p:spTree>
    <p:extLst>
      <p:ext uri="{BB962C8B-B14F-4D97-AF65-F5344CB8AC3E}">
        <p14:creationId xmlns:p14="http://schemas.microsoft.com/office/powerpoint/2010/main" val="4037298948"/>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normAutofit fontScale="90000"/>
          </a:bodyPr>
          <a:lstStyle/>
          <a:p>
            <a:r>
              <a:rPr lang="he-IL" altLang="en-US" u="sng"/>
              <a:t>סכנות בטיפול קרינתי </a:t>
            </a:r>
            <a:r>
              <a:rPr lang="he-IL" u="sng"/>
              <a:t>תאונות ברדיותרפיה - מקרה </a:t>
            </a:r>
            <a:r>
              <a:rPr lang="en-US" u="sng"/>
              <a:t>4</a:t>
            </a:r>
            <a:endParaRPr lang="en-US"/>
          </a:p>
        </p:txBody>
      </p:sp>
      <p:sp>
        <p:nvSpPr>
          <p:cNvPr id="5" name="Content Placeholder 4">
            <a:extLst>
              <a:ext uri="{FF2B5EF4-FFF2-40B4-BE49-F238E27FC236}">
                <a16:creationId xmlns:a16="http://schemas.microsoft.com/office/drawing/2014/main" id="{7138D944-A2F1-B5EB-0D62-D4BD36FFAF83}"/>
              </a:ext>
            </a:extLst>
          </p:cNvPr>
          <p:cNvSpPr>
            <a:spLocks noGrp="1"/>
          </p:cNvSpPr>
          <p:nvPr>
            <p:ph idx="1"/>
          </p:nvPr>
        </p:nvSpPr>
        <p:spPr/>
        <p:txBody>
          <a:bodyPr>
            <a:normAutofit fontScale="92500"/>
          </a:bodyPr>
          <a:lstStyle/>
          <a:p>
            <a:r>
              <a:rPr lang="he-IL" sz="2800"/>
              <a:t>ארבעה מטופלים מתו. כ- 10 מטופלים חוו סיבוכים כתוצאה מהחשיפה.</a:t>
            </a:r>
          </a:p>
          <a:p>
            <a:r>
              <a:rPr lang="he-IL" sz="2800"/>
              <a:t>16 מטופלים הוגדרו באופן שגוי כמי שלא הושפעו מהאירוע.</a:t>
            </a:r>
          </a:p>
          <a:p>
            <a:pPr lvl="1"/>
            <a:r>
              <a:rPr lang="he-IL" sz="2400"/>
              <a:t>כ- 7 מטופלים קיבלו דיווח מרופא, אך לא מהרופא המטפל שלהם.</a:t>
            </a:r>
          </a:p>
          <a:p>
            <a:pPr lvl="1"/>
            <a:r>
              <a:rPr lang="he-IL" sz="2400"/>
              <a:t>מטופל אחד למד על האירוע מגורם שלישי.</a:t>
            </a:r>
          </a:p>
          <a:p>
            <a:pPr lvl="1"/>
            <a:r>
              <a:rPr lang="he-IL" sz="2400"/>
              <a:t>מטופל אחד למד על האירוע מהתקשורת.</a:t>
            </a:r>
          </a:p>
          <a:p>
            <a:pPr lvl="1"/>
            <a:r>
              <a:rPr lang="he-IL" sz="2400"/>
              <a:t>מטופל אחד שמע במקרה רופא מדבר על זה.</a:t>
            </a:r>
          </a:p>
          <a:p>
            <a:pPr lvl="1"/>
            <a:r>
              <a:rPr lang="he-IL" sz="2400"/>
              <a:t>4 מטופלים קיבלו את המידע מהנהלת המרכז הרפואי יומיים לפני הפרסום התקשורתי של המקרה.</a:t>
            </a:r>
          </a:p>
          <a:p>
            <a:pPr lvl="1"/>
            <a:r>
              <a:rPr lang="he-IL" sz="2400"/>
              <a:t>מטופל אחד נפתר לפני שקיבל דיווח.</a:t>
            </a:r>
            <a:endParaRPr lang="LID4096" sz="2400"/>
          </a:p>
        </p:txBody>
      </p:sp>
    </p:spTree>
    <p:extLst>
      <p:ext uri="{BB962C8B-B14F-4D97-AF65-F5344CB8AC3E}">
        <p14:creationId xmlns:p14="http://schemas.microsoft.com/office/powerpoint/2010/main" val="3104080219"/>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normAutofit fontScale="90000"/>
          </a:bodyPr>
          <a:lstStyle/>
          <a:p>
            <a:r>
              <a:rPr lang="he-IL" altLang="en-US" u="sng"/>
              <a:t>סכנות בטיפול קרינתי </a:t>
            </a:r>
            <a:r>
              <a:rPr lang="he-IL" u="sng"/>
              <a:t>תאונות ברדיותרפיה - מקרה </a:t>
            </a:r>
            <a:r>
              <a:rPr lang="en-US" u="sng"/>
              <a:t>4</a:t>
            </a:r>
            <a:endParaRPr lang="en-US"/>
          </a:p>
        </p:txBody>
      </p:sp>
      <p:sp>
        <p:nvSpPr>
          <p:cNvPr id="5" name="Content Placeholder 4">
            <a:extLst>
              <a:ext uri="{FF2B5EF4-FFF2-40B4-BE49-F238E27FC236}">
                <a16:creationId xmlns:a16="http://schemas.microsoft.com/office/drawing/2014/main" id="{7138D944-A2F1-B5EB-0D62-D4BD36FFAF83}"/>
              </a:ext>
            </a:extLst>
          </p:cNvPr>
          <p:cNvSpPr>
            <a:spLocks noGrp="1"/>
          </p:cNvSpPr>
          <p:nvPr>
            <p:ph idx="1"/>
          </p:nvPr>
        </p:nvSpPr>
        <p:spPr/>
        <p:txBody>
          <a:bodyPr>
            <a:normAutofit/>
          </a:bodyPr>
          <a:lstStyle/>
          <a:p>
            <a:r>
              <a:rPr lang="he-IL" sz="2800"/>
              <a:t>2 רדיותרפיסטים קיבלו ב- 2013 הכרעת דין של 4 שנות מאסר וקנס של 20000 יורו.</a:t>
            </a:r>
          </a:p>
          <a:p>
            <a:r>
              <a:rPr lang="he-IL" sz="2800"/>
              <a:t>פיזיקאי אחד קיבל 3 שנים מאסר וקנס של 10000 יורו.</a:t>
            </a:r>
          </a:p>
          <a:p>
            <a:r>
              <a:rPr lang="he-IL" sz="2800"/>
              <a:t>נכון לאפריל 2015 הכרעות הדין היו בערעורים משפטיים. לא מצאתי מידע לגבי התוצאות של הערעורים.</a:t>
            </a:r>
            <a:endParaRPr lang="LID4096" sz="2800"/>
          </a:p>
        </p:txBody>
      </p:sp>
    </p:spTree>
    <p:extLst>
      <p:ext uri="{BB962C8B-B14F-4D97-AF65-F5344CB8AC3E}">
        <p14:creationId xmlns:p14="http://schemas.microsoft.com/office/powerpoint/2010/main" val="581912591"/>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A94994B-3CF8-469C-01AB-8966CEAA1D88}"/>
              </a:ext>
            </a:extLst>
          </p:cNvPr>
          <p:cNvSpPr>
            <a:spLocks noGrp="1"/>
          </p:cNvSpPr>
          <p:nvPr>
            <p:ph type="title"/>
          </p:nvPr>
        </p:nvSpPr>
        <p:spPr/>
        <p:txBody>
          <a:bodyPr>
            <a:normAutofit fontScale="90000"/>
          </a:bodyPr>
          <a:lstStyle/>
          <a:p>
            <a:r>
              <a:rPr lang="he-IL" altLang="en-US" u="sng"/>
              <a:t>סכנות בטיפול קרינתי </a:t>
            </a:r>
            <a:r>
              <a:rPr lang="he-IL" u="sng"/>
              <a:t>תאונות ברדיותרפיה - סיכום</a:t>
            </a:r>
            <a:endParaRPr lang="en-IL"/>
          </a:p>
        </p:txBody>
      </p:sp>
      <p:sp>
        <p:nvSpPr>
          <p:cNvPr id="3" name="מציין מיקום תוכן 2">
            <a:extLst>
              <a:ext uri="{FF2B5EF4-FFF2-40B4-BE49-F238E27FC236}">
                <a16:creationId xmlns:a16="http://schemas.microsoft.com/office/drawing/2014/main" id="{36E3096D-C8D0-1F3C-8886-280F16C35CA4}"/>
              </a:ext>
            </a:extLst>
          </p:cNvPr>
          <p:cNvSpPr>
            <a:spLocks noGrp="1"/>
          </p:cNvSpPr>
          <p:nvPr>
            <p:ph idx="1"/>
          </p:nvPr>
        </p:nvSpPr>
        <p:spPr/>
        <p:txBody>
          <a:bodyPr>
            <a:normAutofit fontScale="85000" lnSpcReduction="10000"/>
          </a:bodyPr>
          <a:lstStyle/>
          <a:p>
            <a:r>
              <a:rPr lang="he-IL"/>
              <a:t>במקרים המתוארים ראינו איך מקרה בודד של נערה יכול לזעזע מדינה שלמה. איך אירוע קרינה של חישוב שגוי או מכשיר שאינו מכויל יכול לפגוע במספר רב של מטופלים. איך מנת קרינה עודפת מסוגלת להרוג מטופל ומצד שני תת-מנה מונעת טיפול אפקטיבי.</a:t>
            </a:r>
          </a:p>
          <a:p>
            <a:r>
              <a:rPr lang="he-IL"/>
              <a:t>בכל האירועים המתוארים קצת חסר הצד של הצוות. </a:t>
            </a:r>
          </a:p>
          <a:p>
            <a:r>
              <a:rPr lang="he-IL"/>
              <a:t>חשוב להדגיש שבכול אירוע כזה, </a:t>
            </a:r>
            <a:r>
              <a:rPr lang="he-IL" sz="3500" b="1" u="sng"/>
              <a:t>הצוות עצמו גם נפגע</a:t>
            </a:r>
            <a:r>
              <a:rPr lang="he-IL" sz="3500"/>
              <a:t>. </a:t>
            </a:r>
            <a:r>
              <a:rPr lang="he-IL" sz="3300"/>
              <a:t>בכל המקרים היו דיווחים על פגיעה נפשית וכן היו מקרים של אנשי צוות שכתוצאה מהאירוע עזבו את המקצוע ולא יכלו להמשיך. ראינו גם מקרה בו הצוות נענש בעקבות פעולותיו וניסיונות הטיוח של האירוע.</a:t>
            </a:r>
          </a:p>
          <a:p>
            <a:endParaRPr lang="he-IL" b="1" u="sng"/>
          </a:p>
        </p:txBody>
      </p:sp>
    </p:spTree>
    <p:extLst>
      <p:ext uri="{BB962C8B-B14F-4D97-AF65-F5344CB8AC3E}">
        <p14:creationId xmlns:p14="http://schemas.microsoft.com/office/powerpoint/2010/main" val="84939330"/>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normAutofit fontScale="90000"/>
          </a:bodyPr>
          <a:lstStyle/>
          <a:p>
            <a:r>
              <a:rPr lang="he-IL"/>
              <a:t>הגנת המטופל מקרינה מייננת בחשיפה רפואית.</a:t>
            </a:r>
          </a:p>
        </p:txBody>
      </p:sp>
      <p:sp>
        <p:nvSpPr>
          <p:cNvPr id="3" name="מציין מיקום תוכן 2"/>
          <p:cNvSpPr>
            <a:spLocks noGrp="1"/>
          </p:cNvSpPr>
          <p:nvPr>
            <p:ph idx="1"/>
          </p:nvPr>
        </p:nvSpPr>
        <p:spPr>
          <a:xfrm>
            <a:off x="3398690" y="1672209"/>
            <a:ext cx="5493790" cy="4205063"/>
          </a:xfrm>
        </p:spPr>
        <p:txBody>
          <a:bodyPr>
            <a:normAutofit/>
          </a:bodyPr>
          <a:lstStyle/>
          <a:p>
            <a:pPr marL="0" indent="0">
              <a:buNone/>
            </a:pPr>
            <a:r>
              <a:rPr lang="he-IL" sz="2400"/>
              <a:t>משרד הבריאות חוזר 27/11 מ- 15/11/2011</a:t>
            </a:r>
          </a:p>
          <a:p>
            <a:pPr marL="0" indent="0">
              <a:buNone/>
            </a:pPr>
            <a:r>
              <a:rPr lang="he-IL" sz="2400"/>
              <a:t>מטרה:</a:t>
            </a:r>
          </a:p>
          <a:p>
            <a:pPr marL="514350" indent="-514350">
              <a:buFont typeface="+mj-lt"/>
              <a:buAutoNum type="arabicPeriod"/>
            </a:pPr>
            <a:r>
              <a:rPr lang="he-IL" sz="2400"/>
              <a:t>הגברת מודעות הנבדקים, המטופלים והצוות הרפואי לסיכונים הקיימים בחשיפה לקרינה מייננת.</a:t>
            </a:r>
          </a:p>
          <a:p>
            <a:pPr marL="514350" indent="-514350">
              <a:buFont typeface="+mj-lt"/>
              <a:buAutoNum type="arabicPeriod"/>
            </a:pPr>
            <a:r>
              <a:rPr lang="he-IL" sz="2400"/>
              <a:t>הכנת תשתית ארגונית להיערכות להגנת המטופל מסיכוני הקרינה.</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51520" y="1628800"/>
            <a:ext cx="3147170" cy="4320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3576258" y="4881354"/>
            <a:ext cx="5009267" cy="707886"/>
          </a:xfrm>
          <a:prstGeom prst="rect">
            <a:avLst/>
          </a:prstGeom>
          <a:noFill/>
        </p:spPr>
        <p:txBody>
          <a:bodyPr wrap="square" rtlCol="1">
            <a:spAutoFit/>
          </a:bodyPr>
          <a:lstStyle/>
          <a:p>
            <a:pPr fontAlgn="auto">
              <a:spcBef>
                <a:spcPct val="0"/>
              </a:spcBef>
              <a:spcAft>
                <a:spcPct val="0"/>
              </a:spcAft>
            </a:pPr>
            <a:r>
              <a:rPr lang="he-IL" sz="2000" b="1">
                <a:solidFill>
                  <a:prstClr val="black"/>
                </a:solidFill>
                <a:latin typeface="Calibri"/>
                <a:cs typeface="Arial"/>
              </a:rPr>
              <a:t>בכל מקום בו מצוין בחוזר זה "מטופל" הכוונה היא לנבדק ומטופל כאחד (</a:t>
            </a:r>
            <a:r>
              <a:rPr lang="en-US" sz="2000" b="1">
                <a:solidFill>
                  <a:prstClr val="black"/>
                </a:solidFill>
                <a:latin typeface="Calibri"/>
                <a:cs typeface="+mn-cs"/>
              </a:rPr>
              <a:t>patient</a:t>
            </a:r>
            <a:r>
              <a:rPr lang="he-IL" sz="2000" b="1">
                <a:solidFill>
                  <a:prstClr val="black"/>
                </a:solidFill>
                <a:latin typeface="Calibri"/>
                <a:cs typeface="Arial"/>
              </a:rPr>
              <a:t>)</a:t>
            </a:r>
          </a:p>
        </p:txBody>
      </p:sp>
    </p:spTree>
    <p:extLst>
      <p:ext uri="{BB962C8B-B14F-4D97-AF65-F5344CB8AC3E}">
        <p14:creationId xmlns:p14="http://schemas.microsoft.com/office/powerpoint/2010/main" val="132853265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 presetClass="entr" presetSubtype="0" dur="1"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par>
                          <p:cTn id="7" fill="hold" nodeType="afterGroup">
                            <p:stCondLst>
                              <p:cond delay="1"/>
                            </p:stCondLst>
                            <p:childTnLst>
                              <p:par>
                                <p:cTn id="8" presetID="1" presetClass="entr" presetSubtype="0" dur="1" fill="hold" grpId="0" nodeType="after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childTnLst>
                                </p:cTn>
                              </p:par>
                            </p:childTnLst>
                          </p:cTn>
                        </p:par>
                        <p:par>
                          <p:cTn id="10" fill="hold" nodeType="afterGroup">
                            <p:stCondLst>
                              <p:cond delay="2"/>
                            </p:stCondLst>
                            <p:childTnLst>
                              <p:par>
                                <p:cTn id="11" presetID="1" presetClass="entr" presetSubtype="0" dur="1" fill="hold" grpId="0" nodeType="after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par>
                          <p:cTn id="13" fill="hold" nodeType="afterGroup">
                            <p:stCondLst>
                              <p:cond delay="3"/>
                            </p:stCondLst>
                            <p:childTnLst>
                              <p:par>
                                <p:cTn id="14" presetID="1" presetClass="entr" presetSubtype="0" dur="1" fill="hold" grpId="0" nodeType="after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89D91815-39DD-C677-59B0-A2931459B626}"/>
              </a:ext>
            </a:extLst>
          </p:cNvPr>
          <p:cNvSpPr>
            <a:spLocks noGrp="1"/>
          </p:cNvSpPr>
          <p:nvPr>
            <p:ph type="title"/>
          </p:nvPr>
        </p:nvSpPr>
        <p:spPr>
          <a:xfrm>
            <a:off x="457200" y="274638"/>
            <a:ext cx="8229600" cy="1143000"/>
          </a:xfrm>
        </p:spPr>
        <p:txBody>
          <a:bodyPr/>
          <a:lstStyle/>
          <a:p>
            <a:r>
              <a:rPr lang="he-IL"/>
              <a:t>הגברת המודעות</a:t>
            </a:r>
            <a:r>
              <a:rPr lang="en-US"/>
              <a:t> </a:t>
            </a:r>
          </a:p>
        </p:txBody>
      </p:sp>
      <p:pic>
        <p:nvPicPr>
          <p:cNvPr id="5" name="Content Placeholder 4">
            <a:extLst>
              <a:ext uri="{FF2B5EF4-FFF2-40B4-BE49-F238E27FC236}">
                <a16:creationId xmlns:a16="http://schemas.microsoft.com/office/drawing/2014/main" id="{75B75384-34BF-6B08-3934-2E94580E9ACD}"/>
              </a:ext>
            </a:extLst>
          </p:cNvPr>
          <p:cNvPicPr>
            <a:picLocks noGrp="1" noChangeAspect="1"/>
          </p:cNvPicPr>
          <p:nvPr>
            <p:ph sz="half" idx="1"/>
          </p:nvPr>
        </p:nvPicPr>
        <p:blipFill>
          <a:blip r:embed="rId2"/>
          <a:stretch>
            <a:fillRect/>
          </a:stretch>
        </p:blipFill>
        <p:spPr>
          <a:xfrm>
            <a:off x="4788024" y="3035500"/>
            <a:ext cx="4191384" cy="2409724"/>
          </a:xfrm>
          <a:noFill/>
        </p:spPr>
      </p:pic>
      <p:sp>
        <p:nvSpPr>
          <p:cNvPr id="12" name="Content Placeholder 3">
            <a:extLst>
              <a:ext uri="{FF2B5EF4-FFF2-40B4-BE49-F238E27FC236}">
                <a16:creationId xmlns:a16="http://schemas.microsoft.com/office/drawing/2014/main" id="{20DA9AC5-2556-9483-5CF8-FAACCA813E2C}"/>
              </a:ext>
            </a:extLst>
          </p:cNvPr>
          <p:cNvSpPr>
            <a:spLocks noGrp="1"/>
          </p:cNvSpPr>
          <p:nvPr>
            <p:ph sz="half" idx="2"/>
          </p:nvPr>
        </p:nvSpPr>
        <p:spPr>
          <a:xfrm>
            <a:off x="539552" y="1600201"/>
            <a:ext cx="8147248" cy="1252736"/>
          </a:xfrm>
        </p:spPr>
        <p:txBody>
          <a:bodyPr>
            <a:normAutofit fontScale="62500" lnSpcReduction="20000"/>
          </a:bodyPr>
          <a:lstStyle/>
          <a:p>
            <a:r>
              <a:rPr lang="en-US"/>
              <a:t>NUCLEUS</a:t>
            </a:r>
            <a:r>
              <a:rPr lang="he-IL"/>
              <a:t> – קורסים ופרסומים ברדיותרפיה של </a:t>
            </a:r>
            <a:r>
              <a:rPr lang="en-US"/>
              <a:t>International Atomic Energy Agency (IAEA)</a:t>
            </a:r>
            <a:r>
              <a:rPr lang="he-IL"/>
              <a:t>.</a:t>
            </a:r>
          </a:p>
          <a:p>
            <a:pPr lvl="1"/>
            <a:r>
              <a:rPr lang="en-US">
                <a:hlinkClick r:id="rId3"/>
              </a:rPr>
              <a:t>https://www.iaea.org/resources/nucleus-information-resources</a:t>
            </a:r>
            <a:endParaRPr lang="he-IL"/>
          </a:p>
          <a:p>
            <a:r>
              <a:rPr lang="en-US"/>
              <a:t>Safety and Quality in Radiotherapy</a:t>
            </a:r>
            <a:r>
              <a:rPr lang="he-IL"/>
              <a:t> – קורס חינמי בנושא ניהול סיכונים ברדיותרפיה.</a:t>
            </a:r>
            <a:endParaRPr lang="en-US"/>
          </a:p>
        </p:txBody>
      </p:sp>
      <p:pic>
        <p:nvPicPr>
          <p:cNvPr id="3" name="Picture 2">
            <a:extLst>
              <a:ext uri="{FF2B5EF4-FFF2-40B4-BE49-F238E27FC236}">
                <a16:creationId xmlns:a16="http://schemas.microsoft.com/office/drawing/2014/main" id="{32C76479-BEED-9DDE-6A44-E4B8944A3F70}"/>
              </a:ext>
            </a:extLst>
          </p:cNvPr>
          <p:cNvPicPr>
            <a:picLocks noChangeAspect="1"/>
          </p:cNvPicPr>
          <p:nvPr/>
        </p:nvPicPr>
        <p:blipFill>
          <a:blip r:embed="rId4"/>
          <a:stretch>
            <a:fillRect/>
          </a:stretch>
        </p:blipFill>
        <p:spPr>
          <a:xfrm>
            <a:off x="106305" y="3035500"/>
            <a:ext cx="4537703" cy="2409724"/>
          </a:xfrm>
          <a:prstGeom prst="rect">
            <a:avLst/>
          </a:prstGeom>
        </p:spPr>
      </p:pic>
    </p:spTree>
    <p:extLst>
      <p:ext uri="{BB962C8B-B14F-4D97-AF65-F5344CB8AC3E}">
        <p14:creationId xmlns:p14="http://schemas.microsoft.com/office/powerpoint/2010/main" val="137650299"/>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latin typeface="Arial" pitchFamily="34" charset="0"/>
                <a:cs typeface="Arial" pitchFamily="34" charset="0"/>
              </a:rPr>
              <a:t>תשתית ארגונית</a:t>
            </a:r>
          </a:p>
        </p:txBody>
      </p:sp>
      <p:sp>
        <p:nvSpPr>
          <p:cNvPr id="3" name="מציין מיקום תוכן 2"/>
          <p:cNvSpPr>
            <a:spLocks noGrp="1"/>
          </p:cNvSpPr>
          <p:nvPr>
            <p:ph idx="1"/>
          </p:nvPr>
        </p:nvSpPr>
        <p:spPr>
          <a:xfrm>
            <a:off x="446856" y="1556792"/>
            <a:ext cx="8589640" cy="4525963"/>
          </a:xfrm>
          <a:noFill/>
          <a:ln>
            <a:noFill/>
          </a:ln>
        </p:spPr>
        <p:txBody>
          <a:bodyPr>
            <a:normAutofit fontScale="85000" lnSpcReduction="20000"/>
          </a:bodyPr>
          <a:lstStyle/>
          <a:p>
            <a:r>
              <a:rPr lang="he-IL" b="1">
                <a:latin typeface="Arial" pitchFamily="34" charset="0"/>
                <a:cs typeface="Arial" pitchFamily="34" charset="0"/>
              </a:rPr>
              <a:t>ניהול סיכונים ריאקטיבי</a:t>
            </a:r>
          </a:p>
          <a:p>
            <a:pPr lvl="1"/>
            <a:r>
              <a:rPr lang="he-IL" b="1">
                <a:latin typeface="Arial" pitchFamily="34" charset="0"/>
                <a:cs typeface="Arial" pitchFamily="34" charset="0"/>
              </a:rPr>
              <a:t>בגישה זו מגיבים (ריאקציה) ולומדים מתוך אירועים אשר קרו בעבר.</a:t>
            </a:r>
          </a:p>
          <a:p>
            <a:pPr lvl="1"/>
            <a:r>
              <a:rPr lang="he-IL" b="1">
                <a:latin typeface="Arial" pitchFamily="34" charset="0"/>
                <a:cs typeface="Arial" pitchFamily="34" charset="0"/>
              </a:rPr>
              <a:t>שיטות העבודה בגישה זו:</a:t>
            </a:r>
          </a:p>
          <a:p>
            <a:pPr lvl="2"/>
            <a:r>
              <a:rPr lang="he-IL" sz="2000" b="1">
                <a:latin typeface="Arial" pitchFamily="34" charset="0"/>
                <a:cs typeface="Arial" pitchFamily="34" charset="0"/>
              </a:rPr>
              <a:t>ניהול מערכת למידה</a:t>
            </a:r>
          </a:p>
          <a:p>
            <a:pPr lvl="2"/>
            <a:r>
              <a:rPr lang="he-IL" sz="2000" b="1">
                <a:latin typeface="Arial" pitchFamily="34" charset="0"/>
                <a:cs typeface="Arial" pitchFamily="34" charset="0"/>
              </a:rPr>
              <a:t>ביצוע תחקיר על אירועים</a:t>
            </a:r>
          </a:p>
          <a:p>
            <a:pPr lvl="2"/>
            <a:r>
              <a:rPr lang="he-IL" sz="2000" b="1">
                <a:latin typeface="Arial" pitchFamily="34" charset="0"/>
                <a:cs typeface="Arial" pitchFamily="34" charset="0"/>
              </a:rPr>
              <a:t>ביצוע אנליזת </a:t>
            </a:r>
            <a:r>
              <a:rPr lang="en-US" sz="2000" b="1">
                <a:latin typeface="Arial" pitchFamily="34" charset="0"/>
                <a:cs typeface="Arial" pitchFamily="34" charset="0"/>
              </a:rPr>
              <a:t>Root Cause Analysis (RCA)</a:t>
            </a:r>
            <a:endParaRPr lang="he-IL" sz="2000" b="1">
              <a:latin typeface="Arial" pitchFamily="34" charset="0"/>
              <a:cs typeface="Arial" pitchFamily="34" charset="0"/>
            </a:endParaRPr>
          </a:p>
          <a:p>
            <a:r>
              <a:rPr lang="he-IL" sz="2800" b="1">
                <a:latin typeface="Arial" pitchFamily="34" charset="0"/>
                <a:cs typeface="Arial" pitchFamily="34" charset="0"/>
              </a:rPr>
              <a:t>ניהול סיכונים פרואקטיבי</a:t>
            </a:r>
          </a:p>
          <a:p>
            <a:pPr lvl="1"/>
            <a:r>
              <a:rPr lang="he-IL" sz="2400" b="1">
                <a:latin typeface="Arial" pitchFamily="34" charset="0"/>
              </a:rPr>
              <a:t>ביצוע אנליזות תהליכיות </a:t>
            </a:r>
          </a:p>
          <a:p>
            <a:pPr lvl="3"/>
            <a:r>
              <a:rPr lang="en-US" sz="1800" b="1">
                <a:latin typeface="Arial" pitchFamily="34" charset="0"/>
                <a:cs typeface="Arial" pitchFamily="34" charset="0"/>
              </a:rPr>
              <a:t>Process Tree</a:t>
            </a:r>
            <a:endParaRPr lang="he-IL" sz="1800" b="1">
              <a:latin typeface="Arial" pitchFamily="34" charset="0"/>
              <a:cs typeface="Arial" pitchFamily="34" charset="0"/>
            </a:endParaRPr>
          </a:p>
          <a:p>
            <a:pPr lvl="3"/>
            <a:r>
              <a:rPr lang="en-US" sz="1800" b="1">
                <a:latin typeface="Arial" pitchFamily="34" charset="0"/>
                <a:cs typeface="Arial" pitchFamily="34" charset="0"/>
              </a:rPr>
              <a:t>Fault Tree analysis (FTA)</a:t>
            </a:r>
            <a:endParaRPr lang="he-IL" sz="1800" b="1">
              <a:latin typeface="Arial" pitchFamily="34" charset="0"/>
              <a:cs typeface="Arial" pitchFamily="34" charset="0"/>
            </a:endParaRPr>
          </a:p>
          <a:p>
            <a:pPr lvl="3"/>
            <a:r>
              <a:rPr lang="en-US" sz="1800" b="1">
                <a:latin typeface="Arial" pitchFamily="34" charset="0"/>
                <a:cs typeface="Arial" pitchFamily="34" charset="0"/>
              </a:rPr>
              <a:t> Failure Mode and Effect Analysis (FMEA)</a:t>
            </a:r>
            <a:endParaRPr lang="he-IL" sz="1800" b="1">
              <a:latin typeface="Arial" pitchFamily="34" charset="0"/>
            </a:endParaRPr>
          </a:p>
          <a:p>
            <a:pPr lvl="1"/>
            <a:r>
              <a:rPr lang="he-IL" sz="2400" b="1">
                <a:latin typeface="Arial" pitchFamily="34" charset="0"/>
              </a:rPr>
              <a:t>כתיבה והטמעה של נהלי</a:t>
            </a:r>
            <a:r>
              <a:rPr lang="en-US" sz="2400" b="1">
                <a:latin typeface="Arial" pitchFamily="34" charset="0"/>
              </a:rPr>
              <a:t> </a:t>
            </a:r>
            <a:r>
              <a:rPr lang="he-IL" sz="2400" b="1">
                <a:latin typeface="Arial" pitchFamily="34" charset="0"/>
              </a:rPr>
              <a:t>בטיחות ונהלי עבודה.</a:t>
            </a:r>
            <a:endParaRPr lang="en-US" sz="2400" b="1">
              <a:latin typeface="Arial" pitchFamily="34" charset="0"/>
            </a:endParaRPr>
          </a:p>
          <a:p>
            <a:pPr lvl="1"/>
            <a:r>
              <a:rPr lang="he-IL" sz="2400" b="1">
                <a:latin typeface="Arial" pitchFamily="34" charset="0"/>
                <a:cs typeface="Arial" pitchFamily="34" charset="0"/>
              </a:rPr>
              <a:t>הוספה של מחסומים ונקודות עצירה בתהליכי העבודה להגברת הבטיחות </a:t>
            </a:r>
            <a:r>
              <a:rPr lang="en-US" sz="2400" b="1">
                <a:latin typeface="Arial" pitchFamily="34" charset="0"/>
                <a:cs typeface="Arial" pitchFamily="34" charset="0"/>
              </a:rPr>
              <a:t>(Safety Barrier)</a:t>
            </a:r>
            <a:r>
              <a:rPr lang="he-IL" sz="2400" b="1">
                <a:latin typeface="Arial" pitchFamily="34" charset="0"/>
                <a:cs typeface="Arial" pitchFamily="34" charset="0"/>
              </a:rPr>
              <a:t>.</a:t>
            </a:r>
          </a:p>
          <a:p>
            <a:endParaRPr lang="he-IL" b="1">
              <a:latin typeface="Arial" pitchFamily="34" charset="0"/>
              <a:cs typeface="Arial" pitchFamily="34" charset="0"/>
            </a:endParaRPr>
          </a:p>
        </p:txBody>
      </p:sp>
    </p:spTree>
    <p:extLst>
      <p:ext uri="{BB962C8B-B14F-4D97-AF65-F5344CB8AC3E}">
        <p14:creationId xmlns:p14="http://schemas.microsoft.com/office/powerpoint/2010/main" val="1551903820"/>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457200" y="274638"/>
            <a:ext cx="8229600" cy="1143000"/>
          </a:xfrm>
        </p:spPr>
        <p:txBody>
          <a:bodyPr anchor="ctr">
            <a:normAutofit/>
          </a:bodyPr>
          <a:lstStyle/>
          <a:p>
            <a:r>
              <a:rPr lang="he-IL" dirty="0"/>
              <a:t>גישות לניהול סיכונים </a:t>
            </a:r>
            <a:r>
              <a:rPr lang="he-IL" dirty="0" err="1"/>
              <a:t>ריאקטיבי</a:t>
            </a:r>
            <a:endParaRPr lang="he-IL" dirty="0"/>
          </a:p>
        </p:txBody>
      </p:sp>
      <p:pic>
        <p:nvPicPr>
          <p:cNvPr id="5" name="מציין מיקום תוכן 1" descr="A diagram of a cause&#10;&#10;Description automatically generated with low confidence">
            <a:extLst>
              <a:ext uri="{FF2B5EF4-FFF2-40B4-BE49-F238E27FC236}">
                <a16:creationId xmlns:a16="http://schemas.microsoft.com/office/drawing/2014/main" id="{20315F45-8486-EA65-4356-E2C60ECEC8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6328" y="1477469"/>
            <a:ext cx="3586954" cy="2301841"/>
          </a:xfrm>
          <a:prstGeom prst="rect">
            <a:avLst/>
          </a:prstGeom>
          <a:noFill/>
        </p:spPr>
      </p:pic>
      <p:sp>
        <p:nvSpPr>
          <p:cNvPr id="3" name="מציין מיקום תוכן 2"/>
          <p:cNvSpPr>
            <a:spLocks noGrp="1"/>
          </p:cNvSpPr>
          <p:nvPr>
            <p:ph sz="half" idx="2"/>
          </p:nvPr>
        </p:nvSpPr>
        <p:spPr>
          <a:xfrm>
            <a:off x="4067944" y="1600200"/>
            <a:ext cx="4618856" cy="4525963"/>
          </a:xfrm>
        </p:spPr>
        <p:txBody>
          <a:bodyPr>
            <a:normAutofit/>
          </a:bodyPr>
          <a:lstStyle/>
          <a:p>
            <a:pPr>
              <a:lnSpc>
                <a:spcPct val="90000"/>
              </a:lnSpc>
            </a:pPr>
            <a:r>
              <a:rPr lang="he-IL" b="1"/>
              <a:t>ביצוע אנליזת </a:t>
            </a:r>
            <a:r>
              <a:rPr lang="en-US" b="1"/>
              <a:t>Root Cause Analysis (RCA)</a:t>
            </a:r>
            <a:endParaRPr lang="he-IL" b="1"/>
          </a:p>
          <a:p>
            <a:pPr>
              <a:lnSpc>
                <a:spcPct val="90000"/>
              </a:lnSpc>
            </a:pPr>
            <a:r>
              <a:rPr lang="he-IL" b="1"/>
              <a:t>בשיטה זו מתחיל מהתוצאה ושואלים למה האירוע קרה.</a:t>
            </a:r>
          </a:p>
          <a:p>
            <a:pPr>
              <a:lnSpc>
                <a:spcPct val="90000"/>
              </a:lnSpc>
            </a:pPr>
            <a:r>
              <a:rPr lang="he-IL" b="1"/>
              <a:t>הסיבות לאירוע לרוב אינן סיבות השורש ולכם שואלים שוב עד קבלה של סיבה שורשית.</a:t>
            </a:r>
          </a:p>
          <a:p>
            <a:pPr>
              <a:lnSpc>
                <a:spcPct val="90000"/>
              </a:lnSpc>
            </a:pPr>
            <a:r>
              <a:rPr lang="he-IL" b="1"/>
              <a:t>לשיטה זו גם קוראים </a:t>
            </a:r>
            <a:r>
              <a:rPr lang="en-US" b="1"/>
              <a:t>5 Whys</a:t>
            </a:r>
            <a:endParaRPr lang="he-IL" b="1"/>
          </a:p>
        </p:txBody>
      </p:sp>
      <p:pic>
        <p:nvPicPr>
          <p:cNvPr id="6" name="מציין מיקום תוכן 1">
            <a:extLst>
              <a:ext uri="{FF2B5EF4-FFF2-40B4-BE49-F238E27FC236}">
                <a16:creationId xmlns:a16="http://schemas.microsoft.com/office/drawing/2014/main" id="{0713B0BC-D2F8-CA1A-278A-122DBF80F1E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6328" y="3863463"/>
            <a:ext cx="3586954" cy="2301841"/>
          </a:xfrm>
          <a:prstGeom prst="rect">
            <a:avLst/>
          </a:prstGeom>
        </p:spPr>
      </p:pic>
    </p:spTree>
    <p:extLst>
      <p:ext uri="{BB962C8B-B14F-4D97-AF65-F5344CB8AC3E}">
        <p14:creationId xmlns:p14="http://schemas.microsoft.com/office/powerpoint/2010/main" val="4123086782"/>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C0A8F-9878-85B2-DE72-1D6EAE7C8310}"/>
              </a:ext>
            </a:extLst>
          </p:cNvPr>
          <p:cNvSpPr>
            <a:spLocks noGrp="1"/>
          </p:cNvSpPr>
          <p:nvPr>
            <p:ph type="title"/>
          </p:nvPr>
        </p:nvSpPr>
        <p:spPr/>
        <p:txBody>
          <a:bodyPr>
            <a:normAutofit fontScale="90000"/>
          </a:bodyPr>
          <a:lstStyle/>
          <a:p>
            <a:r>
              <a:rPr lang="he-IL" sz="4400" b="1">
                <a:latin typeface="Arial" pitchFamily="34" charset="0"/>
                <a:cs typeface="Arial" pitchFamily="34" charset="0"/>
              </a:rPr>
              <a:t>דוגמא ל-</a:t>
            </a:r>
            <a:r>
              <a:rPr lang="en-US" sz="4400" b="1">
                <a:latin typeface="Arial" pitchFamily="34" charset="0"/>
                <a:cs typeface="Arial" pitchFamily="34" charset="0"/>
              </a:rPr>
              <a:t>Root Cause Analysis (RCA)</a:t>
            </a:r>
            <a:endParaRPr lang="LID4096"/>
          </a:p>
        </p:txBody>
      </p:sp>
      <p:sp>
        <p:nvSpPr>
          <p:cNvPr id="3" name="Content Placeholder 2">
            <a:extLst>
              <a:ext uri="{FF2B5EF4-FFF2-40B4-BE49-F238E27FC236}">
                <a16:creationId xmlns:a16="http://schemas.microsoft.com/office/drawing/2014/main" id="{E1D34B77-4B74-3C47-5738-63F82D40EEF4}"/>
              </a:ext>
            </a:extLst>
          </p:cNvPr>
          <p:cNvSpPr>
            <a:spLocks noGrp="1"/>
          </p:cNvSpPr>
          <p:nvPr>
            <p:ph idx="1"/>
          </p:nvPr>
        </p:nvSpPr>
        <p:spPr/>
        <p:txBody>
          <a:bodyPr>
            <a:normAutofit fontScale="77500" lnSpcReduction="20000"/>
          </a:bodyPr>
          <a:lstStyle/>
          <a:p>
            <a:pPr marL="514350" indent="-514350" algn="r">
              <a:buFont typeface="+mj-lt"/>
              <a:buAutoNum type="arabicPeriod"/>
            </a:pPr>
            <a:r>
              <a:rPr lang="he-IL"/>
              <a:t>טיפול ראשון באמצעות הפלאק עבר בהצלחה.</a:t>
            </a:r>
            <a:endParaRPr lang="en-US"/>
          </a:p>
          <a:p>
            <a:pPr marL="514350" indent="-514350" algn="r">
              <a:buFont typeface="+mj-lt"/>
              <a:buAutoNum type="arabicPeriod"/>
            </a:pPr>
            <a:r>
              <a:rPr lang="he-IL"/>
              <a:t>הפלאק מוחזר למחלקה לפיזיקה.</a:t>
            </a:r>
          </a:p>
          <a:p>
            <a:pPr marL="514350" indent="-514350" algn="r">
              <a:buFont typeface="+mj-lt"/>
              <a:buAutoNum type="arabicPeriod"/>
            </a:pPr>
            <a:r>
              <a:rPr lang="he-IL"/>
              <a:t>הפלאק מוחדר למיכל פלסטיק וחוזר למצודה שלו. </a:t>
            </a:r>
            <a:r>
              <a:rPr lang="he-IL" i="1"/>
              <a:t>לפי הוראות היצרן הפלאק צריך להיות בתוך המצודה בלבד. מיכל הפלסטיק היה שייך למקורות המדומים.</a:t>
            </a:r>
          </a:p>
          <a:p>
            <a:pPr marL="514350" indent="-514350" algn="r">
              <a:buFont typeface="+mj-lt"/>
              <a:buAutoNum type="arabicPeriod"/>
            </a:pPr>
            <a:r>
              <a:rPr lang="he-IL"/>
              <a:t>יום לפני מועד טיפול שני, מתבקש פיזיקאי לבדוק את הפלאק ולוודא שהמקור הוא הנכון ולשלוח אותו לעיקור.</a:t>
            </a:r>
          </a:p>
          <a:p>
            <a:pPr marL="514350" indent="-514350" algn="r">
              <a:buFont typeface="+mj-lt"/>
              <a:buAutoNum type="arabicPeriod"/>
            </a:pPr>
            <a:r>
              <a:rPr lang="he-IL"/>
              <a:t>הפיזיקאי בודק חזותית את המקור דרך מיכל הפלסטיק מוודא את סוג המקור ושולח אותו לעיקור.</a:t>
            </a:r>
          </a:p>
          <a:p>
            <a:pPr marL="514350" indent="-514350" algn="r">
              <a:buFont typeface="+mj-lt"/>
              <a:buAutoNum type="arabicPeriod"/>
            </a:pPr>
            <a:r>
              <a:rPr lang="he-IL"/>
              <a:t>הרופא המטפל פותח את הפלאק תוך כדי ניתוח כאשר המטופל מורדם ומגלה שהפלאק תקוע בתוך מיכל פלסטיק מומס.</a:t>
            </a:r>
          </a:p>
          <a:p>
            <a:pPr marL="514350" indent="-514350" algn="r">
              <a:buFont typeface="+mj-lt"/>
              <a:buAutoNum type="arabicPeriod"/>
            </a:pPr>
            <a:r>
              <a:rPr lang="he-IL"/>
              <a:t>הרופא משחרר בהצלחה את הפלאק והניתוח ממשיך כמתוכנן.</a:t>
            </a:r>
          </a:p>
          <a:p>
            <a:endParaRPr lang="LID4096"/>
          </a:p>
        </p:txBody>
      </p:sp>
      <p:pic>
        <p:nvPicPr>
          <p:cNvPr id="4" name="תמונה 4">
            <a:extLst>
              <a:ext uri="{FF2B5EF4-FFF2-40B4-BE49-F238E27FC236}">
                <a16:creationId xmlns:a16="http://schemas.microsoft.com/office/drawing/2014/main" id="{1E83DDEB-A6B0-CCC4-AFAB-53975972E0E5}"/>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25290" b="77992" l="13833" r="87500">
                        <a14:foregroundMark x1="67333" y1="38417" x2="67333" y2="38417"/>
                        <a14:foregroundMark x1="20000" y1="69884" x2="20000" y2="69884"/>
                        <a14:foregroundMark x1="58833" y1="36680" x2="58833" y2="36680"/>
                        <a14:foregroundMark x1="76833" y1="48263" x2="76833" y2="48263"/>
                        <a14:foregroundMark x1="87500" y1="45946" x2="87500" y2="45946"/>
                        <a14:foregroundMark x1="72667" y1="44015" x2="72667" y2="44015"/>
                        <a14:foregroundMark x1="61500" y1="40347" x2="61500" y2="40347"/>
                      </a14:backgroundRemoval>
                    </a14:imgEffect>
                  </a14:imgLayer>
                </a14:imgProps>
              </a:ext>
              <a:ext uri="{28A0092B-C50C-407E-A947-70E740481C1C}">
                <a14:useLocalDpi xmlns:a14="http://schemas.microsoft.com/office/drawing/2010/main" val="0"/>
              </a:ext>
            </a:extLst>
          </a:blip>
          <a:srcRect l="5205" t="18800" r="7155" b="15370"/>
          <a:stretch>
            <a:fillRect/>
          </a:stretch>
        </p:blipFill>
        <p:spPr>
          <a:xfrm>
            <a:off x="251520" y="1124744"/>
            <a:ext cx="2251881" cy="1460311"/>
          </a:xfrm>
          <a:prstGeom prst="rect">
            <a:avLst/>
          </a:prstGeom>
        </p:spPr>
      </p:pic>
    </p:spTree>
    <p:extLst>
      <p:ext uri="{BB962C8B-B14F-4D97-AF65-F5344CB8AC3E}">
        <p14:creationId xmlns:p14="http://schemas.microsoft.com/office/powerpoint/2010/main" val="718336409"/>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43839D-607C-3E23-29B3-48F668CC1D81}"/>
              </a:ext>
            </a:extLst>
          </p:cNvPr>
          <p:cNvSpPr>
            <a:spLocks noGrp="1"/>
          </p:cNvSpPr>
          <p:nvPr>
            <p:ph type="title"/>
          </p:nvPr>
        </p:nvSpPr>
        <p:spPr>
          <a:xfrm>
            <a:off x="457200" y="102457"/>
            <a:ext cx="8229600" cy="1243038"/>
          </a:xfrm>
        </p:spPr>
        <p:txBody>
          <a:bodyPr>
            <a:normAutofit fontScale="90000"/>
          </a:bodyPr>
          <a:lstStyle/>
          <a:p>
            <a:r>
              <a:rPr lang="he-IL" sz="4400" b="1">
                <a:latin typeface="Arial" pitchFamily="34" charset="0"/>
                <a:cs typeface="Arial" pitchFamily="34" charset="0"/>
              </a:rPr>
              <a:t>דוגמא ל-</a:t>
            </a:r>
            <a:r>
              <a:rPr lang="en-US" sz="4400" b="1">
                <a:latin typeface="Arial" pitchFamily="34" charset="0"/>
                <a:cs typeface="Arial" pitchFamily="34" charset="0"/>
              </a:rPr>
              <a:t>Root Cause Analysis (RCA)</a:t>
            </a:r>
            <a:endParaRPr lang="LID4096"/>
          </a:p>
        </p:txBody>
      </p:sp>
      <p:sp>
        <p:nvSpPr>
          <p:cNvPr id="6" name="TextBox 5">
            <a:extLst>
              <a:ext uri="{FF2B5EF4-FFF2-40B4-BE49-F238E27FC236}">
                <a16:creationId xmlns:a16="http://schemas.microsoft.com/office/drawing/2014/main" id="{1578FE82-7B06-B353-B9A6-70710265F52E}"/>
              </a:ext>
            </a:extLst>
          </p:cNvPr>
          <p:cNvSpPr txBox="1"/>
          <p:nvPr/>
        </p:nvSpPr>
        <p:spPr>
          <a:xfrm>
            <a:off x="2661899" y="1340768"/>
            <a:ext cx="3960440" cy="369332"/>
          </a:xfrm>
          <a:prstGeom prst="rect">
            <a:avLst/>
          </a:prstGeom>
          <a:solidFill>
            <a:schemeClr val="bg1"/>
          </a:solidFill>
          <a:ln>
            <a:solidFill>
              <a:schemeClr val="accent6">
                <a:lumMod val="75000"/>
              </a:schemeClr>
            </a:solidFill>
          </a:ln>
        </p:spPr>
        <p:txBody>
          <a:bodyPr wrap="square" rtlCol="1">
            <a:spAutoFit/>
          </a:bodyPr>
          <a:lstStyle/>
          <a:p>
            <a:pPr algn="ctr" rtl="0"/>
            <a:r>
              <a:rPr lang="he-IL"/>
              <a:t>פלסטיק מומס עוטף את הפלאק</a:t>
            </a:r>
          </a:p>
        </p:txBody>
      </p:sp>
      <p:sp>
        <p:nvSpPr>
          <p:cNvPr id="7" name="TextBox 6">
            <a:extLst>
              <a:ext uri="{FF2B5EF4-FFF2-40B4-BE49-F238E27FC236}">
                <a16:creationId xmlns:a16="http://schemas.microsoft.com/office/drawing/2014/main" id="{0D5504A3-D8A4-0684-1135-42C76D7D5B0F}"/>
              </a:ext>
            </a:extLst>
          </p:cNvPr>
          <p:cNvSpPr txBox="1"/>
          <p:nvPr/>
        </p:nvSpPr>
        <p:spPr>
          <a:xfrm>
            <a:off x="7403444" y="1331476"/>
            <a:ext cx="768159" cy="369332"/>
          </a:xfrm>
          <a:prstGeom prst="rect">
            <a:avLst/>
          </a:prstGeom>
          <a:noFill/>
        </p:spPr>
        <p:txBody>
          <a:bodyPr wrap="none" rtlCol="1">
            <a:spAutoFit/>
          </a:bodyPr>
          <a:lstStyle/>
          <a:p>
            <a:r>
              <a:rPr lang="he-IL"/>
              <a:t>הבעיה</a:t>
            </a:r>
          </a:p>
        </p:txBody>
      </p:sp>
      <p:sp>
        <p:nvSpPr>
          <p:cNvPr id="8" name="TextBox 7">
            <a:extLst>
              <a:ext uri="{FF2B5EF4-FFF2-40B4-BE49-F238E27FC236}">
                <a16:creationId xmlns:a16="http://schemas.microsoft.com/office/drawing/2014/main" id="{590D41D9-B49B-15B9-CBB8-46BE82DBCFA8}"/>
              </a:ext>
            </a:extLst>
          </p:cNvPr>
          <p:cNvSpPr txBox="1"/>
          <p:nvPr/>
        </p:nvSpPr>
        <p:spPr>
          <a:xfrm>
            <a:off x="7437908" y="1772816"/>
            <a:ext cx="699230" cy="369332"/>
          </a:xfrm>
          <a:prstGeom prst="rect">
            <a:avLst/>
          </a:prstGeom>
          <a:noFill/>
        </p:spPr>
        <p:txBody>
          <a:bodyPr wrap="none" rtlCol="1">
            <a:spAutoFit/>
          </a:bodyPr>
          <a:lstStyle/>
          <a:p>
            <a:r>
              <a:rPr lang="he-IL"/>
              <a:t>למה?</a:t>
            </a:r>
          </a:p>
        </p:txBody>
      </p:sp>
      <p:sp>
        <p:nvSpPr>
          <p:cNvPr id="9" name="TextBox 8">
            <a:extLst>
              <a:ext uri="{FF2B5EF4-FFF2-40B4-BE49-F238E27FC236}">
                <a16:creationId xmlns:a16="http://schemas.microsoft.com/office/drawing/2014/main" id="{BEABED57-5D4F-3292-F10C-CE0BCA6FC27E}"/>
              </a:ext>
            </a:extLst>
          </p:cNvPr>
          <p:cNvSpPr txBox="1"/>
          <p:nvPr/>
        </p:nvSpPr>
        <p:spPr>
          <a:xfrm>
            <a:off x="2404205" y="2267055"/>
            <a:ext cx="2164017" cy="523220"/>
          </a:xfrm>
          <a:prstGeom prst="rect">
            <a:avLst/>
          </a:prstGeom>
          <a:solidFill>
            <a:schemeClr val="bg1"/>
          </a:solidFill>
          <a:ln>
            <a:solidFill>
              <a:schemeClr val="accent6">
                <a:lumMod val="75000"/>
              </a:schemeClr>
            </a:solidFill>
          </a:ln>
        </p:spPr>
        <p:txBody>
          <a:bodyPr wrap="square" rtlCol="1">
            <a:spAutoFit/>
          </a:bodyPr>
          <a:lstStyle/>
          <a:p>
            <a:pPr algn="r"/>
            <a:r>
              <a:rPr lang="he-IL" sz="1400"/>
              <a:t>פיזיקאי הכניס את הפלאק לאחר הטיפול למיכל פלסטיק</a:t>
            </a:r>
          </a:p>
        </p:txBody>
      </p:sp>
      <p:sp>
        <p:nvSpPr>
          <p:cNvPr id="10" name="TextBox 9">
            <a:extLst>
              <a:ext uri="{FF2B5EF4-FFF2-40B4-BE49-F238E27FC236}">
                <a16:creationId xmlns:a16="http://schemas.microsoft.com/office/drawing/2014/main" id="{CD88595A-B445-076B-224C-4837586B027C}"/>
              </a:ext>
            </a:extLst>
          </p:cNvPr>
          <p:cNvSpPr txBox="1"/>
          <p:nvPr/>
        </p:nvSpPr>
        <p:spPr>
          <a:xfrm>
            <a:off x="4712239" y="2276399"/>
            <a:ext cx="2092009" cy="738664"/>
          </a:xfrm>
          <a:prstGeom prst="rect">
            <a:avLst/>
          </a:prstGeom>
          <a:solidFill>
            <a:schemeClr val="bg1"/>
          </a:solidFill>
          <a:ln>
            <a:solidFill>
              <a:schemeClr val="accent6">
                <a:lumMod val="75000"/>
              </a:schemeClr>
            </a:solidFill>
          </a:ln>
        </p:spPr>
        <p:txBody>
          <a:bodyPr wrap="square" rtlCol="1">
            <a:spAutoFit/>
          </a:bodyPr>
          <a:lstStyle/>
          <a:p>
            <a:pPr rtl="0"/>
            <a:r>
              <a:rPr lang="he-IL" sz="1400"/>
              <a:t>פיזיקאי שבדק את המקור לא הוציא את הפלאק מהפלסטיק</a:t>
            </a:r>
          </a:p>
        </p:txBody>
      </p:sp>
      <p:sp>
        <p:nvSpPr>
          <p:cNvPr id="12" name="TextBox 11">
            <a:extLst>
              <a:ext uri="{FF2B5EF4-FFF2-40B4-BE49-F238E27FC236}">
                <a16:creationId xmlns:a16="http://schemas.microsoft.com/office/drawing/2014/main" id="{73C2A175-4718-F990-37A8-4B9387D312DE}"/>
              </a:ext>
            </a:extLst>
          </p:cNvPr>
          <p:cNvSpPr txBox="1"/>
          <p:nvPr/>
        </p:nvSpPr>
        <p:spPr>
          <a:xfrm>
            <a:off x="2395361" y="3015058"/>
            <a:ext cx="2164017" cy="1169551"/>
          </a:xfrm>
          <a:prstGeom prst="rect">
            <a:avLst/>
          </a:prstGeom>
          <a:solidFill>
            <a:schemeClr val="bg1"/>
          </a:solidFill>
          <a:ln>
            <a:solidFill>
              <a:schemeClr val="accent6">
                <a:lumMod val="75000"/>
              </a:schemeClr>
            </a:solidFill>
          </a:ln>
        </p:spPr>
        <p:txBody>
          <a:bodyPr wrap="square" rtlCol="1">
            <a:spAutoFit/>
          </a:bodyPr>
          <a:lstStyle/>
          <a:p>
            <a:pPr algn="r"/>
            <a:r>
              <a:rPr lang="he-IL" sz="1400">
                <a:latin typeface="Symbol" panose="05050102010706020507" pitchFamily="18" charset="2"/>
              </a:rPr>
              <a:t>המצודה עשויה מעופרת ולכן קרינת </a:t>
            </a:r>
            <a:r>
              <a:rPr lang="en-US" sz="1400">
                <a:latin typeface="Symbol" panose="05050102010706020507" pitchFamily="18" charset="2"/>
              </a:rPr>
              <a:t>b</a:t>
            </a:r>
            <a:r>
              <a:rPr lang="he-IL" sz="1400">
                <a:latin typeface="Symbol" panose="05050102010706020507" pitchFamily="18" charset="2"/>
              </a:rPr>
              <a:t> מייצרת קרינת רנטגן. הפיזיקאי הכניס את המקור למיכל הפלסטיק כדי למנוע קרינת רנטגן.</a:t>
            </a:r>
          </a:p>
        </p:txBody>
      </p:sp>
      <p:sp>
        <p:nvSpPr>
          <p:cNvPr id="13" name="TextBox 12">
            <a:extLst>
              <a:ext uri="{FF2B5EF4-FFF2-40B4-BE49-F238E27FC236}">
                <a16:creationId xmlns:a16="http://schemas.microsoft.com/office/drawing/2014/main" id="{9A7E6446-A3D1-CC7B-5D08-62C287B79FB1}"/>
              </a:ext>
            </a:extLst>
          </p:cNvPr>
          <p:cNvSpPr txBox="1"/>
          <p:nvPr/>
        </p:nvSpPr>
        <p:spPr>
          <a:xfrm>
            <a:off x="4712240" y="3338408"/>
            <a:ext cx="2092008" cy="738664"/>
          </a:xfrm>
          <a:prstGeom prst="rect">
            <a:avLst/>
          </a:prstGeom>
          <a:solidFill>
            <a:schemeClr val="bg1"/>
          </a:solidFill>
          <a:ln>
            <a:solidFill>
              <a:schemeClr val="accent6">
                <a:lumMod val="75000"/>
              </a:schemeClr>
            </a:solidFill>
          </a:ln>
        </p:spPr>
        <p:txBody>
          <a:bodyPr wrap="square" rtlCol="1">
            <a:spAutoFit/>
          </a:bodyPr>
          <a:lstStyle/>
          <a:p>
            <a:pPr algn="r"/>
            <a:r>
              <a:rPr lang="he-IL" sz="1400"/>
              <a:t>הפיזיקאי שבדק את המקור לא הבין שהמקור לא אמור להיות בתוך המיכל פלסטיק</a:t>
            </a:r>
          </a:p>
        </p:txBody>
      </p:sp>
      <p:sp>
        <p:nvSpPr>
          <p:cNvPr id="15" name="TextBox 14">
            <a:extLst>
              <a:ext uri="{FF2B5EF4-FFF2-40B4-BE49-F238E27FC236}">
                <a16:creationId xmlns:a16="http://schemas.microsoft.com/office/drawing/2014/main" id="{67804951-36D9-BB3E-B23F-83F56165F49C}"/>
              </a:ext>
            </a:extLst>
          </p:cNvPr>
          <p:cNvSpPr txBox="1"/>
          <p:nvPr/>
        </p:nvSpPr>
        <p:spPr>
          <a:xfrm>
            <a:off x="2263967" y="4436639"/>
            <a:ext cx="4756305" cy="400110"/>
          </a:xfrm>
          <a:prstGeom prst="rect">
            <a:avLst/>
          </a:prstGeom>
          <a:solidFill>
            <a:schemeClr val="bg1"/>
          </a:solidFill>
          <a:ln>
            <a:solidFill>
              <a:schemeClr val="accent6">
                <a:lumMod val="75000"/>
              </a:schemeClr>
            </a:solidFill>
          </a:ln>
        </p:spPr>
        <p:txBody>
          <a:bodyPr wrap="square" rtlCol="1">
            <a:spAutoFit/>
          </a:bodyPr>
          <a:lstStyle/>
          <a:p>
            <a:pPr algn="ctr"/>
            <a:r>
              <a:rPr lang="he-IL" sz="2000" b="1"/>
              <a:t>הכשרה לקויה עבור פרוצדורה חדשה</a:t>
            </a:r>
          </a:p>
        </p:txBody>
      </p:sp>
      <p:cxnSp>
        <p:nvCxnSpPr>
          <p:cNvPr id="16" name="מחבר מרפקי 16">
            <a:extLst>
              <a:ext uri="{FF2B5EF4-FFF2-40B4-BE49-F238E27FC236}">
                <a16:creationId xmlns:a16="http://schemas.microsoft.com/office/drawing/2014/main" id="{42F88E89-0D0D-A375-1253-F2C81B27596B}"/>
              </a:ext>
            </a:extLst>
          </p:cNvPr>
          <p:cNvCxnSpPr>
            <a:stCxn id="6" idx="2"/>
            <a:endCxn id="9" idx="0"/>
          </p:cNvCxnSpPr>
          <p:nvPr/>
        </p:nvCxnSpPr>
        <p:spPr>
          <a:xfrm rot="5400000">
            <a:off x="3785690" y="1410625"/>
            <a:ext cx="556955" cy="1155905"/>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 name="מחבר מרפקי 20">
            <a:extLst>
              <a:ext uri="{FF2B5EF4-FFF2-40B4-BE49-F238E27FC236}">
                <a16:creationId xmlns:a16="http://schemas.microsoft.com/office/drawing/2014/main" id="{55836799-9CCC-FC3A-4869-E1EBEAC0C51A}"/>
              </a:ext>
            </a:extLst>
          </p:cNvPr>
          <p:cNvCxnSpPr>
            <a:endCxn id="10" idx="0"/>
          </p:cNvCxnSpPr>
          <p:nvPr/>
        </p:nvCxnSpPr>
        <p:spPr>
          <a:xfrm>
            <a:off x="4642120" y="1993249"/>
            <a:ext cx="1116124" cy="283150"/>
          </a:xfrm>
          <a:prstGeom prst="bentConnector2">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8" name="מחבר חץ ישר 23">
            <a:extLst>
              <a:ext uri="{FF2B5EF4-FFF2-40B4-BE49-F238E27FC236}">
                <a16:creationId xmlns:a16="http://schemas.microsoft.com/office/drawing/2014/main" id="{BD66BD7F-7E85-4A78-0CFF-988F7CD52315}"/>
              </a:ext>
            </a:extLst>
          </p:cNvPr>
          <p:cNvCxnSpPr>
            <a:stCxn id="9" idx="2"/>
            <a:endCxn id="12" idx="0"/>
          </p:cNvCxnSpPr>
          <p:nvPr/>
        </p:nvCxnSpPr>
        <p:spPr>
          <a:xfrm flipH="1">
            <a:off x="3477370" y="2790275"/>
            <a:ext cx="8844" cy="22478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מחבר חץ ישר 25">
            <a:extLst>
              <a:ext uri="{FF2B5EF4-FFF2-40B4-BE49-F238E27FC236}">
                <a16:creationId xmlns:a16="http://schemas.microsoft.com/office/drawing/2014/main" id="{F31A5040-22F4-2388-DE80-1E7CF5F3A6F4}"/>
              </a:ext>
            </a:extLst>
          </p:cNvPr>
          <p:cNvCxnSpPr>
            <a:stCxn id="10" idx="2"/>
            <a:endCxn id="13" idx="0"/>
          </p:cNvCxnSpPr>
          <p:nvPr/>
        </p:nvCxnSpPr>
        <p:spPr>
          <a:xfrm flipH="1">
            <a:off x="5758244" y="3015063"/>
            <a:ext cx="0" cy="32334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0" name="מחבר מרפקי 27">
            <a:extLst>
              <a:ext uri="{FF2B5EF4-FFF2-40B4-BE49-F238E27FC236}">
                <a16:creationId xmlns:a16="http://schemas.microsoft.com/office/drawing/2014/main" id="{C9A9CB76-13AC-0DE0-E328-F348ED30CDCA}"/>
              </a:ext>
            </a:extLst>
          </p:cNvPr>
          <p:cNvCxnSpPr>
            <a:stCxn id="12" idx="2"/>
            <a:endCxn id="15" idx="0"/>
          </p:cNvCxnSpPr>
          <p:nvPr/>
        </p:nvCxnSpPr>
        <p:spPr>
          <a:xfrm rot="16200000" flipH="1">
            <a:off x="3933730" y="3728249"/>
            <a:ext cx="252030" cy="1164750"/>
          </a:xfrm>
          <a:prstGeom prst="bentConnector3">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 name="מחבר מרפקי 29">
            <a:extLst>
              <a:ext uri="{FF2B5EF4-FFF2-40B4-BE49-F238E27FC236}">
                <a16:creationId xmlns:a16="http://schemas.microsoft.com/office/drawing/2014/main" id="{EEDFFCA2-2154-D481-9636-49BA17D2B99E}"/>
              </a:ext>
            </a:extLst>
          </p:cNvPr>
          <p:cNvCxnSpPr>
            <a:stCxn id="13" idx="2"/>
            <a:endCxn id="15" idx="0"/>
          </p:cNvCxnSpPr>
          <p:nvPr/>
        </p:nvCxnSpPr>
        <p:spPr>
          <a:xfrm rot="5400000">
            <a:off x="5020399" y="3698793"/>
            <a:ext cx="359567" cy="1116124"/>
          </a:xfrm>
          <a:prstGeom prst="bentConnector3">
            <a:avLst>
              <a:gd name="adj1" fmla="val 65107"/>
            </a:avLst>
          </a:prstGeom>
          <a:ln>
            <a:tailEnd type="arrow"/>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9E5F9AE5-6420-E85C-85F0-BC787151D5C8}"/>
              </a:ext>
            </a:extLst>
          </p:cNvPr>
          <p:cNvSpPr txBox="1"/>
          <p:nvPr/>
        </p:nvSpPr>
        <p:spPr>
          <a:xfrm>
            <a:off x="7120820" y="5579948"/>
            <a:ext cx="1447832" cy="369332"/>
          </a:xfrm>
          <a:prstGeom prst="rect">
            <a:avLst/>
          </a:prstGeom>
          <a:solidFill>
            <a:schemeClr val="accent3">
              <a:lumMod val="40000"/>
              <a:lumOff val="60000"/>
            </a:schemeClr>
          </a:solidFill>
        </p:spPr>
        <p:txBody>
          <a:bodyPr wrap="none" rtlCol="1">
            <a:spAutoFit/>
          </a:bodyPr>
          <a:lstStyle/>
          <a:p>
            <a:pPr algn="l" rtl="0"/>
            <a:r>
              <a:rPr lang="he-IL"/>
              <a:t>פעולה מתקנת</a:t>
            </a:r>
          </a:p>
        </p:txBody>
      </p:sp>
      <p:sp>
        <p:nvSpPr>
          <p:cNvPr id="23" name="TextBox 22">
            <a:extLst>
              <a:ext uri="{FF2B5EF4-FFF2-40B4-BE49-F238E27FC236}">
                <a16:creationId xmlns:a16="http://schemas.microsoft.com/office/drawing/2014/main" id="{A820C176-BF95-09AF-3374-1803A8AD089C}"/>
              </a:ext>
            </a:extLst>
          </p:cNvPr>
          <p:cNvSpPr txBox="1"/>
          <p:nvPr/>
        </p:nvSpPr>
        <p:spPr>
          <a:xfrm>
            <a:off x="2263966" y="5100680"/>
            <a:ext cx="4756305" cy="1323439"/>
          </a:xfrm>
          <a:prstGeom prst="rect">
            <a:avLst/>
          </a:prstGeom>
          <a:solidFill>
            <a:schemeClr val="bg1"/>
          </a:solidFill>
          <a:ln>
            <a:solidFill>
              <a:schemeClr val="accent6">
                <a:lumMod val="75000"/>
              </a:schemeClr>
            </a:solidFill>
          </a:ln>
        </p:spPr>
        <p:txBody>
          <a:bodyPr wrap="square" rtlCol="1">
            <a:spAutoFit/>
          </a:bodyPr>
          <a:lstStyle/>
          <a:p>
            <a:pPr marL="457200" indent="-457200" algn="r">
              <a:buFont typeface="+mj-lt"/>
              <a:buAutoNum type="arabicPeriod"/>
            </a:pPr>
            <a:r>
              <a:rPr lang="he-IL" sz="2000" b="1"/>
              <a:t>יש להכשיר את הצוות לפני ביצוע הפרוצדורה</a:t>
            </a:r>
            <a:endParaRPr lang="en-US" sz="2000" b="1"/>
          </a:p>
          <a:p>
            <a:pPr marL="457200" indent="-457200" algn="r">
              <a:buFont typeface="+mj-lt"/>
              <a:buAutoNum type="arabicPeriod"/>
            </a:pPr>
            <a:r>
              <a:rPr lang="en-US" sz="2000" b="1"/>
              <a:t> </a:t>
            </a:r>
            <a:r>
              <a:rPr lang="he-IL" sz="2000" b="1"/>
              <a:t>יש לייצר נוהל עבודה כתוב לפני ביצוע פרוצדורה ראשונה. </a:t>
            </a:r>
          </a:p>
        </p:txBody>
      </p:sp>
      <p:cxnSp>
        <p:nvCxnSpPr>
          <p:cNvPr id="24" name="מחבר חץ ישר 35">
            <a:extLst>
              <a:ext uri="{FF2B5EF4-FFF2-40B4-BE49-F238E27FC236}">
                <a16:creationId xmlns:a16="http://schemas.microsoft.com/office/drawing/2014/main" id="{D76EA6D2-1746-9125-9F3F-A3922DF93414}"/>
              </a:ext>
            </a:extLst>
          </p:cNvPr>
          <p:cNvCxnSpPr>
            <a:stCxn id="15" idx="2"/>
            <a:endCxn id="23" idx="0"/>
          </p:cNvCxnSpPr>
          <p:nvPr/>
        </p:nvCxnSpPr>
        <p:spPr>
          <a:xfrm flipH="1">
            <a:off x="4642119" y="4836749"/>
            <a:ext cx="1" cy="26393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5D391690-BDED-4FFE-861D-FEBF4C3DB088}"/>
              </a:ext>
            </a:extLst>
          </p:cNvPr>
          <p:cNvSpPr txBox="1"/>
          <p:nvPr/>
        </p:nvSpPr>
        <p:spPr>
          <a:xfrm>
            <a:off x="7437908" y="2960501"/>
            <a:ext cx="699230" cy="369332"/>
          </a:xfrm>
          <a:prstGeom prst="rect">
            <a:avLst/>
          </a:prstGeom>
          <a:noFill/>
        </p:spPr>
        <p:txBody>
          <a:bodyPr wrap="none" rtlCol="1">
            <a:spAutoFit/>
          </a:bodyPr>
          <a:lstStyle/>
          <a:p>
            <a:r>
              <a:rPr lang="he-IL"/>
              <a:t>למה?</a:t>
            </a:r>
          </a:p>
        </p:txBody>
      </p:sp>
      <p:sp>
        <p:nvSpPr>
          <p:cNvPr id="32" name="TextBox 31">
            <a:extLst>
              <a:ext uri="{FF2B5EF4-FFF2-40B4-BE49-F238E27FC236}">
                <a16:creationId xmlns:a16="http://schemas.microsoft.com/office/drawing/2014/main" id="{16196446-3189-5561-4414-8FADA186FE85}"/>
              </a:ext>
            </a:extLst>
          </p:cNvPr>
          <p:cNvSpPr txBox="1"/>
          <p:nvPr/>
        </p:nvSpPr>
        <p:spPr>
          <a:xfrm>
            <a:off x="7495121" y="4077072"/>
            <a:ext cx="699230" cy="369332"/>
          </a:xfrm>
          <a:prstGeom prst="rect">
            <a:avLst/>
          </a:prstGeom>
          <a:noFill/>
        </p:spPr>
        <p:txBody>
          <a:bodyPr wrap="none" rtlCol="1">
            <a:spAutoFit/>
          </a:bodyPr>
          <a:lstStyle/>
          <a:p>
            <a:r>
              <a:rPr lang="he-IL"/>
              <a:t>למה?</a:t>
            </a:r>
          </a:p>
        </p:txBody>
      </p:sp>
      <p:pic>
        <p:nvPicPr>
          <p:cNvPr id="3" name="תמונה 4">
            <a:extLst>
              <a:ext uri="{FF2B5EF4-FFF2-40B4-BE49-F238E27FC236}">
                <a16:creationId xmlns:a16="http://schemas.microsoft.com/office/drawing/2014/main" id="{84313E13-1681-514F-7567-A8093E322B82}"/>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25290" b="77992" l="13833" r="87500">
                        <a14:foregroundMark x1="67333" y1="38417" x2="67333" y2="38417"/>
                        <a14:foregroundMark x1="20000" y1="69884" x2="20000" y2="69884"/>
                        <a14:foregroundMark x1="58833" y1="36680" x2="58833" y2="36680"/>
                        <a14:foregroundMark x1="76833" y1="48263" x2="76833" y2="48263"/>
                        <a14:foregroundMark x1="87500" y1="45946" x2="87500" y2="45946"/>
                        <a14:foregroundMark x1="72667" y1="44015" x2="72667" y2="44015"/>
                        <a14:foregroundMark x1="61500" y1="40347" x2="61500" y2="40347"/>
                      </a14:backgroundRemoval>
                    </a14:imgEffect>
                  </a14:imgLayer>
                </a14:imgProps>
              </a:ext>
              <a:ext uri="{28A0092B-C50C-407E-A947-70E740481C1C}">
                <a14:useLocalDpi xmlns:a14="http://schemas.microsoft.com/office/drawing/2010/main" val="0"/>
              </a:ext>
            </a:extLst>
          </a:blip>
          <a:srcRect l="5205" t="18800" r="7155" b="15370"/>
          <a:stretch>
            <a:fillRect/>
          </a:stretch>
        </p:blipFill>
        <p:spPr>
          <a:xfrm>
            <a:off x="251520" y="1124744"/>
            <a:ext cx="2251881" cy="1460311"/>
          </a:xfrm>
          <a:prstGeom prst="rect">
            <a:avLst/>
          </a:prstGeom>
        </p:spPr>
      </p:pic>
    </p:spTree>
    <p:extLst>
      <p:ext uri="{BB962C8B-B14F-4D97-AF65-F5344CB8AC3E}">
        <p14:creationId xmlns:p14="http://schemas.microsoft.com/office/powerpoint/2010/main" val="276262190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dur="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p:stCondLst>
                              <p:cond delay="0"/>
                            </p:stCondLst>
                            <p:childTnLst>
                              <p:par>
                                <p:cTn id="9" presetID="1" presetClass="entr" presetSubtype="0" dur="1"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p:stCondLst>
                              <p:cond delay="0"/>
                            </p:stCondLst>
                            <p:childTnLst>
                              <p:par>
                                <p:cTn id="13" presetID="1" presetClass="entr" presetSubtype="0" dur="1"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dur="1" fill="hold"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dur="1"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p:stCondLst>
                              <p:cond delay="0"/>
                            </p:stCondLst>
                            <p:childTnLst>
                              <p:par>
                                <p:cTn id="21" presetID="1" presetClass="entr" presetSubtype="0" dur="1"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p:stCondLst>
                              <p:cond delay="0"/>
                            </p:stCondLst>
                            <p:childTnLst>
                              <p:par>
                                <p:cTn id="25" presetID="1" presetClass="entr" presetSubtype="0" dur="1"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p:stCondLst>
                              <p:cond delay="0"/>
                            </p:stCondLst>
                            <p:childTnLst>
                              <p:par>
                                <p:cTn id="29" presetID="1" presetClass="entr" presetSubtype="0" dur="1" fill="hold" nodeType="click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par>
                                <p:cTn id="31" presetID="1" presetClass="entr" presetSubtype="0" dur="1" fill="hold" nodeType="with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par>
                                <p:cTn id="33" presetID="1" presetClass="entr" presetSubtype="0" dur="1" fill="hold" grpId="0"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p:stCondLst>
                              <p:cond delay="0"/>
                            </p:stCondLst>
                            <p:childTnLst>
                              <p:par>
                                <p:cTn id="37" presetID="1" presetClass="entr" presetSubtype="0" dur="1" fill="hold" grpId="0" nodeType="click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p:stCondLst>
                              <p:cond delay="0"/>
                            </p:stCondLst>
                            <p:childTnLst>
                              <p:par>
                                <p:cTn id="41" presetID="1" presetClass="entr" presetSubtype="0" dur="1" fill="hold" grpId="0" nodeType="clickEffect">
                                  <p:stCondLst>
                                    <p:cond delay="0"/>
                                  </p:stCondLst>
                                  <p:childTnLst>
                                    <p:set>
                                      <p:cBhvr>
                                        <p:cTn id="42" dur="1" fill="hold">
                                          <p:stCondLst>
                                            <p:cond delay="0"/>
                                          </p:stCondLst>
                                        </p:cTn>
                                        <p:tgtEl>
                                          <p:spTgt spid="13"/>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p:stCondLst>
                              <p:cond delay="0"/>
                            </p:stCondLst>
                            <p:childTnLst>
                              <p:par>
                                <p:cTn id="45" presetID="1" presetClass="entr" presetSubtype="0" dur="1" fill="hold" nodeType="clickEffect">
                                  <p:stCondLst>
                                    <p:cond delay="0"/>
                                  </p:stCondLst>
                                  <p:childTnLst>
                                    <p:set>
                                      <p:cBhvr>
                                        <p:cTn id="46" dur="1" fill="hold">
                                          <p:stCondLst>
                                            <p:cond delay="0"/>
                                          </p:stCondLst>
                                        </p:cTn>
                                        <p:tgtEl>
                                          <p:spTgt spid="20"/>
                                        </p:tgtEl>
                                        <p:attrNameLst>
                                          <p:attrName>style.visibility</p:attrName>
                                        </p:attrNameLst>
                                      </p:cBhvr>
                                      <p:to>
                                        <p:strVal val="visible"/>
                                      </p:to>
                                    </p:set>
                                  </p:childTnLst>
                                </p:cTn>
                              </p:par>
                              <p:par>
                                <p:cTn id="47" presetID="1" presetClass="entr" presetSubtype="0" dur="1" fill="hold" nodeType="withEffect">
                                  <p:stCondLst>
                                    <p:cond delay="0"/>
                                  </p:stCondLst>
                                  <p:childTnLst>
                                    <p:set>
                                      <p:cBhvr>
                                        <p:cTn id="48" dur="1" fill="hold">
                                          <p:stCondLst>
                                            <p:cond delay="0"/>
                                          </p:stCondLst>
                                        </p:cTn>
                                        <p:tgtEl>
                                          <p:spTgt spid="21"/>
                                        </p:tgtEl>
                                        <p:attrNameLst>
                                          <p:attrName>style.visibility</p:attrName>
                                        </p:attrNameLst>
                                      </p:cBhvr>
                                      <p:to>
                                        <p:strVal val="visible"/>
                                      </p:to>
                                    </p:set>
                                  </p:childTnLst>
                                </p:cTn>
                              </p:par>
                              <p:par>
                                <p:cTn id="49" presetID="1" presetClass="entr" presetSubtype="0" dur="1" fill="hold" grpId="0" nodeType="withEffect">
                                  <p:stCondLst>
                                    <p:cond delay="0"/>
                                  </p:stCondLst>
                                  <p:childTnLst>
                                    <p:set>
                                      <p:cBhvr>
                                        <p:cTn id="50" dur="1" fill="hold">
                                          <p:stCondLst>
                                            <p:cond delay="0"/>
                                          </p:stCondLst>
                                        </p:cTn>
                                        <p:tgtEl>
                                          <p:spTgt spid="32"/>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p:stCondLst>
                              <p:cond delay="0"/>
                            </p:stCondLst>
                            <p:childTnLst>
                              <p:par>
                                <p:cTn id="53" presetID="1" presetClass="entr" presetSubtype="0" dur="1" fill="hold" grpId="0" nodeType="clickEffect">
                                  <p:stCondLst>
                                    <p:cond delay="0"/>
                                  </p:stCondLst>
                                  <p:childTnLst>
                                    <p:set>
                                      <p:cBhvr>
                                        <p:cTn id="54" dur="1" fill="hold">
                                          <p:stCondLst>
                                            <p:cond delay="0"/>
                                          </p:stCondLst>
                                        </p:cTn>
                                        <p:tgtEl>
                                          <p:spTgt spid="15"/>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p:stCondLst>
                              <p:cond delay="0"/>
                            </p:stCondLst>
                            <p:childTnLst>
                              <p:par>
                                <p:cTn id="57" presetID="1" presetClass="entr" presetSubtype="0" dur="1" fill="hold" nodeType="clickEffect">
                                  <p:stCondLst>
                                    <p:cond delay="0"/>
                                  </p:stCondLst>
                                  <p:childTnLst>
                                    <p:set>
                                      <p:cBhvr>
                                        <p:cTn id="58" dur="1" fill="hold">
                                          <p:stCondLst>
                                            <p:cond delay="0"/>
                                          </p:stCondLst>
                                        </p:cTn>
                                        <p:tgtEl>
                                          <p:spTgt spid="24"/>
                                        </p:tgtEl>
                                        <p:attrNameLst>
                                          <p:attrName>style.visibility</p:attrName>
                                        </p:attrNameLst>
                                      </p:cBhvr>
                                      <p:to>
                                        <p:strVal val="visible"/>
                                      </p:to>
                                    </p:set>
                                  </p:childTnLst>
                                </p:cTn>
                              </p:par>
                            </p:childTnLst>
                          </p:cTn>
                        </p:par>
                      </p:childTnLst>
                    </p:cTn>
                  </p:par>
                  <p:par>
                    <p:cTn id="59" fill="hold" nodeType="clickPar">
                      <p:stCondLst>
                        <p:cond delay="indefinite"/>
                      </p:stCondLst>
                      <p:childTnLst>
                        <p:par>
                          <p:cTn id="60" fill="hold">
                            <p:stCondLst>
                              <p:cond delay="0"/>
                            </p:stCondLst>
                            <p:childTnLst>
                              <p:par>
                                <p:cTn id="61" presetID="1" presetClass="entr" presetSubtype="0" dur="1"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childTnLst>
                                </p:cTn>
                              </p:par>
                            </p:childTnLst>
                          </p:cTn>
                        </p:par>
                      </p:childTnLst>
                    </p:cTn>
                  </p:par>
                  <p:par>
                    <p:cTn id="63" fill="hold" nodeType="clickPar">
                      <p:stCondLst>
                        <p:cond delay="indefinite"/>
                      </p:stCondLst>
                      <p:childTnLst>
                        <p:par>
                          <p:cTn id="64" fill="hold">
                            <p:stCondLst>
                              <p:cond delay="0"/>
                            </p:stCondLst>
                            <p:childTnLst>
                              <p:par>
                                <p:cTn id="65" presetID="1" presetClass="entr" presetSubtype="0" dur="1" fill="hold" grpId="0" nodeType="clickEffect">
                                  <p:stCondLst>
                                    <p:cond delay="0"/>
                                  </p:stCondLst>
                                  <p:childTnLst>
                                    <p:set>
                                      <p:cBhvr>
                                        <p:cTn id="6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8" grpId="0"/>
      <p:bldP spid="9" grpId="0" animBg="1"/>
      <p:bldP spid="10" grpId="0" animBg="1"/>
      <p:bldP spid="12" grpId="0" animBg="1"/>
      <p:bldP spid="13" grpId="0" animBg="1"/>
      <p:bldP spid="15" grpId="0" animBg="1"/>
      <p:bldP spid="22" grpId="0" animBg="1"/>
      <p:bldP spid="23" grpId="0" animBg="1"/>
      <p:bldP spid="31" grpId="0"/>
      <p:bldP spid="3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827584" y="72840"/>
            <a:ext cx="7067128" cy="1143000"/>
          </a:xfrm>
        </p:spPr>
        <p:txBody>
          <a:bodyPr/>
          <a:lstStyle/>
          <a:p>
            <a:r>
              <a:rPr lang="he-IL" sz="3200"/>
              <a:t>מהי מערכת למידה</a:t>
            </a:r>
            <a:r>
              <a:rPr lang="en-US" sz="3200"/>
              <a:t>Incident Learning System (ILS)</a:t>
            </a:r>
            <a:endParaRPr lang="he-IL" sz="3200"/>
          </a:p>
        </p:txBody>
      </p:sp>
      <p:sp>
        <p:nvSpPr>
          <p:cNvPr id="6" name="TextBox 5"/>
          <p:cNvSpPr txBox="1"/>
          <p:nvPr/>
        </p:nvSpPr>
        <p:spPr>
          <a:xfrm>
            <a:off x="430332" y="4172887"/>
            <a:ext cx="8065595" cy="1815882"/>
          </a:xfrm>
          <a:prstGeom prst="rect">
            <a:avLst/>
          </a:prstGeom>
          <a:solidFill>
            <a:schemeClr val="tx2">
              <a:lumMod val="20000"/>
              <a:lumOff val="80000"/>
            </a:schemeClr>
          </a:solidFill>
        </p:spPr>
        <p:txBody>
          <a:bodyPr wrap="square" rtlCol="1">
            <a:spAutoFit/>
          </a:bodyPr>
          <a:lstStyle/>
          <a:p>
            <a:pPr algn="l" rtl="0"/>
            <a:r>
              <a:rPr lang="en-US" sz="2800"/>
              <a:t>“An ILS is the process of reporting and analyzing safety events and designing and implementing interventions intended to prevent future safety events from occurring.”</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30333" y="1299751"/>
            <a:ext cx="6304851" cy="27053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63362469"/>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1394760" y="136152"/>
            <a:ext cx="6354479" cy="864096"/>
          </a:xfrm>
        </p:spPr>
        <p:txBody>
          <a:bodyPr/>
          <a:lstStyle/>
          <a:p>
            <a:r>
              <a:rPr lang="he-IL" sz="4000"/>
              <a:t>מעגל הלמידה</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067944" y="2855922"/>
            <a:ext cx="4968552" cy="287733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827959" y="1139260"/>
            <a:ext cx="7776489" cy="1569660"/>
          </a:xfrm>
          <a:prstGeom prst="rect">
            <a:avLst/>
          </a:prstGeom>
          <a:noFill/>
        </p:spPr>
        <p:txBody>
          <a:bodyPr wrap="none" rtlCol="1">
            <a:spAutoFit/>
          </a:bodyPr>
          <a:lstStyle/>
          <a:p>
            <a:pPr marL="285750" indent="-285750" algn="r">
              <a:buFont typeface="Arial" pitchFamily="34" charset="0"/>
              <a:buChar char="•"/>
            </a:pPr>
            <a:r>
              <a:rPr lang="he-IL" sz="2400"/>
              <a:t>מעגל הלמידה מאפשר שיפור מתמיד באיכות הטיפול.</a:t>
            </a:r>
            <a:endParaRPr lang="en-US" sz="2400"/>
          </a:p>
          <a:p>
            <a:pPr marL="285750" indent="-285750" algn="r">
              <a:buFont typeface="Arial" pitchFamily="34" charset="0"/>
              <a:buChar char="•"/>
            </a:pPr>
            <a:r>
              <a:rPr lang="he-IL" sz="2400"/>
              <a:t>מייצר תשתית ארגונית ללמידה מתוך אירועים.</a:t>
            </a:r>
            <a:endParaRPr lang="en-US" sz="2400"/>
          </a:p>
          <a:p>
            <a:pPr marL="285750" indent="-285750" algn="r">
              <a:buFont typeface="Arial" pitchFamily="34" charset="0"/>
              <a:buChar char="•"/>
            </a:pPr>
            <a:r>
              <a:rPr lang="he-IL" sz="2400"/>
              <a:t>מאפשר ביצוע אנליזות מתקדמות וחקירה של אירועים מדווחים.</a:t>
            </a:r>
            <a:endParaRPr lang="en-US" sz="2400"/>
          </a:p>
          <a:p>
            <a:pPr marL="285750" indent="-285750" algn="r">
              <a:buFont typeface="Arial" pitchFamily="34" charset="0"/>
              <a:buChar char="•"/>
            </a:pPr>
            <a:r>
              <a:rPr lang="he-IL" sz="2400"/>
              <a:t>מאפשר ביצוע למידה באמצעות פעולות מתקנות.</a:t>
            </a:r>
            <a:endParaRPr lang="en-US" sz="2400"/>
          </a:p>
        </p:txBody>
      </p:sp>
      <p:sp>
        <p:nvSpPr>
          <p:cNvPr id="6" name="TextBox 5"/>
          <p:cNvSpPr txBox="1"/>
          <p:nvPr/>
        </p:nvSpPr>
        <p:spPr>
          <a:xfrm>
            <a:off x="5679579" y="4757831"/>
            <a:ext cx="1399597" cy="276999"/>
          </a:xfrm>
          <a:prstGeom prst="rect">
            <a:avLst/>
          </a:prstGeom>
          <a:solidFill>
            <a:schemeClr val="bg1"/>
          </a:solidFill>
        </p:spPr>
        <p:txBody>
          <a:bodyPr wrap="square" rtlCol="1">
            <a:spAutoFit/>
          </a:bodyPr>
          <a:lstStyle/>
          <a:p>
            <a:r>
              <a:rPr lang="en-US" sz="1200"/>
              <a:t>Treatment process</a:t>
            </a:r>
            <a:endParaRPr lang="he-IL" sz="1200"/>
          </a:p>
        </p:txBody>
      </p:sp>
      <p:pic>
        <p:nvPicPr>
          <p:cNvPr id="5" name="Picture 3">
            <a:extLst>
              <a:ext uri="{FF2B5EF4-FFF2-40B4-BE49-F238E27FC236}">
                <a16:creationId xmlns:a16="http://schemas.microsoft.com/office/drawing/2014/main" id="{3C3906AE-F691-FF7C-4D4F-D5CAD3B07A2D}"/>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07504" y="3536279"/>
            <a:ext cx="3779912" cy="13328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76615162"/>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1187624" y="95843"/>
            <a:ext cx="6768752" cy="720080"/>
          </a:xfrm>
        </p:spPr>
        <p:txBody>
          <a:bodyPr/>
          <a:lstStyle/>
          <a:p>
            <a:pPr rtl="0"/>
            <a:r>
              <a:rPr lang="he-IL" sz="3200"/>
              <a:t>מערכות למידה; מקומית, לאומית או בינלאומית</a:t>
            </a: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b="1027"/>
          <a:stretch>
            <a:fillRect/>
          </a:stretch>
        </p:blipFill>
        <p:spPr bwMode="auto">
          <a:xfrm>
            <a:off x="3995936" y="692696"/>
            <a:ext cx="5040560" cy="16210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l="25371" r="24175"/>
          <a:stretch>
            <a:fillRect/>
          </a:stretch>
        </p:blipFill>
        <p:spPr bwMode="auto">
          <a:xfrm>
            <a:off x="940453" y="1066841"/>
            <a:ext cx="3018971" cy="9219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מציין מיקום תוכן 2"/>
          <p:cNvSpPr>
            <a:spLocks noGrp="1"/>
          </p:cNvSpPr>
          <p:nvPr>
            <p:ph idx="1"/>
          </p:nvPr>
        </p:nvSpPr>
        <p:spPr>
          <a:xfrm>
            <a:off x="118784" y="2348880"/>
            <a:ext cx="8856984" cy="3816424"/>
          </a:xfrm>
          <a:solidFill>
            <a:schemeClr val="tx2">
              <a:lumMod val="20000"/>
              <a:lumOff val="80000"/>
            </a:schemeClr>
          </a:solidFill>
        </p:spPr>
        <p:txBody>
          <a:bodyPr>
            <a:normAutofit lnSpcReduction="10000"/>
          </a:bodyPr>
          <a:lstStyle/>
          <a:p>
            <a:pPr algn="l" rtl="0"/>
            <a:r>
              <a:rPr lang="en-US" sz="2400" b="1">
                <a:solidFill>
                  <a:srgbClr val="00B050"/>
                </a:solidFill>
              </a:rPr>
              <a:t>Local ILS </a:t>
            </a:r>
            <a:r>
              <a:rPr lang="en-US" sz="2000"/>
              <a:t>– direct benefit of the department in which is established. i.e. Mallinckrodt institute or radiology, St. Luis ,Missouri (Med. Phys. 37(9); 5027)</a:t>
            </a:r>
          </a:p>
          <a:p>
            <a:pPr algn="l" rtl="0"/>
            <a:r>
              <a:rPr lang="en-US" sz="2400" b="1">
                <a:solidFill>
                  <a:srgbClr val="00B050"/>
                </a:solidFill>
              </a:rPr>
              <a:t>National ILS </a:t>
            </a:r>
            <a:r>
              <a:rPr lang="en-US" sz="2000"/>
              <a:t>– greater pool to learn from but needs standardized approach across centers in the country. i.e. RO-ILS (2014)</a:t>
            </a:r>
          </a:p>
          <a:p>
            <a:pPr algn="l" rtl="0"/>
            <a:r>
              <a:rPr lang="en-US" sz="2400" b="1">
                <a:solidFill>
                  <a:srgbClr val="00B050"/>
                </a:solidFill>
              </a:rPr>
              <a:t>International ILS </a:t>
            </a:r>
            <a:r>
              <a:rPr lang="en-US" sz="2000"/>
              <a:t>- information reaches an even wider audience and has additional benefits, where smaller or developing centers can learn from the experiences of more established centers. i.e. ROSIS/ROSEIS (2004) and SAFRON (2015)</a:t>
            </a:r>
          </a:p>
          <a:p>
            <a:pPr algn="l" rtl="0"/>
            <a:r>
              <a:rPr lang="en-US" sz="2000" b="1" i="1">
                <a:solidFill>
                  <a:srgbClr val="002060"/>
                </a:solidFill>
                <a:effectLst>
                  <a:outerShdw blurRad="38100" dist="38100" dir="2700000" algn="tl">
                    <a:srgbClr val="000000">
                      <a:alpha val="43137"/>
                    </a:srgbClr>
                  </a:outerShdw>
                </a:effectLst>
              </a:rPr>
              <a:t>A disadvantage of a national and international ILS is that only more severe incidents are being reported. That is Unsafe conditions and near misses are filtered out.</a:t>
            </a:r>
            <a:endParaRPr lang="he-IL" sz="2000" b="1" i="1">
              <a:solidFill>
                <a:srgbClr val="002060"/>
              </a:solidFill>
              <a:effectLst>
                <a:outerShdw blurRad="38100" dist="38100" dir="2700000" algn="tl">
                  <a:srgbClr val="000000">
                    <a:alpha val="43137"/>
                  </a:srgbClr>
                </a:outerShdw>
              </a:effectLst>
            </a:endParaRPr>
          </a:p>
          <a:p>
            <a:pPr algn="l" rtl="0"/>
            <a:endParaRPr lang="he-IL" sz="2000"/>
          </a:p>
        </p:txBody>
      </p:sp>
      <p:pic>
        <p:nvPicPr>
          <p:cNvPr id="7" name="Picture 3"/>
          <p:cNvPicPr>
            <a:picLocks noChangeAspect="1" noChangeArrowheads="1"/>
          </p:cNvPicPr>
          <p:nvPr/>
        </p:nvPicPr>
        <p:blipFill>
          <a:blip r:embed="rId3">
            <a:extLst>
              <a:ext uri="{28A0092B-C50C-407E-A947-70E740481C1C}">
                <a14:useLocalDpi xmlns:a14="http://schemas.microsoft.com/office/drawing/2010/main" val="0"/>
              </a:ext>
            </a:extLst>
          </a:blip>
          <a:srcRect l="-552" r="85518"/>
          <a:stretch>
            <a:fillRect/>
          </a:stretch>
        </p:blipFill>
        <p:spPr bwMode="auto">
          <a:xfrm>
            <a:off x="35496" y="1061896"/>
            <a:ext cx="899592" cy="9219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61839899"/>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BD224B7-5F63-BDFF-9579-51EA57375DFE}"/>
              </a:ext>
            </a:extLst>
          </p:cNvPr>
          <p:cNvSpPr>
            <a:spLocks noGrp="1"/>
          </p:cNvSpPr>
          <p:nvPr>
            <p:ph type="title"/>
          </p:nvPr>
        </p:nvSpPr>
        <p:spPr/>
        <p:txBody>
          <a:bodyPr>
            <a:normAutofit fontScale="90000"/>
          </a:bodyPr>
          <a:lstStyle/>
          <a:p>
            <a:r>
              <a:rPr lang="he-IL"/>
              <a:t>ניהול סיכונים ראקטיבי - מערכת למידה מקומית של מרכז רפואי רבין</a:t>
            </a:r>
            <a:endParaRPr lang="en-IL"/>
          </a:p>
        </p:txBody>
      </p:sp>
      <p:sp>
        <p:nvSpPr>
          <p:cNvPr id="3" name="מציין מיקום תוכן 2">
            <a:extLst>
              <a:ext uri="{FF2B5EF4-FFF2-40B4-BE49-F238E27FC236}">
                <a16:creationId xmlns:a16="http://schemas.microsoft.com/office/drawing/2014/main" id="{DBD1B137-B193-9547-D09F-310BA2DD3329}"/>
              </a:ext>
            </a:extLst>
          </p:cNvPr>
          <p:cNvSpPr>
            <a:spLocks noGrp="1"/>
          </p:cNvSpPr>
          <p:nvPr>
            <p:ph idx="1"/>
          </p:nvPr>
        </p:nvSpPr>
        <p:spPr>
          <a:xfrm>
            <a:off x="3707904" y="1554536"/>
            <a:ext cx="5218610" cy="4525963"/>
          </a:xfrm>
        </p:spPr>
        <p:txBody>
          <a:bodyPr>
            <a:normAutofit fontScale="62500" lnSpcReduction="20000"/>
          </a:bodyPr>
          <a:lstStyle/>
          <a:p>
            <a:r>
              <a:rPr lang="he-IL"/>
              <a:t>כל הצוותים ביחידה: רופאים, מזכירות, רנטגנאים, פיזיקאים אחיות ומהנדסים מדווחים באמצעות דו"ח למידה יעודי.</a:t>
            </a:r>
          </a:p>
          <a:p>
            <a:r>
              <a:rPr lang="he-IL"/>
              <a:t>כל שבועיים מתקיימת ישיבת </a:t>
            </a:r>
            <a:r>
              <a:rPr lang="en-US"/>
              <a:t>QI</a:t>
            </a:r>
            <a:r>
              <a:rPr lang="he-IL"/>
              <a:t> בנוכחות מנהלי היחידה: רופא ראשי, רנטגנאית ראשית, פיזיקאי ראשי, אחות ראשית, מנהל אדמיניסטרטיבי ואחראי איכות.</a:t>
            </a:r>
          </a:p>
          <a:p>
            <a:r>
              <a:rPr lang="he-IL"/>
              <a:t>פרוטוקול הישיבה נכתב ולאחר אישור מנהל היחידה נשלח לכלל הצוות המטפל, ליחידה לניהול סיכונים ולהנהלת מרכז דוידוף. </a:t>
            </a:r>
            <a:r>
              <a:rPr lang="he-IL" b="1"/>
              <a:t>אני רואה בשלב זה חלק קריטי להצלחת תהליך הלמידה והגברת המודעות לנושאי בטיחות של כלל הצוות המטפל.</a:t>
            </a:r>
          </a:p>
          <a:p>
            <a:r>
              <a:rPr lang="he-IL"/>
              <a:t>בישיבות </a:t>
            </a:r>
            <a:r>
              <a:rPr lang="en-US"/>
              <a:t>QI</a:t>
            </a:r>
            <a:r>
              <a:rPr lang="he-IL"/>
              <a:t> מתבצעות החלטות אופרטיביות ומגדירים פרוייקים של בטיחות ביחידה.</a:t>
            </a:r>
          </a:p>
          <a:p>
            <a:r>
              <a:rPr lang="he-IL"/>
              <a:t>כל הדוחות מוזנים למסד הנתונים ומדוחים ליחידה לניהול סיכונים.</a:t>
            </a:r>
          </a:p>
          <a:p>
            <a:endParaRPr lang="en-IL"/>
          </a:p>
        </p:txBody>
      </p:sp>
      <p:pic>
        <p:nvPicPr>
          <p:cNvPr id="5" name="תמונה 4">
            <a:extLst>
              <a:ext uri="{FF2B5EF4-FFF2-40B4-BE49-F238E27FC236}">
                <a16:creationId xmlns:a16="http://schemas.microsoft.com/office/drawing/2014/main" id="{1224FD74-BA3C-1C53-9B19-6EA266557B48}"/>
              </a:ext>
            </a:extLst>
          </p:cNvPr>
          <p:cNvPicPr>
            <a:picLocks noChangeAspect="1"/>
          </p:cNvPicPr>
          <p:nvPr/>
        </p:nvPicPr>
        <p:blipFill>
          <a:blip r:embed="rId2"/>
          <a:stretch>
            <a:fillRect/>
          </a:stretch>
        </p:blipFill>
        <p:spPr>
          <a:xfrm>
            <a:off x="107504" y="1554536"/>
            <a:ext cx="3360686" cy="4394744"/>
          </a:xfrm>
          <a:prstGeom prst="rect">
            <a:avLst/>
          </a:prstGeom>
        </p:spPr>
      </p:pic>
    </p:spTree>
    <p:extLst>
      <p:ext uri="{BB962C8B-B14F-4D97-AF65-F5344CB8AC3E}">
        <p14:creationId xmlns:p14="http://schemas.microsoft.com/office/powerpoint/2010/main" val="402450677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dur="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p:stCondLst>
                              <p:cond delay="0"/>
                            </p:stCondLst>
                            <p:childTnLst>
                              <p:par>
                                <p:cTn id="9" presetID="1" presetClass="entr" presetSubtype="0" dur="1"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p:stCondLst>
                              <p:cond delay="0"/>
                            </p:stCondLst>
                            <p:childTnLst>
                              <p:par>
                                <p:cTn id="13" presetID="1" presetClass="entr" presetSubtype="0" dur="1"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p:stCondLst>
                              <p:cond delay="0"/>
                            </p:stCondLst>
                            <p:childTnLst>
                              <p:par>
                                <p:cTn id="17" presetID="1" presetClass="entr" presetSubtype="0" dur="1"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p:stCondLst>
                              <p:cond delay="0"/>
                            </p:stCondLst>
                            <p:childTnLst>
                              <p:par>
                                <p:cTn id="21" presetID="1" presetClass="entr" presetSubtype="0" dur="1"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406243" y="83157"/>
            <a:ext cx="8229600" cy="1143000"/>
          </a:xfrm>
        </p:spPr>
        <p:txBody>
          <a:bodyPr>
            <a:normAutofit fontScale="90000"/>
          </a:bodyPr>
          <a:lstStyle/>
          <a:p>
            <a:r>
              <a:rPr lang="he-IL"/>
              <a:t>ניהול סיכונים ראקטיבי - מערכת למידה מקומית של מרכז רפואי רבין</a:t>
            </a:r>
          </a:p>
        </p:txBody>
      </p:sp>
      <p:pic>
        <p:nvPicPr>
          <p:cNvPr id="7" name="Picture 6">
            <a:extLst>
              <a:ext uri="{FF2B5EF4-FFF2-40B4-BE49-F238E27FC236}">
                <a16:creationId xmlns:a16="http://schemas.microsoft.com/office/drawing/2014/main" id="{2C603AA6-9038-0FC5-D9CA-3BAF6E0B0E71}"/>
              </a:ext>
            </a:extLst>
          </p:cNvPr>
          <p:cNvPicPr>
            <a:picLocks noChangeAspect="1"/>
          </p:cNvPicPr>
          <p:nvPr/>
        </p:nvPicPr>
        <p:blipFill>
          <a:blip r:embed="rId2"/>
          <a:stretch>
            <a:fillRect/>
          </a:stretch>
        </p:blipFill>
        <p:spPr>
          <a:xfrm>
            <a:off x="779378" y="3886597"/>
            <a:ext cx="7498080" cy="2672421"/>
          </a:xfrm>
          <a:prstGeom prst="rect">
            <a:avLst/>
          </a:prstGeom>
        </p:spPr>
      </p:pic>
      <p:pic>
        <p:nvPicPr>
          <p:cNvPr id="9" name="Picture 8">
            <a:extLst>
              <a:ext uri="{FF2B5EF4-FFF2-40B4-BE49-F238E27FC236}">
                <a16:creationId xmlns:a16="http://schemas.microsoft.com/office/drawing/2014/main" id="{B4060D03-0FBE-F76A-EFED-8ED29B47FA8F}"/>
              </a:ext>
            </a:extLst>
          </p:cNvPr>
          <p:cNvPicPr>
            <a:picLocks noChangeAspect="1"/>
          </p:cNvPicPr>
          <p:nvPr/>
        </p:nvPicPr>
        <p:blipFill>
          <a:blip r:embed="rId3"/>
          <a:stretch>
            <a:fillRect/>
          </a:stretch>
        </p:blipFill>
        <p:spPr>
          <a:xfrm>
            <a:off x="764629" y="1340768"/>
            <a:ext cx="7512829" cy="2431218"/>
          </a:xfrm>
          <a:prstGeom prst="rect">
            <a:avLst/>
          </a:prstGeom>
        </p:spPr>
      </p:pic>
    </p:spTree>
    <p:extLst>
      <p:ext uri="{BB962C8B-B14F-4D97-AF65-F5344CB8AC3E}">
        <p14:creationId xmlns:p14="http://schemas.microsoft.com/office/powerpoint/2010/main" val="412950953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dur="1"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p:stCondLst>
                              <p:cond delay="0"/>
                            </p:stCondLst>
                            <p:childTnLst>
                              <p:par>
                                <p:cTn id="9" presetID="1" presetClass="entr" presetSubtype="0" dur="1"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7022B3-D310-CFB2-F0CA-BC05F46FCECD}"/>
              </a:ext>
            </a:extLst>
          </p:cNvPr>
          <p:cNvSpPr>
            <a:spLocks noGrp="1"/>
          </p:cNvSpPr>
          <p:nvPr>
            <p:ph type="title"/>
          </p:nvPr>
        </p:nvSpPr>
        <p:spPr>
          <a:xfrm>
            <a:off x="457200" y="44624"/>
            <a:ext cx="8229600" cy="1143000"/>
          </a:xfrm>
        </p:spPr>
        <p:txBody>
          <a:bodyPr/>
          <a:lstStyle/>
          <a:p>
            <a:r>
              <a:rPr lang="he-IL"/>
              <a:t>תוצרים של מערכת הלמידה</a:t>
            </a:r>
            <a:endParaRPr lang="LID4096"/>
          </a:p>
        </p:txBody>
      </p:sp>
      <p:grpSp>
        <p:nvGrpSpPr>
          <p:cNvPr id="15" name="Group 14">
            <a:extLst>
              <a:ext uri="{FF2B5EF4-FFF2-40B4-BE49-F238E27FC236}">
                <a16:creationId xmlns:a16="http://schemas.microsoft.com/office/drawing/2014/main" id="{7A7DD229-4704-26C4-C259-114C64A680E1}"/>
              </a:ext>
            </a:extLst>
          </p:cNvPr>
          <p:cNvGrpSpPr/>
          <p:nvPr/>
        </p:nvGrpSpPr>
        <p:grpSpPr>
          <a:xfrm>
            <a:off x="395536" y="1340768"/>
            <a:ext cx="8431832" cy="4747536"/>
            <a:chOff x="395536" y="1700808"/>
            <a:chExt cx="8431832" cy="4747536"/>
          </a:xfrm>
        </p:grpSpPr>
        <p:pic>
          <p:nvPicPr>
            <p:cNvPr id="9" name="Picture 8">
              <a:extLst>
                <a:ext uri="{FF2B5EF4-FFF2-40B4-BE49-F238E27FC236}">
                  <a16:creationId xmlns:a16="http://schemas.microsoft.com/office/drawing/2014/main" id="{21108AFE-EE31-40BE-DE94-334A33FF16DB}"/>
                </a:ext>
              </a:extLst>
            </p:cNvPr>
            <p:cNvPicPr>
              <a:picLocks noChangeAspect="1"/>
            </p:cNvPicPr>
            <p:nvPr/>
          </p:nvPicPr>
          <p:blipFill>
            <a:blip r:embed="rId2"/>
            <a:stretch>
              <a:fillRect/>
            </a:stretch>
          </p:blipFill>
          <p:spPr>
            <a:xfrm>
              <a:off x="395536" y="1725386"/>
              <a:ext cx="2743200" cy="2329274"/>
            </a:xfrm>
            <a:prstGeom prst="rect">
              <a:avLst/>
            </a:prstGeom>
          </p:spPr>
        </p:pic>
        <p:pic>
          <p:nvPicPr>
            <p:cNvPr id="10" name="Picture 9">
              <a:extLst>
                <a:ext uri="{FF2B5EF4-FFF2-40B4-BE49-F238E27FC236}">
                  <a16:creationId xmlns:a16="http://schemas.microsoft.com/office/drawing/2014/main" id="{B4C16785-5F32-C0CA-30CE-F4862CD75246}"/>
                </a:ext>
              </a:extLst>
            </p:cNvPr>
            <p:cNvPicPr>
              <a:picLocks noChangeAspect="1"/>
            </p:cNvPicPr>
            <p:nvPr/>
          </p:nvPicPr>
          <p:blipFill>
            <a:blip r:embed="rId3"/>
            <a:stretch>
              <a:fillRect/>
            </a:stretch>
          </p:blipFill>
          <p:spPr>
            <a:xfrm>
              <a:off x="6084168" y="1700808"/>
              <a:ext cx="2743200" cy="2378430"/>
            </a:xfrm>
            <a:prstGeom prst="rect">
              <a:avLst/>
            </a:prstGeom>
          </p:spPr>
        </p:pic>
        <p:pic>
          <p:nvPicPr>
            <p:cNvPr id="11" name="Picture 10">
              <a:extLst>
                <a:ext uri="{FF2B5EF4-FFF2-40B4-BE49-F238E27FC236}">
                  <a16:creationId xmlns:a16="http://schemas.microsoft.com/office/drawing/2014/main" id="{948D2C5A-3CFF-9C6C-E099-CB66D41DCC28}"/>
                </a:ext>
              </a:extLst>
            </p:cNvPr>
            <p:cNvPicPr>
              <a:picLocks noChangeAspect="1"/>
            </p:cNvPicPr>
            <p:nvPr/>
          </p:nvPicPr>
          <p:blipFill>
            <a:blip r:embed="rId4"/>
            <a:stretch>
              <a:fillRect/>
            </a:stretch>
          </p:blipFill>
          <p:spPr>
            <a:xfrm>
              <a:off x="3239852" y="1714636"/>
              <a:ext cx="2743200" cy="2350775"/>
            </a:xfrm>
            <a:prstGeom prst="rect">
              <a:avLst/>
            </a:prstGeom>
          </p:spPr>
        </p:pic>
        <p:pic>
          <p:nvPicPr>
            <p:cNvPr id="12" name="Picture 11">
              <a:extLst>
                <a:ext uri="{FF2B5EF4-FFF2-40B4-BE49-F238E27FC236}">
                  <a16:creationId xmlns:a16="http://schemas.microsoft.com/office/drawing/2014/main" id="{9E467056-CE75-FE11-B837-1DDC15A47B46}"/>
                </a:ext>
              </a:extLst>
            </p:cNvPr>
            <p:cNvPicPr>
              <a:picLocks noChangeAspect="1"/>
            </p:cNvPicPr>
            <p:nvPr/>
          </p:nvPicPr>
          <p:blipFill>
            <a:blip r:embed="rId5"/>
            <a:stretch>
              <a:fillRect/>
            </a:stretch>
          </p:blipFill>
          <p:spPr>
            <a:xfrm>
              <a:off x="395536" y="4112662"/>
              <a:ext cx="2743200" cy="2335682"/>
            </a:xfrm>
            <a:prstGeom prst="rect">
              <a:avLst/>
            </a:prstGeom>
          </p:spPr>
        </p:pic>
        <p:pic>
          <p:nvPicPr>
            <p:cNvPr id="13" name="Picture 12">
              <a:extLst>
                <a:ext uri="{FF2B5EF4-FFF2-40B4-BE49-F238E27FC236}">
                  <a16:creationId xmlns:a16="http://schemas.microsoft.com/office/drawing/2014/main" id="{6B32B2D0-E799-4822-C5BB-36A2B7784CA4}"/>
                </a:ext>
              </a:extLst>
            </p:cNvPr>
            <p:cNvPicPr>
              <a:picLocks noChangeAspect="1"/>
            </p:cNvPicPr>
            <p:nvPr/>
          </p:nvPicPr>
          <p:blipFill>
            <a:blip r:embed="rId6"/>
            <a:stretch>
              <a:fillRect/>
            </a:stretch>
          </p:blipFill>
          <p:spPr>
            <a:xfrm>
              <a:off x="3239852" y="4119053"/>
              <a:ext cx="2743200" cy="2322901"/>
            </a:xfrm>
            <a:prstGeom prst="rect">
              <a:avLst/>
            </a:prstGeom>
          </p:spPr>
        </p:pic>
        <p:pic>
          <p:nvPicPr>
            <p:cNvPr id="14" name="Picture 13">
              <a:extLst>
                <a:ext uri="{FF2B5EF4-FFF2-40B4-BE49-F238E27FC236}">
                  <a16:creationId xmlns:a16="http://schemas.microsoft.com/office/drawing/2014/main" id="{D00D2078-D1C5-A915-F86E-EBD1C1EDE55C}"/>
                </a:ext>
              </a:extLst>
            </p:cNvPr>
            <p:cNvPicPr>
              <a:picLocks noChangeAspect="1"/>
            </p:cNvPicPr>
            <p:nvPr/>
          </p:nvPicPr>
          <p:blipFill>
            <a:blip r:embed="rId7"/>
            <a:stretch>
              <a:fillRect/>
            </a:stretch>
          </p:blipFill>
          <p:spPr>
            <a:xfrm>
              <a:off x="6084168" y="4116436"/>
              <a:ext cx="2743200" cy="2328135"/>
            </a:xfrm>
            <a:prstGeom prst="rect">
              <a:avLst/>
            </a:prstGeom>
          </p:spPr>
        </p:pic>
      </p:grpSp>
    </p:spTree>
    <p:extLst>
      <p:ext uri="{BB962C8B-B14F-4D97-AF65-F5344CB8AC3E}">
        <p14:creationId xmlns:p14="http://schemas.microsoft.com/office/powerpoint/2010/main" val="1304088515"/>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תוצרים של מערכת הלמידה</a:t>
            </a:r>
          </a:p>
        </p:txBody>
      </p:sp>
      <p:pic>
        <p:nvPicPr>
          <p:cNvPr id="5" name="תמונה 4"/>
          <p:cNvPicPr>
            <a:picLocks noChangeAspect="1"/>
          </p:cNvPicPr>
          <p:nvPr/>
        </p:nvPicPr>
        <p:blipFill>
          <a:blip r:embed="rId2"/>
          <a:stretch>
            <a:fillRect/>
          </a:stretch>
        </p:blipFill>
        <p:spPr>
          <a:xfrm>
            <a:off x="74000" y="1628800"/>
            <a:ext cx="9000000" cy="3925532"/>
          </a:xfrm>
          <a:prstGeom prst="rect">
            <a:avLst/>
          </a:prstGeom>
        </p:spPr>
      </p:pic>
    </p:spTree>
    <p:extLst>
      <p:ext uri="{BB962C8B-B14F-4D97-AF65-F5344CB8AC3E}">
        <p14:creationId xmlns:p14="http://schemas.microsoft.com/office/powerpoint/2010/main" val="3059071844"/>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EEC23C5-A295-534E-3965-4EE89EA89A9C}"/>
              </a:ext>
            </a:extLst>
          </p:cNvPr>
          <p:cNvSpPr>
            <a:spLocks noGrp="1"/>
          </p:cNvSpPr>
          <p:nvPr>
            <p:ph type="title"/>
          </p:nvPr>
        </p:nvSpPr>
        <p:spPr/>
        <p:txBody>
          <a:bodyPr/>
          <a:lstStyle/>
          <a:p>
            <a:r>
              <a:rPr lang="he-IL" dirty="0"/>
              <a:t>תוצרים של מערכת הלמידה</a:t>
            </a:r>
            <a:endParaRPr lang="LID4096" dirty="0"/>
          </a:p>
        </p:txBody>
      </p:sp>
      <p:graphicFrame>
        <p:nvGraphicFramePr>
          <p:cNvPr id="16" name="תרשים 10">
            <a:extLst>
              <a:ext uri="{FF2B5EF4-FFF2-40B4-BE49-F238E27FC236}">
                <a16:creationId xmlns:a16="http://schemas.microsoft.com/office/drawing/2014/main" id="{00000000-0008-0000-0600-00000B000000}"/>
              </a:ext>
            </a:extLst>
          </p:cNvPr>
          <p:cNvGraphicFramePr>
            <a:graphicFrameLocks noGrp="1"/>
          </p:cNvGraphicFramePr>
          <p:nvPr>
            <p:ph sz="half" idx="2"/>
            <p:extLst>
              <p:ext uri="{D42A27DB-BD31-4B8C-83A1-F6EECF244321}">
                <p14:modId xmlns:p14="http://schemas.microsoft.com/office/powerpoint/2010/main" val="2160700835"/>
              </p:ext>
            </p:extLst>
          </p:nvPr>
        </p:nvGraphicFramePr>
        <p:xfrm>
          <a:off x="4633664" y="2295557"/>
          <a:ext cx="4042792" cy="2694667"/>
        </p:xfrm>
        <a:graphic>
          <a:graphicData uri="http://schemas.openxmlformats.org/drawingml/2006/chart">
            <c:chart xmlns:c="http://schemas.openxmlformats.org/drawingml/2006/chart" xmlns:r="http://schemas.openxmlformats.org/officeDocument/2006/relationships" r:id="rId2"/>
          </a:graphicData>
        </a:graphic>
      </p:graphicFrame>
      <p:pic>
        <p:nvPicPr>
          <p:cNvPr id="22" name="Picture 21">
            <a:extLst>
              <a:ext uri="{FF2B5EF4-FFF2-40B4-BE49-F238E27FC236}">
                <a16:creationId xmlns:a16="http://schemas.microsoft.com/office/drawing/2014/main" id="{365F59A4-C705-D91C-E206-4D7C23B1FBD0}"/>
              </a:ext>
            </a:extLst>
          </p:cNvPr>
          <p:cNvPicPr>
            <a:picLocks noChangeAspect="1"/>
          </p:cNvPicPr>
          <p:nvPr/>
        </p:nvPicPr>
        <p:blipFill>
          <a:blip r:embed="rId3"/>
          <a:stretch>
            <a:fillRect/>
          </a:stretch>
        </p:blipFill>
        <p:spPr>
          <a:xfrm>
            <a:off x="313184" y="2276872"/>
            <a:ext cx="4139543" cy="2694666"/>
          </a:xfrm>
          <a:prstGeom prst="rect">
            <a:avLst/>
          </a:prstGeom>
        </p:spPr>
      </p:pic>
    </p:spTree>
    <p:extLst>
      <p:ext uri="{BB962C8B-B14F-4D97-AF65-F5344CB8AC3E}">
        <p14:creationId xmlns:p14="http://schemas.microsoft.com/office/powerpoint/2010/main" val="2608624392"/>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457200" y="44624"/>
            <a:ext cx="8229600" cy="1143000"/>
          </a:xfrm>
        </p:spPr>
        <p:txBody>
          <a:bodyPr/>
          <a:lstStyle/>
          <a:p>
            <a:r>
              <a:rPr lang="he-IL" dirty="0">
                <a:latin typeface="Arial" pitchFamily="34" charset="0"/>
                <a:cs typeface="Arial" pitchFamily="34" charset="0"/>
              </a:rPr>
              <a:t>גישות לניהול </a:t>
            </a:r>
            <a:r>
              <a:rPr lang="he-IL" dirty="0" smtClean="0">
                <a:latin typeface="Arial" pitchFamily="34" charset="0"/>
                <a:cs typeface="Arial" pitchFamily="34" charset="0"/>
              </a:rPr>
              <a:t>סיכונים פרואקטיבי</a:t>
            </a:r>
            <a:endParaRPr lang="he-IL" dirty="0">
              <a:latin typeface="Arial" pitchFamily="34" charset="0"/>
              <a:cs typeface="Arial" pitchFamily="34" charset="0"/>
            </a:endParaRPr>
          </a:p>
        </p:txBody>
      </p:sp>
      <p:sp>
        <p:nvSpPr>
          <p:cNvPr id="3" name="מציין מיקום תוכן 2"/>
          <p:cNvSpPr>
            <a:spLocks noGrp="1"/>
          </p:cNvSpPr>
          <p:nvPr>
            <p:ph idx="1"/>
          </p:nvPr>
        </p:nvSpPr>
        <p:spPr>
          <a:xfrm>
            <a:off x="611560" y="1166018"/>
            <a:ext cx="8229600" cy="4525963"/>
          </a:xfrm>
          <a:noFill/>
          <a:ln>
            <a:noFill/>
          </a:ln>
        </p:spPr>
        <p:txBody>
          <a:bodyPr>
            <a:normAutofit/>
          </a:bodyPr>
          <a:lstStyle/>
          <a:p>
            <a:r>
              <a:rPr lang="he-IL" sz="2800" b="1" dirty="0">
                <a:latin typeface="Arial" pitchFamily="34" charset="0"/>
                <a:cs typeface="Arial" pitchFamily="34" charset="0"/>
              </a:rPr>
              <a:t>ניהול סיכונים פרואקטיבי</a:t>
            </a:r>
          </a:p>
          <a:p>
            <a:pPr lvl="1"/>
            <a:r>
              <a:rPr lang="he-IL" sz="2400" b="1" dirty="0">
                <a:latin typeface="Arial" pitchFamily="34" charset="0"/>
              </a:rPr>
              <a:t>ביצוע אנליזות תהליכיות </a:t>
            </a:r>
          </a:p>
          <a:p>
            <a:pPr lvl="3"/>
            <a:r>
              <a:rPr lang="en-US" sz="1800" b="1" dirty="0">
                <a:latin typeface="Arial" pitchFamily="34" charset="0"/>
                <a:cs typeface="Arial" pitchFamily="34" charset="0"/>
              </a:rPr>
              <a:t>Process Tree</a:t>
            </a:r>
            <a:endParaRPr lang="he-IL" sz="1800" b="1" dirty="0">
              <a:latin typeface="Arial" pitchFamily="34" charset="0"/>
              <a:cs typeface="Arial" pitchFamily="34" charset="0"/>
            </a:endParaRPr>
          </a:p>
          <a:p>
            <a:pPr lvl="3"/>
            <a:r>
              <a:rPr lang="en-US" sz="1800" b="1" dirty="0">
                <a:latin typeface="Arial" pitchFamily="34" charset="0"/>
                <a:cs typeface="Arial" pitchFamily="34" charset="0"/>
              </a:rPr>
              <a:t>Fault Tree analysis (FTA)</a:t>
            </a:r>
            <a:endParaRPr lang="he-IL" sz="1800" b="1" dirty="0">
              <a:latin typeface="Arial" pitchFamily="34" charset="0"/>
              <a:cs typeface="Arial" pitchFamily="34" charset="0"/>
            </a:endParaRPr>
          </a:p>
          <a:p>
            <a:pPr lvl="3"/>
            <a:r>
              <a:rPr lang="en-US" sz="1800" b="1" dirty="0">
                <a:latin typeface="Arial" pitchFamily="34" charset="0"/>
                <a:cs typeface="Arial" pitchFamily="34" charset="0"/>
              </a:rPr>
              <a:t> Failure Mode and Effect Analysis (FMEA)</a:t>
            </a:r>
            <a:endParaRPr lang="he-IL" sz="1800" b="1" dirty="0">
              <a:latin typeface="Arial" pitchFamily="34" charset="0"/>
            </a:endParaRPr>
          </a:p>
          <a:p>
            <a:pPr lvl="1"/>
            <a:r>
              <a:rPr lang="he-IL" sz="2400" b="1" dirty="0">
                <a:latin typeface="Arial" pitchFamily="34" charset="0"/>
              </a:rPr>
              <a:t>כתיבה והטמעה של נהלי</a:t>
            </a:r>
            <a:r>
              <a:rPr lang="en-US" sz="2400" b="1" dirty="0">
                <a:latin typeface="Arial" pitchFamily="34" charset="0"/>
              </a:rPr>
              <a:t> </a:t>
            </a:r>
            <a:r>
              <a:rPr lang="he-IL" sz="2400" b="1" dirty="0">
                <a:latin typeface="Arial" pitchFamily="34" charset="0"/>
              </a:rPr>
              <a:t>בטיחות ונהלי עבודה.</a:t>
            </a:r>
            <a:endParaRPr lang="en-US" sz="2400" b="1" dirty="0">
              <a:latin typeface="Arial" pitchFamily="34" charset="0"/>
            </a:endParaRPr>
          </a:p>
          <a:p>
            <a:pPr lvl="1"/>
            <a:r>
              <a:rPr lang="he-IL" sz="2400" b="1" dirty="0">
                <a:latin typeface="Arial" pitchFamily="34" charset="0"/>
                <a:cs typeface="Arial" pitchFamily="34" charset="0"/>
              </a:rPr>
              <a:t>הוספה של מחסומים ונקודות עצירה בתהליכי העבודה להגברת הבטיחות </a:t>
            </a:r>
            <a:r>
              <a:rPr lang="en-US" sz="2400" b="1" dirty="0">
                <a:latin typeface="Arial" pitchFamily="34" charset="0"/>
                <a:cs typeface="Arial" pitchFamily="34" charset="0"/>
              </a:rPr>
              <a:t>(Safety Barrier)</a:t>
            </a:r>
            <a:r>
              <a:rPr lang="he-IL" sz="2400" b="1" dirty="0">
                <a:latin typeface="Arial" pitchFamily="34" charset="0"/>
                <a:cs typeface="Arial" pitchFamily="34" charset="0"/>
              </a:rPr>
              <a:t>.</a:t>
            </a:r>
          </a:p>
        </p:txBody>
      </p:sp>
      <p:pic>
        <p:nvPicPr>
          <p:cNvPr id="4" name="מציין מיקום תוכן 6">
            <a:extLst>
              <a:ext uri="{FF2B5EF4-FFF2-40B4-BE49-F238E27FC236}">
                <a16:creationId xmlns:a16="http://schemas.microsoft.com/office/drawing/2014/main" id="{DE9057E3-C9BB-C317-1E00-763B5536DB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10612" y="4869160"/>
            <a:ext cx="3155904" cy="1926895"/>
          </a:xfrm>
          <a:prstGeom prst="rect">
            <a:avLst/>
          </a:prstGeom>
        </p:spPr>
      </p:pic>
      <p:pic>
        <p:nvPicPr>
          <p:cNvPr id="5" name="תמונה 9">
            <a:extLst>
              <a:ext uri="{FF2B5EF4-FFF2-40B4-BE49-F238E27FC236}">
                <a16:creationId xmlns:a16="http://schemas.microsoft.com/office/drawing/2014/main" id="{78DA4E18-7542-F134-9E2B-EA29B1019E9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99792" y="4869160"/>
            <a:ext cx="3152428" cy="1924774"/>
          </a:xfrm>
          <a:prstGeom prst="rect">
            <a:avLst/>
          </a:prstGeom>
        </p:spPr>
      </p:pic>
    </p:spTree>
    <p:extLst>
      <p:ext uri="{BB962C8B-B14F-4D97-AF65-F5344CB8AC3E}">
        <p14:creationId xmlns:p14="http://schemas.microsoft.com/office/powerpoint/2010/main" val="366252338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dur="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p:stCondLst>
                              <p:cond delay="0"/>
                            </p:stCondLst>
                            <p:childTnLst>
                              <p:par>
                                <p:cTn id="9" presetID="1" presetClass="entr" presetSubtype="0" dur="1"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dur="1"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dur="1"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dur="1"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p:stCondLst>
                              <p:cond delay="0"/>
                            </p:stCondLst>
                            <p:childTnLst>
                              <p:par>
                                <p:cTn id="19" presetID="1" presetClass="entr" presetSubtype="0" dur="1"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p:stCondLst>
                              <p:cond delay="0"/>
                            </p:stCondLst>
                            <p:childTnLst>
                              <p:par>
                                <p:cTn id="23" presetID="1" presetClass="entr" presetSubtype="0" dur="1"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73A44B-F8CA-EF35-C467-512612558348}"/>
              </a:ext>
            </a:extLst>
          </p:cNvPr>
          <p:cNvSpPr>
            <a:spLocks noGrp="1"/>
          </p:cNvSpPr>
          <p:nvPr>
            <p:ph type="title"/>
          </p:nvPr>
        </p:nvSpPr>
        <p:spPr/>
        <p:txBody>
          <a:bodyPr>
            <a:normAutofit fontScale="90000"/>
          </a:bodyPr>
          <a:lstStyle/>
          <a:p>
            <a:r>
              <a:rPr lang="en-US"/>
              <a:t>Failure Mode and Effect Analysis (FMEA)</a:t>
            </a:r>
            <a:endParaRPr lang="LID4096"/>
          </a:p>
        </p:txBody>
      </p:sp>
      <mc:AlternateContent xmlns:mc="http://schemas.openxmlformats.org/markup-compatibility/2006" xmlns:a14="http://schemas.microsoft.com/office/drawing/2010/main">
        <mc:Choice Requires="a14">
          <p:sp>
            <p:nvSpPr>
              <p:cNvPr id="4" name="מציין מיקום תוכן 4">
                <a:extLst>
                  <a:ext uri="{FF2B5EF4-FFF2-40B4-BE49-F238E27FC236}">
                    <a16:creationId xmlns:a16="http://schemas.microsoft.com/office/drawing/2014/main" id="{84A4A3FC-AB84-944D-C5D4-D0E3914700F8}"/>
                  </a:ext>
                </a:extLst>
              </p:cNvPr>
              <p:cNvSpPr>
                <a:spLocks noGrp="1"/>
              </p:cNvSpPr>
              <p:nvPr>
                <p:ph idx="1"/>
              </p:nvPr>
            </p:nvSpPr>
            <p:spPr>
              <a:xfrm>
                <a:off x="354360" y="3269666"/>
                <a:ext cx="8435280" cy="3052935"/>
              </a:xfrm>
            </p:spPr>
            <p:txBody>
              <a:bodyPr>
                <a:normAutofit/>
              </a:bodyPr>
              <a:lstStyle/>
              <a:p>
                <a:pPr algn="l" rtl="0"/>
                <a:r>
                  <a:rPr lang="en-US"/>
                  <a:t>Risk Priority Number (RPN) range from 1-1000.</a:t>
                </a:r>
              </a:p>
              <a:p>
                <a:pPr algn="l" rtl="0"/>
                <a:r>
                  <a:rPr lang="en-US" err="1"/>
                  <a:t>Occurance (O) range from 1-10.</a:t>
                </a:r>
              </a:p>
              <a:p>
                <a:pPr algn="l" rtl="0"/>
                <a:r>
                  <a:rPr lang="en-US"/>
                  <a:t>Severity (S) range from 1-10.</a:t>
                </a:r>
              </a:p>
              <a:p>
                <a:pPr algn="l" rtl="0"/>
                <a:r>
                  <a:rPr lang="en-US"/>
                  <a:t>Detectability (D) range from 1-10.</a:t>
                </a:r>
              </a:p>
              <a:p>
                <a:pPr algn="l" rtl="0"/>
                <a14:m>
                  <m:oMath xmlns:m="http://schemas.openxmlformats.org/officeDocument/2006/math">
                    <m:r>
                      <a:rPr lang="en-US" b="0" i="1" smtClean="0">
                        <a:latin typeface="Cambria Math"/>
                      </a:rPr>
                      <m:t>𝑅𝑃𝑁</m:t>
                    </m:r>
                    <m:r>
                      <a:rPr lang="en-US" b="0" i="1" smtClean="0">
                        <a:latin typeface="Cambria Math"/>
                      </a:rPr>
                      <m:t>=</m:t>
                    </m:r>
                    <m:r>
                      <a:rPr lang="en-US" b="0" i="1" smtClean="0">
                        <a:latin typeface="Cambria Math"/>
                      </a:rPr>
                      <m:t>𝑂</m:t>
                    </m:r>
                    <m:r>
                      <a:rPr lang="en-US" b="0" i="1" smtClean="0">
                        <a:latin typeface="Cambria Math"/>
                        <a:ea typeface="Cambria Math"/>
                      </a:rPr>
                      <m:t>∙</m:t>
                    </m:r>
                    <m:r>
                      <a:rPr lang="en-US" b="0" i="1" smtClean="0">
                        <a:latin typeface="Cambria Math"/>
                        <a:ea typeface="Cambria Math"/>
                      </a:rPr>
                      <m:t>𝑆</m:t>
                    </m:r>
                    <m:r>
                      <a:rPr lang="en-US" b="0" i="1" smtClean="0">
                        <a:latin typeface="Cambria Math"/>
                        <a:ea typeface="Cambria Math"/>
                      </a:rPr>
                      <m:t>∙</m:t>
                    </m:r>
                    <m:r>
                      <a:rPr lang="en-US" b="0" i="1" smtClean="0">
                        <a:latin typeface="Cambria Math"/>
                        <a:ea typeface="Cambria Math"/>
                      </a:rPr>
                      <m:t>𝐷</m:t>
                    </m:r>
                  </m:oMath>
                </a14:m>
                <a:endParaRPr lang="en-US"/>
              </a:p>
            </p:txBody>
          </p:sp>
        </mc:Choice>
        <mc:Fallback xmlns="" xmlns:m="http://schemas.openxmlformats.org/officeDocument/2006/math" xmlns:w="http://schemas.openxmlformats.org/wordprocessingml/2006/main" xmlns:wp="http://schemas.openxmlformats.org/drawingml/2006/wordprocessingDrawing" xmlns:p14="http://schemas.microsoft.com/office/powerpoint/2010/main" xmlns:p15="http://schemas.microsoft.com/office/powerpoint/2012/main" xmlns:p159="http://schemas.microsoft.com/office/powerpoint/2015/09/main">
          <p:sp>
            <p:nvSpPr>
              <p:cNvPr id="4" name="מציין מיקום תוכן 4">
                <a:extLst>
                  <a:ext uri="{FF2B5EF4-FFF2-40B4-BE49-F238E27FC236}">
                    <a16:creationId xmlns:a16="http://schemas.microsoft.com/office/drawing/2014/main" id="{84A4A3FC-AB84-944D-C5D4-D0E3914700F8}"/>
                  </a:ext>
                </a:extLst>
              </p:cNvPr>
              <p:cNvSpPr>
                <a:spLocks noGrp="1" noRot="1" noChangeAspect="1" noMove="1" noResize="1" noEditPoints="1" noAdjustHandles="1" noChangeArrowheads="1" noChangeShapeType="1" noTextEdit="1"/>
              </p:cNvSpPr>
              <p:nvPr>
                <p:ph idx="1"/>
              </p:nvPr>
            </p:nvSpPr>
            <p:spPr>
              <a:xfrm>
                <a:off x="354360" y="3269666"/>
                <a:ext cx="8435280" cy="3052935"/>
              </a:xfrm>
              <a:blipFill>
                <a:blip r:embed="rId2"/>
                <a:stretch>
                  <a:fillRect l="-1662" t="-2595" b="0"/>
                </a:stretch>
              </a:blipFill>
            </p:spPr>
            <p:txBody>
              <a:bodyPr/>
              <a:lstStyle/>
              <a:p>
                <a:r>
                  <a:rPr lang="en-IL">
                    <a:noFill/>
                  </a:rPr>
                  <a:t> </a:t>
                </a:r>
              </a:p>
            </p:txBody>
          </p:sp>
        </mc:Fallback>
      </mc:AlternateContent>
      <p:sp>
        <p:nvSpPr>
          <p:cNvPr id="3" name="תיבת טקסט 2">
            <a:extLst>
              <a:ext uri="{FF2B5EF4-FFF2-40B4-BE49-F238E27FC236}">
                <a16:creationId xmlns:a16="http://schemas.microsoft.com/office/drawing/2014/main" id="{56A55F94-968D-B223-9CA8-BE12603BEB86}"/>
              </a:ext>
            </a:extLst>
          </p:cNvPr>
          <p:cNvSpPr txBox="1"/>
          <p:nvPr/>
        </p:nvSpPr>
        <p:spPr>
          <a:xfrm>
            <a:off x="251520" y="1453466"/>
            <a:ext cx="8640960" cy="1815882"/>
          </a:xfrm>
          <a:prstGeom prst="rect">
            <a:avLst/>
          </a:prstGeom>
          <a:noFill/>
        </p:spPr>
        <p:txBody>
          <a:bodyPr wrap="square" rtlCol="0">
            <a:spAutoFit/>
          </a:bodyPr>
          <a:lstStyle/>
          <a:p>
            <a:r>
              <a:rPr lang="he-IL" sz="2800"/>
              <a:t>באנליזת </a:t>
            </a:r>
            <a:r>
              <a:rPr lang="en-US" sz="2800"/>
              <a:t>FMEA</a:t>
            </a:r>
            <a:r>
              <a:rPr lang="he-IL" sz="2800"/>
              <a:t> אנו בוחנים תרחישים אפשריים ומאפיינים אותם על פי הסיכוי להתרחשותם (</a:t>
            </a:r>
            <a:r>
              <a:rPr lang="en-US" sz="2800"/>
              <a:t>O</a:t>
            </a:r>
            <a:r>
              <a:rPr lang="he-IL" sz="2800"/>
              <a:t>), חומרתם (</a:t>
            </a:r>
            <a:r>
              <a:rPr lang="en-US" sz="2800"/>
              <a:t>S</a:t>
            </a:r>
            <a:r>
              <a:rPr lang="he-IL" sz="2800"/>
              <a:t>) והיכולת לזהות את התרחשותם (</a:t>
            </a:r>
            <a:r>
              <a:rPr lang="en-US" sz="2800"/>
              <a:t>D</a:t>
            </a:r>
            <a:r>
              <a:rPr lang="he-IL" sz="2800"/>
              <a:t>)</a:t>
            </a:r>
            <a:r>
              <a:rPr lang="en-US" sz="2800"/>
              <a:t>.</a:t>
            </a:r>
            <a:r>
              <a:rPr lang="he-IL" sz="2800"/>
              <a:t> מכפלה של הפרמטרים נותנת מדד אשר מתאר את העדיפות לטיפול בבעיה. </a:t>
            </a:r>
            <a:endParaRPr lang="en-IL" sz="2800"/>
          </a:p>
        </p:txBody>
      </p:sp>
    </p:spTree>
    <p:extLst>
      <p:ext uri="{BB962C8B-B14F-4D97-AF65-F5344CB8AC3E}">
        <p14:creationId xmlns:p14="http://schemas.microsoft.com/office/powerpoint/2010/main" val="1756614035"/>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F4A0F2-F737-06D1-9014-1281EE2E9021}"/>
              </a:ext>
            </a:extLst>
          </p:cNvPr>
          <p:cNvSpPr>
            <a:spLocks noGrp="1"/>
          </p:cNvSpPr>
          <p:nvPr>
            <p:ph type="title"/>
          </p:nvPr>
        </p:nvSpPr>
        <p:spPr>
          <a:xfrm>
            <a:off x="457200" y="44624"/>
            <a:ext cx="8229600" cy="1043608"/>
          </a:xfrm>
        </p:spPr>
        <p:txBody>
          <a:bodyPr/>
          <a:lstStyle/>
          <a:p>
            <a:r>
              <a:rPr lang="en-US"/>
              <a:t>FMEA</a:t>
            </a:r>
            <a:r>
              <a:rPr lang="he-IL"/>
              <a:t> לדוגמא של הפלאק</a:t>
            </a:r>
            <a:endParaRPr lang="LID4096"/>
          </a:p>
        </p:txBody>
      </p:sp>
      <p:graphicFrame>
        <p:nvGraphicFramePr>
          <p:cNvPr id="5" name="מציין מיקום תוכן 1">
            <a:extLst>
              <a:ext uri="{FF2B5EF4-FFF2-40B4-BE49-F238E27FC236}">
                <a16:creationId xmlns:a16="http://schemas.microsoft.com/office/drawing/2014/main" id="{B1089745-F96A-A318-BDB1-43D6CBFFFA1A}"/>
              </a:ext>
            </a:extLst>
          </p:cNvPr>
          <p:cNvGraphicFramePr/>
          <p:nvPr>
            <p:extLst>
              <p:ext uri="{D42A27DB-BD31-4B8C-83A1-F6EECF244321}">
                <p14:modId xmlns:p14="http://schemas.microsoft.com/office/powerpoint/2010/main" val="2802866843"/>
              </p:ext>
            </p:extLst>
          </p:nvPr>
        </p:nvGraphicFramePr>
        <p:xfrm>
          <a:off x="484994" y="980728"/>
          <a:ext cx="8263470" cy="5212080"/>
        </p:xfrm>
        <a:graphic>
          <a:graphicData uri="http://schemas.openxmlformats.org/drawingml/2006/table">
            <a:tbl>
              <a:tblPr rtl="1" firstRow="1" bandRow="1">
                <a:tableStyleId>{5C22544A-7EE6-4342-B048-85BDC9FD1C3A}</a:tableStyleId>
              </a:tblPr>
              <a:tblGrid>
                <a:gridCol w="1175657">
                  <a:extLst>
                    <a:ext uri="{9D8B030D-6E8A-4147-A177-3AD203B41FA5}">
                      <a16:colId xmlns:a16="http://schemas.microsoft.com/office/drawing/2014/main" val="20000"/>
                    </a:ext>
                  </a:extLst>
                </a:gridCol>
                <a:gridCol w="511395">
                  <a:extLst>
                    <a:ext uri="{9D8B030D-6E8A-4147-A177-3AD203B41FA5}">
                      <a16:colId xmlns:a16="http://schemas.microsoft.com/office/drawing/2014/main" val="20001"/>
                    </a:ext>
                  </a:extLst>
                </a:gridCol>
                <a:gridCol w="560470">
                  <a:extLst>
                    <a:ext uri="{9D8B030D-6E8A-4147-A177-3AD203B41FA5}">
                      <a16:colId xmlns:a16="http://schemas.microsoft.com/office/drawing/2014/main" val="20002"/>
                    </a:ext>
                  </a:extLst>
                </a:gridCol>
                <a:gridCol w="597642">
                  <a:extLst>
                    <a:ext uri="{9D8B030D-6E8A-4147-A177-3AD203B41FA5}">
                      <a16:colId xmlns:a16="http://schemas.microsoft.com/office/drawing/2014/main" val="20003"/>
                    </a:ext>
                  </a:extLst>
                </a:gridCol>
                <a:gridCol w="2050810">
                  <a:extLst>
                    <a:ext uri="{9D8B030D-6E8A-4147-A177-3AD203B41FA5}">
                      <a16:colId xmlns:a16="http://schemas.microsoft.com/office/drawing/2014/main" val="20004"/>
                    </a:ext>
                  </a:extLst>
                </a:gridCol>
                <a:gridCol w="2033392">
                  <a:extLst>
                    <a:ext uri="{9D8B030D-6E8A-4147-A177-3AD203B41FA5}">
                      <a16:colId xmlns:a16="http://schemas.microsoft.com/office/drawing/2014/main" val="20005"/>
                    </a:ext>
                  </a:extLst>
                </a:gridCol>
                <a:gridCol w="1334104">
                  <a:extLst>
                    <a:ext uri="{9D8B030D-6E8A-4147-A177-3AD203B41FA5}">
                      <a16:colId xmlns:a16="http://schemas.microsoft.com/office/drawing/2014/main" val="20006"/>
                    </a:ext>
                  </a:extLst>
                </a:gridCol>
              </a:tblGrid>
              <a:tr h="370840">
                <a:tc>
                  <a:txBody>
                    <a:bodyPr/>
                    <a:lstStyle/>
                    <a:p>
                      <a:pPr algn="ctr" rtl="0"/>
                      <a:r>
                        <a:rPr lang="en-US"/>
                        <a:t>RPN</a:t>
                      </a:r>
                      <a:endParaRPr lang="he-IL"/>
                    </a:p>
                  </a:txBody>
                  <a:tcPr/>
                </a:tc>
                <a:tc>
                  <a:txBody>
                    <a:bodyPr/>
                    <a:lstStyle/>
                    <a:p>
                      <a:pPr algn="ctr" rtl="0"/>
                      <a:r>
                        <a:rPr lang="en-US"/>
                        <a:t>D</a:t>
                      </a:r>
                      <a:endParaRPr lang="he-IL"/>
                    </a:p>
                  </a:txBody>
                  <a:tcPr/>
                </a:tc>
                <a:tc>
                  <a:txBody>
                    <a:bodyPr/>
                    <a:lstStyle/>
                    <a:p>
                      <a:pPr algn="ctr" rtl="0"/>
                      <a:r>
                        <a:rPr lang="en-US"/>
                        <a:t>S</a:t>
                      </a:r>
                      <a:endParaRPr lang="he-IL"/>
                    </a:p>
                  </a:txBody>
                  <a:tcPr/>
                </a:tc>
                <a:tc>
                  <a:txBody>
                    <a:bodyPr/>
                    <a:lstStyle/>
                    <a:p>
                      <a:pPr algn="ctr" rtl="0"/>
                      <a:r>
                        <a:rPr lang="en-US"/>
                        <a:t>O</a:t>
                      </a:r>
                      <a:endParaRPr lang="he-IL"/>
                    </a:p>
                  </a:txBody>
                  <a:tcPr/>
                </a:tc>
                <a:tc>
                  <a:txBody>
                    <a:bodyPr/>
                    <a:lstStyle/>
                    <a:p>
                      <a:pPr algn="l" rtl="0"/>
                      <a:r>
                        <a:rPr lang="en-US"/>
                        <a:t>Effect of Failure</a:t>
                      </a:r>
                      <a:endParaRPr lang="he-IL"/>
                    </a:p>
                  </a:txBody>
                  <a:tcPr/>
                </a:tc>
                <a:tc>
                  <a:txBody>
                    <a:bodyPr/>
                    <a:lstStyle/>
                    <a:p>
                      <a:pPr algn="l" rtl="0"/>
                      <a:r>
                        <a:rPr lang="en-US"/>
                        <a:t>Potential Failure Mode</a:t>
                      </a:r>
                      <a:endParaRPr lang="he-IL"/>
                    </a:p>
                  </a:txBody>
                  <a:tcPr/>
                </a:tc>
                <a:tc>
                  <a:txBody>
                    <a:bodyPr/>
                    <a:lstStyle/>
                    <a:p>
                      <a:pPr algn="l" rtl="0"/>
                      <a:r>
                        <a:rPr lang="en-US"/>
                        <a:t>Process Step</a:t>
                      </a:r>
                      <a:endParaRPr lang="he-IL"/>
                    </a:p>
                  </a:txBody>
                  <a:tcPr/>
                </a:tc>
                <a:extLst>
                  <a:ext uri="{0D108BD9-81ED-4DB2-BD59-A6C34878D82A}">
                    <a16:rowId xmlns:a16="http://schemas.microsoft.com/office/drawing/2014/main" val="10000"/>
                  </a:ext>
                </a:extLst>
              </a:tr>
              <a:tr h="370840">
                <a:tc>
                  <a:txBody>
                    <a:bodyPr/>
                    <a:lstStyle/>
                    <a:p>
                      <a:pPr algn="ctr" rtl="0"/>
                      <a:r>
                        <a:rPr lang="en-US"/>
                        <a:t>56</a:t>
                      </a:r>
                      <a:endParaRPr lang="he-IL"/>
                    </a:p>
                  </a:txBody>
                  <a:tcPr/>
                </a:tc>
                <a:tc>
                  <a:txBody>
                    <a:bodyPr/>
                    <a:lstStyle/>
                    <a:p>
                      <a:pPr algn="ctr" rtl="0"/>
                      <a:r>
                        <a:rPr lang="en-US"/>
                        <a:t>2</a:t>
                      </a:r>
                      <a:endParaRPr lang="he-IL"/>
                    </a:p>
                  </a:txBody>
                  <a:tcPr/>
                </a:tc>
                <a:tc>
                  <a:txBody>
                    <a:bodyPr/>
                    <a:lstStyle/>
                    <a:p>
                      <a:pPr algn="ctr" rtl="0"/>
                      <a:r>
                        <a:rPr lang="en-US"/>
                        <a:t>7</a:t>
                      </a:r>
                      <a:endParaRPr lang="he-IL"/>
                    </a:p>
                  </a:txBody>
                  <a:tcPr/>
                </a:tc>
                <a:tc>
                  <a:txBody>
                    <a:bodyPr/>
                    <a:lstStyle/>
                    <a:p>
                      <a:pPr algn="ctr" rtl="0"/>
                      <a:r>
                        <a:rPr lang="en-US"/>
                        <a:t>4</a:t>
                      </a:r>
                      <a:endParaRPr lang="he-IL"/>
                    </a:p>
                  </a:txBody>
                  <a:tcPr/>
                </a:tc>
                <a:tc>
                  <a:txBody>
                    <a:bodyPr/>
                    <a:lstStyle/>
                    <a:p>
                      <a:pPr algn="l" rtl="0"/>
                      <a:r>
                        <a:rPr lang="en-US"/>
                        <a:t>Incorrect</a:t>
                      </a:r>
                      <a:r>
                        <a:rPr lang="en-US" baseline="0"/>
                        <a:t> dose to patient</a:t>
                      </a:r>
                      <a:endParaRPr lang="he-IL"/>
                    </a:p>
                  </a:txBody>
                  <a:tcPr/>
                </a:tc>
                <a:tc>
                  <a:txBody>
                    <a:bodyPr/>
                    <a:lstStyle/>
                    <a:p>
                      <a:pPr algn="l" rtl="0"/>
                      <a:r>
                        <a:rPr lang="en-US"/>
                        <a:t>Wrong Date</a:t>
                      </a:r>
                      <a:endParaRPr lang="he-IL"/>
                    </a:p>
                  </a:txBody>
                  <a:tcPr/>
                </a:tc>
                <a:tc>
                  <a:txBody>
                    <a:bodyPr/>
                    <a:lstStyle/>
                    <a:p>
                      <a:pPr algn="l" rtl="0"/>
                      <a:r>
                        <a:rPr lang="en-US"/>
                        <a:t>Calculation</a:t>
                      </a:r>
                      <a:endParaRPr lang="he-IL"/>
                    </a:p>
                  </a:txBody>
                  <a:tcPr/>
                </a:tc>
                <a:extLst>
                  <a:ext uri="{0D108BD9-81ED-4DB2-BD59-A6C34878D82A}">
                    <a16:rowId xmlns:a16="http://schemas.microsoft.com/office/drawing/2014/main" val="10001"/>
                  </a:ext>
                </a:extLst>
              </a:tr>
              <a:tr h="370840">
                <a:tc>
                  <a:txBody>
                    <a:bodyPr/>
                    <a:lstStyle/>
                    <a:p>
                      <a:pPr algn="ctr" rtl="0"/>
                      <a:r>
                        <a:rPr lang="en-US"/>
                        <a:t>72</a:t>
                      </a:r>
                      <a:endParaRPr lang="he-IL"/>
                    </a:p>
                  </a:txBody>
                  <a:tcPr/>
                </a:tc>
                <a:tc>
                  <a:txBody>
                    <a:bodyPr/>
                    <a:lstStyle/>
                    <a:p>
                      <a:pPr algn="ctr" rtl="0"/>
                      <a:r>
                        <a:rPr lang="en-US"/>
                        <a:t>9</a:t>
                      </a:r>
                      <a:endParaRPr lang="he-IL"/>
                    </a:p>
                  </a:txBody>
                  <a:tcPr/>
                </a:tc>
                <a:tc>
                  <a:txBody>
                    <a:bodyPr/>
                    <a:lstStyle/>
                    <a:p>
                      <a:pPr algn="ctr" rtl="0"/>
                      <a:r>
                        <a:rPr lang="en-US"/>
                        <a:t>8</a:t>
                      </a:r>
                      <a:endParaRPr lang="he-IL"/>
                    </a:p>
                  </a:txBody>
                  <a:tcPr/>
                </a:tc>
                <a:tc>
                  <a:txBody>
                    <a:bodyPr/>
                    <a:lstStyle/>
                    <a:p>
                      <a:pPr algn="ctr" rtl="0"/>
                      <a:r>
                        <a:rPr lang="en-US"/>
                        <a:t>1</a:t>
                      </a:r>
                      <a:endParaRPr lang="he-IL"/>
                    </a:p>
                  </a:txBody>
                  <a:tcPr/>
                </a:tc>
                <a:tc>
                  <a:txBody>
                    <a:bodyPr/>
                    <a:lstStyle/>
                    <a:p>
                      <a:pPr algn="l" rtl="0"/>
                      <a:r>
                        <a:rPr lang="en-US"/>
                        <a:t>Risk of infection, loss of vision and other</a:t>
                      </a:r>
                      <a:r>
                        <a:rPr lang="en-US" baseline="0"/>
                        <a:t> complications</a:t>
                      </a:r>
                      <a:endParaRPr lang="he-IL"/>
                    </a:p>
                  </a:txBody>
                  <a:tcPr/>
                </a:tc>
                <a:tc>
                  <a:txBody>
                    <a:bodyPr/>
                    <a:lstStyle/>
                    <a:p>
                      <a:pPr algn="l" rtl="0"/>
                      <a:r>
                        <a:rPr lang="en-US"/>
                        <a:t>Non sterile plaque after</a:t>
                      </a:r>
                      <a:r>
                        <a:rPr lang="en-US" baseline="0"/>
                        <a:t> process of sterilization</a:t>
                      </a:r>
                      <a:endParaRPr lang="he-IL"/>
                    </a:p>
                  </a:txBody>
                  <a:tcPr/>
                </a:tc>
                <a:tc>
                  <a:txBody>
                    <a:bodyPr/>
                    <a:lstStyle/>
                    <a:p>
                      <a:pPr algn="l" rtl="0"/>
                      <a:r>
                        <a:rPr lang="en-US"/>
                        <a:t>Treatment Preparation</a:t>
                      </a:r>
                      <a:endParaRPr lang="he-IL"/>
                    </a:p>
                  </a:txBody>
                  <a:tcPr/>
                </a:tc>
                <a:extLst>
                  <a:ext uri="{0D108BD9-81ED-4DB2-BD59-A6C34878D82A}">
                    <a16:rowId xmlns:a16="http://schemas.microsoft.com/office/drawing/2014/main" val="10002"/>
                  </a:ext>
                </a:extLst>
              </a:tr>
              <a:tr h="370840">
                <a:tc>
                  <a:txBody>
                    <a:bodyPr/>
                    <a:lstStyle/>
                    <a:p>
                      <a:pPr algn="ctr" rtl="0"/>
                      <a:r>
                        <a:rPr lang="en-US"/>
                        <a:t>8</a:t>
                      </a:r>
                      <a:endParaRPr lang="he-IL"/>
                    </a:p>
                  </a:txBody>
                  <a:tcPr/>
                </a:tc>
                <a:tc>
                  <a:txBody>
                    <a:bodyPr/>
                    <a:lstStyle/>
                    <a:p>
                      <a:pPr algn="ctr" rtl="0"/>
                      <a:r>
                        <a:rPr lang="en-US"/>
                        <a:t>1</a:t>
                      </a:r>
                      <a:endParaRPr lang="he-IL"/>
                    </a:p>
                  </a:txBody>
                  <a:tcPr/>
                </a:tc>
                <a:tc>
                  <a:txBody>
                    <a:bodyPr/>
                    <a:lstStyle/>
                    <a:p>
                      <a:pPr algn="ctr" rtl="0"/>
                      <a:r>
                        <a:rPr lang="en-US"/>
                        <a:t>8</a:t>
                      </a:r>
                      <a:endParaRPr lang="he-IL"/>
                    </a:p>
                  </a:txBody>
                  <a:tcPr/>
                </a:tc>
                <a:tc>
                  <a:txBody>
                    <a:bodyPr/>
                    <a:lstStyle/>
                    <a:p>
                      <a:pPr algn="ctr" rtl="0"/>
                      <a:r>
                        <a:rPr lang="en-US"/>
                        <a:t>1</a:t>
                      </a:r>
                      <a:endParaRPr lang="he-IL"/>
                    </a:p>
                  </a:txBody>
                  <a:tcPr/>
                </a:tc>
                <a:tc>
                  <a:txBody>
                    <a:bodyPr/>
                    <a:lstStyle/>
                    <a:p>
                      <a:pPr marL="0" marR="0" indent="0" algn="l" defTabSz="914400" rtl="0" eaLnBrk="1" fontAlgn="auto" latinLnBrk="0" hangingPunct="1">
                        <a:lnSpc>
                          <a:spcPct val="100000"/>
                        </a:lnSpc>
                        <a:spcBef>
                          <a:spcPct val="0"/>
                        </a:spcBef>
                        <a:spcAft>
                          <a:spcPct val="0"/>
                        </a:spcAft>
                        <a:buClrTx/>
                        <a:buSzTx/>
                        <a:buFontTx/>
                        <a:buNone/>
                        <a:defRPr/>
                      </a:pPr>
                      <a:r>
                        <a:rPr lang="en-US"/>
                        <a:t>Risk of infection, loss of vision and other</a:t>
                      </a:r>
                      <a:r>
                        <a:rPr lang="en-US" baseline="0"/>
                        <a:t> complications</a:t>
                      </a:r>
                      <a:endParaRPr lang="he-IL"/>
                    </a:p>
                  </a:txBody>
                  <a:tcPr/>
                </a:tc>
                <a:tc>
                  <a:txBody>
                    <a:bodyPr/>
                    <a:lstStyle/>
                    <a:p>
                      <a:pPr marL="0" marR="0" indent="0" algn="l" defTabSz="914400" rtl="0" eaLnBrk="1" fontAlgn="auto" latinLnBrk="0" hangingPunct="1">
                        <a:lnSpc>
                          <a:spcPct val="100000"/>
                        </a:lnSpc>
                        <a:spcBef>
                          <a:spcPct val="0"/>
                        </a:spcBef>
                        <a:spcAft>
                          <a:spcPct val="0"/>
                        </a:spcAft>
                        <a:buClrTx/>
                        <a:buSzTx/>
                        <a:buFontTx/>
                        <a:buNone/>
                        <a:defRPr/>
                      </a:pPr>
                      <a:r>
                        <a:rPr lang="en-US"/>
                        <a:t>Non sterile plaque without</a:t>
                      </a:r>
                      <a:r>
                        <a:rPr lang="en-US" baseline="0"/>
                        <a:t> process of sterilization</a:t>
                      </a:r>
                      <a:endParaRPr lang="he-IL"/>
                    </a:p>
                  </a:txBody>
                  <a:tcPr/>
                </a:tc>
                <a:tc>
                  <a:txBody>
                    <a:bodyPr/>
                    <a:lstStyle/>
                    <a:p>
                      <a:pPr marL="0" marR="0" indent="0" algn="l" defTabSz="914400" rtl="0" eaLnBrk="1" fontAlgn="auto" latinLnBrk="0" hangingPunct="1">
                        <a:lnSpc>
                          <a:spcPct val="100000"/>
                        </a:lnSpc>
                        <a:spcBef>
                          <a:spcPct val="0"/>
                        </a:spcBef>
                        <a:spcAft>
                          <a:spcPct val="0"/>
                        </a:spcAft>
                        <a:buClrTx/>
                        <a:buSzTx/>
                        <a:buFontTx/>
                        <a:buNone/>
                        <a:defRPr/>
                      </a:pPr>
                      <a:r>
                        <a:rPr lang="en-US"/>
                        <a:t>Treatment Preparation</a:t>
                      </a:r>
                      <a:endParaRPr lang="he-IL"/>
                    </a:p>
                  </a:txBody>
                  <a:tcPr/>
                </a:tc>
                <a:extLst>
                  <a:ext uri="{0D108BD9-81ED-4DB2-BD59-A6C34878D82A}">
                    <a16:rowId xmlns:a16="http://schemas.microsoft.com/office/drawing/2014/main" val="10003"/>
                  </a:ext>
                </a:extLst>
              </a:tr>
              <a:tr h="370840">
                <a:tc>
                  <a:txBody>
                    <a:bodyPr/>
                    <a:lstStyle/>
                    <a:p>
                      <a:pPr algn="ctr" rtl="0"/>
                      <a:r>
                        <a:rPr lang="en-US"/>
                        <a:t>81</a:t>
                      </a:r>
                      <a:endParaRPr lang="he-IL"/>
                    </a:p>
                  </a:txBody>
                  <a:tcPr/>
                </a:tc>
                <a:tc>
                  <a:txBody>
                    <a:bodyPr/>
                    <a:lstStyle/>
                    <a:p>
                      <a:pPr algn="ctr" rtl="0"/>
                      <a:r>
                        <a:rPr lang="en-US"/>
                        <a:t>3</a:t>
                      </a:r>
                      <a:endParaRPr lang="he-IL"/>
                    </a:p>
                  </a:txBody>
                  <a:tcPr/>
                </a:tc>
                <a:tc>
                  <a:txBody>
                    <a:bodyPr/>
                    <a:lstStyle/>
                    <a:p>
                      <a:pPr algn="ctr" rtl="0"/>
                      <a:r>
                        <a:rPr lang="en-US"/>
                        <a:t>9</a:t>
                      </a:r>
                      <a:endParaRPr lang="he-IL"/>
                    </a:p>
                  </a:txBody>
                  <a:tcPr/>
                </a:tc>
                <a:tc>
                  <a:txBody>
                    <a:bodyPr/>
                    <a:lstStyle/>
                    <a:p>
                      <a:pPr algn="ctr" rtl="0"/>
                      <a:r>
                        <a:rPr lang="en-US"/>
                        <a:t>3</a:t>
                      </a:r>
                      <a:endParaRPr lang="he-IL"/>
                    </a:p>
                  </a:txBody>
                  <a:tcPr/>
                </a:tc>
                <a:tc>
                  <a:txBody>
                    <a:bodyPr/>
                    <a:lstStyle/>
                    <a:p>
                      <a:pPr algn="l" rtl="0"/>
                      <a:r>
                        <a:rPr lang="en-US"/>
                        <a:t>Ineffective treatment and damage to healthy</a:t>
                      </a:r>
                      <a:r>
                        <a:rPr lang="en-US" baseline="0"/>
                        <a:t> tissue</a:t>
                      </a:r>
                      <a:endParaRPr lang="he-IL"/>
                    </a:p>
                  </a:txBody>
                  <a:tcPr/>
                </a:tc>
                <a:tc>
                  <a:txBody>
                    <a:bodyPr/>
                    <a:lstStyle/>
                    <a:p>
                      <a:pPr algn="l" rtl="0"/>
                      <a:r>
                        <a:rPr lang="en-US"/>
                        <a:t>Plaque was inserted to wrong</a:t>
                      </a:r>
                      <a:r>
                        <a:rPr lang="en-US" baseline="0"/>
                        <a:t> position</a:t>
                      </a:r>
                      <a:endParaRPr lang="he-IL"/>
                    </a:p>
                  </a:txBody>
                  <a:tcPr/>
                </a:tc>
                <a:tc>
                  <a:txBody>
                    <a:bodyPr/>
                    <a:lstStyle/>
                    <a:p>
                      <a:pPr algn="l" rtl="0"/>
                      <a:r>
                        <a:rPr lang="en-US"/>
                        <a:t>During Treatment</a:t>
                      </a:r>
                      <a:endParaRPr lang="he-IL"/>
                    </a:p>
                  </a:txBody>
                  <a:tcPr/>
                </a:tc>
                <a:extLst>
                  <a:ext uri="{0D108BD9-81ED-4DB2-BD59-A6C34878D82A}">
                    <a16:rowId xmlns:a16="http://schemas.microsoft.com/office/drawing/2014/main" val="10004"/>
                  </a:ext>
                </a:extLst>
              </a:tr>
              <a:tr h="370840">
                <a:tc>
                  <a:txBody>
                    <a:bodyPr/>
                    <a:lstStyle/>
                    <a:p>
                      <a:pPr algn="ctr" rtl="0"/>
                      <a:r>
                        <a:rPr lang="en-US"/>
                        <a:t>252</a:t>
                      </a:r>
                      <a:endParaRPr lang="he-IL"/>
                    </a:p>
                  </a:txBody>
                  <a:tcPr/>
                </a:tc>
                <a:tc>
                  <a:txBody>
                    <a:bodyPr/>
                    <a:lstStyle/>
                    <a:p>
                      <a:pPr algn="ctr" rtl="0"/>
                      <a:r>
                        <a:rPr lang="en-US"/>
                        <a:t>7</a:t>
                      </a:r>
                      <a:endParaRPr lang="he-IL"/>
                    </a:p>
                  </a:txBody>
                  <a:tcPr/>
                </a:tc>
                <a:tc>
                  <a:txBody>
                    <a:bodyPr/>
                    <a:lstStyle/>
                    <a:p>
                      <a:pPr algn="ctr" rtl="0"/>
                      <a:r>
                        <a:rPr lang="en-US"/>
                        <a:t>9</a:t>
                      </a:r>
                      <a:endParaRPr lang="he-IL"/>
                    </a:p>
                  </a:txBody>
                  <a:tcPr/>
                </a:tc>
                <a:tc>
                  <a:txBody>
                    <a:bodyPr/>
                    <a:lstStyle/>
                    <a:p>
                      <a:pPr algn="ctr" rtl="0"/>
                      <a:r>
                        <a:rPr lang="en-US"/>
                        <a:t>4</a:t>
                      </a:r>
                      <a:endParaRPr lang="he-IL"/>
                    </a:p>
                  </a:txBody>
                  <a:tcPr/>
                </a:tc>
                <a:tc>
                  <a:txBody>
                    <a:bodyPr/>
                    <a:lstStyle/>
                    <a:p>
                      <a:pPr marL="0" marR="0" indent="0" algn="l" defTabSz="914400" rtl="0" eaLnBrk="1" fontAlgn="auto" latinLnBrk="0" hangingPunct="1">
                        <a:lnSpc>
                          <a:spcPct val="100000"/>
                        </a:lnSpc>
                        <a:spcBef>
                          <a:spcPct val="0"/>
                        </a:spcBef>
                        <a:spcAft>
                          <a:spcPct val="0"/>
                        </a:spcAft>
                        <a:buClrTx/>
                        <a:buSzTx/>
                        <a:buFontTx/>
                        <a:buNone/>
                        <a:defRPr/>
                      </a:pPr>
                      <a:r>
                        <a:rPr lang="en-US"/>
                        <a:t>Risk of infection, loss of vision and other</a:t>
                      </a:r>
                      <a:r>
                        <a:rPr lang="en-US" baseline="0"/>
                        <a:t> complications</a:t>
                      </a:r>
                      <a:endParaRPr lang="he-IL"/>
                    </a:p>
                  </a:txBody>
                  <a:tcPr/>
                </a:tc>
                <a:tc>
                  <a:txBody>
                    <a:bodyPr/>
                    <a:lstStyle/>
                    <a:p>
                      <a:pPr algn="l" rtl="0"/>
                      <a:r>
                        <a:rPr lang="en-US"/>
                        <a:t>Unrelated  infection during</a:t>
                      </a:r>
                      <a:r>
                        <a:rPr lang="en-US" baseline="0"/>
                        <a:t> operation</a:t>
                      </a:r>
                      <a:endParaRPr lang="he-IL"/>
                    </a:p>
                  </a:txBody>
                  <a:tcPr/>
                </a:tc>
                <a:tc>
                  <a:txBody>
                    <a:bodyPr/>
                    <a:lstStyle/>
                    <a:p>
                      <a:pPr marL="0" marR="0" indent="0" algn="l" defTabSz="914400" rtl="0" eaLnBrk="1" fontAlgn="auto" latinLnBrk="0" hangingPunct="1">
                        <a:lnSpc>
                          <a:spcPct val="100000"/>
                        </a:lnSpc>
                        <a:spcBef>
                          <a:spcPct val="0"/>
                        </a:spcBef>
                        <a:spcAft>
                          <a:spcPct val="0"/>
                        </a:spcAft>
                        <a:buClrTx/>
                        <a:buSzTx/>
                        <a:buFontTx/>
                        <a:buNone/>
                        <a:defRPr/>
                      </a:pPr>
                      <a:r>
                        <a:rPr lang="en-US"/>
                        <a:t>During Treatment</a:t>
                      </a:r>
                      <a:endParaRPr lang="he-IL"/>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103648116"/>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סיכום</a:t>
            </a:r>
          </a:p>
        </p:txBody>
      </p:sp>
      <p:sp>
        <p:nvSpPr>
          <p:cNvPr id="3" name="מציין מיקום תוכן 2"/>
          <p:cNvSpPr>
            <a:spLocks noGrp="1"/>
          </p:cNvSpPr>
          <p:nvPr>
            <p:ph idx="1"/>
          </p:nvPr>
        </p:nvSpPr>
        <p:spPr>
          <a:xfrm>
            <a:off x="457200" y="1412776"/>
            <a:ext cx="8229600" cy="5112568"/>
          </a:xfrm>
        </p:spPr>
        <p:txBody>
          <a:bodyPr>
            <a:normAutofit fontScale="92500" lnSpcReduction="20000"/>
          </a:bodyPr>
          <a:lstStyle/>
          <a:p>
            <a:r>
              <a:rPr lang="he-IL"/>
              <a:t>הטיפול הקרינתי יכול להיות מסוכן עד מאד. לכן קיים צורך מתמיד ללמוד ולשפר את איכות השירות באמצעות </a:t>
            </a:r>
            <a:r>
              <a:rPr lang="he-IL" b="1">
                <a:effectLst>
                  <a:outerShdw blurRad="38100" dist="38100" dir="2700000" algn="tl">
                    <a:srgbClr val="000000">
                      <a:alpha val="43137"/>
                    </a:srgbClr>
                  </a:outerShdw>
                </a:effectLst>
              </a:rPr>
              <a:t>ניהול איכות </a:t>
            </a:r>
            <a:r>
              <a:rPr lang="en-US" b="1">
                <a:effectLst>
                  <a:outerShdw blurRad="38100" dist="38100" dir="2700000" algn="tl">
                    <a:srgbClr val="000000">
                      <a:alpha val="43137"/>
                    </a:srgbClr>
                  </a:outerShdw>
                </a:effectLst>
              </a:rPr>
              <a:t>(QM)</a:t>
            </a:r>
            <a:r>
              <a:rPr lang="he-IL"/>
              <a:t>.</a:t>
            </a:r>
          </a:p>
          <a:p>
            <a:r>
              <a:rPr lang="he-IL"/>
              <a:t>יש לבצע גם ניהול סיכונים ריאקטיבי וגם ניהול סיכונים פרואקטיבי.</a:t>
            </a:r>
          </a:p>
          <a:p>
            <a:r>
              <a:rPr lang="he-IL"/>
              <a:t>יש ליצר סביבת עבודה בטוחה ולהכיל תרבות צודקת (</a:t>
            </a:r>
            <a:r>
              <a:rPr lang="en-US"/>
              <a:t>Just Culture</a:t>
            </a:r>
            <a:r>
              <a:rPr lang="he-IL"/>
              <a:t>).</a:t>
            </a:r>
          </a:p>
          <a:p>
            <a:r>
              <a:rPr lang="he-IL"/>
              <a:t>יש לחזק את הידע והמודעות של הצוות לנושאי בטיחות ע"י הדרכות והשתלמויות.</a:t>
            </a:r>
          </a:p>
          <a:p>
            <a:r>
              <a:rPr lang="he-IL"/>
              <a:t>יש לכתוב נהלי בטיחות ונהלי עבודה וכן יש לייצר משוב חוזר בין הצוות לבין הדרג הניהולי ע"י הפצה של פרוטוקולים של הישיבות חזרה אל הצוות המטפל.</a:t>
            </a:r>
          </a:p>
        </p:txBody>
      </p:sp>
    </p:spTree>
    <p:extLst>
      <p:ext uri="{BB962C8B-B14F-4D97-AF65-F5344CB8AC3E}">
        <p14:creationId xmlns:p14="http://schemas.microsoft.com/office/powerpoint/2010/main" val="44595342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dur="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p:stCondLst>
                              <p:cond delay="0"/>
                            </p:stCondLst>
                            <p:childTnLst>
                              <p:par>
                                <p:cTn id="9" presetID="1" presetClass="entr" presetSubtype="0" dur="1"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p:stCondLst>
                              <p:cond delay="0"/>
                            </p:stCondLst>
                            <p:childTnLst>
                              <p:par>
                                <p:cTn id="13" presetID="1" presetClass="entr" presetSubtype="0" dur="1"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p:stCondLst>
                              <p:cond delay="0"/>
                            </p:stCondLst>
                            <p:childTnLst>
                              <p:par>
                                <p:cTn id="17" presetID="1" presetClass="entr" presetSubtype="0" dur="1"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p:stCondLst>
                              <p:cond delay="0"/>
                            </p:stCondLst>
                            <p:childTnLst>
                              <p:par>
                                <p:cTn id="21" presetID="1" presetClass="entr" presetSubtype="0" dur="1"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כותרת 4"/>
          <p:cNvSpPr>
            <a:spLocks noGrp="1"/>
          </p:cNvSpPr>
          <p:nvPr>
            <p:ph type="ctrTitle"/>
          </p:nvPr>
        </p:nvSpPr>
        <p:spPr/>
        <p:txBody>
          <a:bodyPr rtlCol="1">
            <a:normAutofit/>
          </a:bodyPr>
          <a:lstStyle/>
          <a:p>
            <a:pPr fontAlgn="auto">
              <a:spcAft>
                <a:spcPct val="0"/>
              </a:spcAft>
              <a:defRPr/>
            </a:pPr>
            <a:r>
              <a:rPr lang="he-IL" sz="7200" b="1" i="1">
                <a:solidFill>
                  <a:schemeClr val="accent4">
                    <a:lumMod val="75000"/>
                  </a:schemeClr>
                </a:solidFill>
                <a:effectLst>
                  <a:outerShdw blurRad="38100" dist="38100" dir="2700000" algn="tl">
                    <a:srgbClr val="000000">
                      <a:alpha val="43137"/>
                    </a:srgbClr>
                  </a:outerShdw>
                </a:effectLst>
              </a:rPr>
              <a:t>תודה</a:t>
            </a:r>
          </a:p>
        </p:txBody>
      </p:sp>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6.2.9200.0"/>
  <p:tag name="AS_RELEASE_DATE" val="2022.10.14"/>
  <p:tag name="AS_TITLE" val="Aspose.Slides for .NET 4.0"/>
  <p:tag name="AS_VERSION" val="22.10"/>
</p:tagLst>
</file>

<file path=ppt/theme/theme1.xml><?xml version="1.0" encoding="utf-8"?>
<a:theme xmlns:a="http://schemas.openxmlformats.org/drawingml/2006/main" name="1_ערכת נושא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Calibri"/>
        <a:cs typeface="Times New Roman"/>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Calibri"/>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ערכת נושא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Calibri"/>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Calibri"/>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TotalTime>
  <Words>2669</Words>
  <Application>Microsoft Office PowerPoint</Application>
  <PresentationFormat>‫הצגה על המסך (4:3)</PresentationFormat>
  <Paragraphs>262</Paragraphs>
  <Slides>38</Slides>
  <Notes>1</Notes>
  <HiddenSlides>0</HiddenSlides>
  <MMClips>0</MMClips>
  <ScaleCrop>false</ScaleCrop>
  <HeadingPairs>
    <vt:vector size="6" baseType="variant">
      <vt:variant>
        <vt:lpstr>גופנים בשימוש</vt:lpstr>
      </vt:variant>
      <vt:variant>
        <vt:i4>7</vt:i4>
      </vt:variant>
      <vt:variant>
        <vt:lpstr>ערכת נושא</vt:lpstr>
      </vt:variant>
      <vt:variant>
        <vt:i4>1</vt:i4>
      </vt:variant>
      <vt:variant>
        <vt:lpstr>כותרות שקופיות</vt:lpstr>
      </vt:variant>
      <vt:variant>
        <vt:i4>38</vt:i4>
      </vt:variant>
    </vt:vector>
  </HeadingPairs>
  <TitlesOfParts>
    <vt:vector size="46" baseType="lpstr">
      <vt:lpstr>Arial</vt:lpstr>
      <vt:lpstr>Calibri</vt:lpstr>
      <vt:lpstr>Cambria Math</vt:lpstr>
      <vt:lpstr>Open Sans</vt:lpstr>
      <vt:lpstr>Roboto</vt:lpstr>
      <vt:lpstr>Symbol</vt:lpstr>
      <vt:lpstr>Times New Roman</vt:lpstr>
      <vt:lpstr>1_ערכת נושא Office</vt:lpstr>
      <vt:lpstr>הגנת המטופל ברדיותרפיה – ניהול סיכונים </vt:lpstr>
      <vt:lpstr>מינוחים - ניהול סיכונים</vt:lpstr>
      <vt:lpstr>סביבת העבודה</vt:lpstr>
      <vt:lpstr>מצגת של PowerPoint‏</vt:lpstr>
      <vt:lpstr>מצגת של PowerPoint‏</vt:lpstr>
      <vt:lpstr>סכנות בטיפול קרינתי - תאונות ברדיותרפיה</vt:lpstr>
      <vt:lpstr>סכנות בטיפול קרינתי - תאונות ברדיותרפיה מקרה 1</vt:lpstr>
      <vt:lpstr>סכנות בטיפול קרינתי תאונות ברדיותרפיה - מקרה 1</vt:lpstr>
      <vt:lpstr>סכנות בטיפול קרינתי תאונות ברדיותרפיה - מקרה 1</vt:lpstr>
      <vt:lpstr>סכנות בטיפול קרינתי תאונות ברדיותרפיה - מקרה 2</vt:lpstr>
      <vt:lpstr>סכנות בטיפול קרינתי תאונות ברדיותרפיה - מקרה 2</vt:lpstr>
      <vt:lpstr>סכנות בטיפול קרינתי תאונות ברדיותרפיה - מקרה 2</vt:lpstr>
      <vt:lpstr>סכנות בטיפול קרינתי תאונות ברדיותרפיה - מקרה 3</vt:lpstr>
      <vt:lpstr>סכנות בטיפול קרינתי תאונות ברדיותרפיה - מקרה 4</vt:lpstr>
      <vt:lpstr>סכנות בטיפול קרינתי תאונות ברדיותרפיה - מקרה 4</vt:lpstr>
      <vt:lpstr>סכנות בטיפול קרינתי תאונות ברדיותרפיה - מקרה 4</vt:lpstr>
      <vt:lpstr>סכנות בטיפול קרינתי תאונות ברדיותרפיה - מקרה 4</vt:lpstr>
      <vt:lpstr>סכנות בטיפול קרינתי תאונות ברדיותרפיה - מקרה 4</vt:lpstr>
      <vt:lpstr>סכנות בטיפול קרינתי תאונות ברדיותרפיה - סיכום</vt:lpstr>
      <vt:lpstr>הגנת המטופל מקרינה מייננת בחשיפה רפואית.</vt:lpstr>
      <vt:lpstr>הגברת המודעות </vt:lpstr>
      <vt:lpstr>תשתית ארגונית</vt:lpstr>
      <vt:lpstr>גישות לניהול סיכונים ריאקטיבי</vt:lpstr>
      <vt:lpstr>דוגמא ל-Root Cause Analysis (RCA)</vt:lpstr>
      <vt:lpstr>דוגמא ל-Root Cause Analysis (RCA)</vt:lpstr>
      <vt:lpstr>מהי מערכת למידהIncident Learning System (ILS)</vt:lpstr>
      <vt:lpstr>מעגל הלמידה</vt:lpstr>
      <vt:lpstr>מערכות למידה; מקומית, לאומית או בינלאומית</vt:lpstr>
      <vt:lpstr>ניהול סיכונים ראקטיבי - מערכת למידה מקומית של מרכז רפואי רבין</vt:lpstr>
      <vt:lpstr>ניהול סיכונים ראקטיבי - מערכת למידה מקומית של מרכז רפואי רבין</vt:lpstr>
      <vt:lpstr>תוצרים של מערכת הלמידה</vt:lpstr>
      <vt:lpstr>תוצרים של מערכת הלמידה</vt:lpstr>
      <vt:lpstr>תוצרים של מערכת הלמידה</vt:lpstr>
      <vt:lpstr>גישות לניהול סיכונים פרואקטיבי</vt:lpstr>
      <vt:lpstr>Failure Mode and Effect Analysis (FMEA)</vt:lpstr>
      <vt:lpstr>FMEA לדוגמא של הפלאק</vt:lpstr>
      <vt:lpstr>סיכום</vt:lpstr>
      <vt:lpstr>תודה</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הגנת המטופל ברדיותרפיה – ניהול סיכונים </dc:title>
  <cp:lastModifiedBy>רן בן חור</cp:lastModifiedBy>
  <cp:revision>3</cp:revision>
  <cp:lastPrinted>2017-07-18T12:54:31Z</cp:lastPrinted>
  <dcterms:created xsi:type="dcterms:W3CDTF">2013-09-11T08:50:57Z</dcterms:created>
  <dcterms:modified xsi:type="dcterms:W3CDTF">2023-06-26T09:06:00Z</dcterms:modified>
</cp:coreProperties>
</file>