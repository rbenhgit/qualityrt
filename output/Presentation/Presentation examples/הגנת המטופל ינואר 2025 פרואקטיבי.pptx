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5" r:id="rId1"/>
  </p:sldMasterIdLst>
  <p:notesMasterIdLst>
    <p:notesMasterId r:id="rId25"/>
  </p:notesMasterIdLst>
  <p:sldIdLst>
    <p:sldId id="256" r:id="rId2"/>
    <p:sldId id="322" r:id="rId3"/>
    <p:sldId id="356" r:id="rId4"/>
    <p:sldId id="345" r:id="rId5"/>
    <p:sldId id="337" r:id="rId6"/>
    <p:sldId id="338" r:id="rId7"/>
    <p:sldId id="339" r:id="rId8"/>
    <p:sldId id="343" r:id="rId9"/>
    <p:sldId id="349" r:id="rId10"/>
    <p:sldId id="341" r:id="rId11"/>
    <p:sldId id="334" r:id="rId12"/>
    <p:sldId id="335" r:id="rId13"/>
    <p:sldId id="352" r:id="rId14"/>
    <p:sldId id="353" r:id="rId15"/>
    <p:sldId id="354" r:id="rId16"/>
    <p:sldId id="344" r:id="rId17"/>
    <p:sldId id="350" r:id="rId18"/>
    <p:sldId id="355" r:id="rId19"/>
    <p:sldId id="357" r:id="rId20"/>
    <p:sldId id="358" r:id="rId21"/>
    <p:sldId id="301" r:id="rId22"/>
    <p:sldId id="287" r:id="rId23"/>
    <p:sldId id="351" r:id="rId24"/>
  </p:sldIdLst>
  <p:sldSz cx="9144000" cy="6858000" type="screen4x3"/>
  <p:notesSz cx="6797675" cy="9928225"/>
  <p:custDataLst>
    <p:tags r:id="rId26"/>
  </p:custDataLst>
  <p:defaultTextStyle>
    <a:defPPr>
      <a:defRPr lang="he-IL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{1BD7E111-0CB8-44D6-8891-C1BB2F81B7CC}">
      <p1710:readonlyRecommended xmlns:p1710="http://schemas.microsoft.com/office/powerpoint/2017/10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6247" autoAdjust="0"/>
  </p:normalViewPr>
  <p:slideViewPr>
    <p:cSldViewPr>
      <p:cViewPr varScale="1">
        <p:scale>
          <a:sx n="111" d="100"/>
          <a:sy n="111" d="100"/>
        </p:scale>
        <p:origin x="1092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52016" y="0"/>
            <a:ext cx="2945659" cy="496411"/>
          </a:xfrm>
          <a:prstGeom prst="rect">
            <a:avLst/>
          </a:prstGeom>
        </p:spPr>
        <p:txBody>
          <a:bodyPr vert="horz" lIns="96661" tIns="48331" rIns="96661" bIns="48331" rtlCol="1"/>
          <a:lstStyle>
            <a:lvl1pPr algn="r" fontAlgn="auto">
              <a:spcBef>
                <a:spcPct val="0"/>
              </a:spcBef>
              <a:spcAft>
                <a:spcPct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74" y="0"/>
            <a:ext cx="2945659" cy="496411"/>
          </a:xfrm>
          <a:prstGeom prst="rect">
            <a:avLst/>
          </a:prstGeom>
        </p:spPr>
        <p:txBody>
          <a:bodyPr vert="horz" lIns="96661" tIns="48331" rIns="96661" bIns="48331" rtlCol="1"/>
          <a:lstStyle>
            <a:lvl1pPr algn="l" fontAlgn="auto">
              <a:spcBef>
                <a:spcPct val="0"/>
              </a:spcBef>
              <a:spcAft>
                <a:spcPct val="0"/>
              </a:spcAft>
              <a:defRPr sz="13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C898F98-5BF9-4A32-BEEF-0C5D77444ADC}" type="datetimeFigureOut">
              <a:rPr lang="he-IL"/>
              <a:pPr>
                <a:defRPr/>
              </a:pPr>
              <a:t>ח'/טבת/תשפ"ה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6661" tIns="48331" rIns="96661" bIns="48331" rtlCol="1"/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52016" y="9430091"/>
            <a:ext cx="2945659" cy="496411"/>
          </a:xfrm>
          <a:prstGeom prst="rect">
            <a:avLst/>
          </a:prstGeom>
        </p:spPr>
        <p:txBody>
          <a:bodyPr vert="horz" lIns="96661" tIns="48331" rIns="96661" bIns="48331" rtlCol="1" anchor="b"/>
          <a:lstStyle>
            <a:lvl1pPr algn="r" fontAlgn="auto">
              <a:spcBef>
                <a:spcPct val="0"/>
              </a:spcBef>
              <a:spcAft>
                <a:spcPct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74" y="9430091"/>
            <a:ext cx="2945659" cy="496411"/>
          </a:xfrm>
          <a:prstGeom prst="rect">
            <a:avLst/>
          </a:prstGeom>
        </p:spPr>
        <p:txBody>
          <a:bodyPr vert="horz" lIns="96661" tIns="48331" rIns="96661" bIns="48331" rtlCol="1" anchor="b"/>
          <a:lstStyle>
            <a:lvl1pPr algn="l" fontAlgn="auto">
              <a:spcBef>
                <a:spcPct val="0"/>
              </a:spcBef>
              <a:spcAft>
                <a:spcPct val="0"/>
              </a:spcAft>
              <a:defRPr sz="13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DBD53D08-253B-4431-A8E7-910043DF1C8F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37531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 smtClean="0"/>
              <a:t>איך הייתם משפרים את התהליך הזה? ניתן</a:t>
            </a:r>
            <a:r>
              <a:rPr lang="he-IL" baseline="0" dirty="0" smtClean="0"/>
              <a:t> לאחד את העברת המידע לגורם אדמיניסטרטיבי יחיד שיעביר את המידע למי שצריך או לייצר תהליך אוטומטי שמעביר את המטופל בין תחנות קבועות מראש (</a:t>
            </a:r>
            <a:r>
              <a:rPr lang="en-US" baseline="0" dirty="0" smtClean="0"/>
              <a:t>Care Path</a:t>
            </a:r>
            <a:r>
              <a:rPr lang="he-IL" baseline="0" dirty="0" smtClean="0"/>
              <a:t> מסלול מובנה)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53D08-253B-4431-A8E7-910043DF1C8F}" type="slidenum">
              <a:rPr lang="he-IL" smtClean="0"/>
              <a:pPr>
                <a:defRPr/>
              </a:pPr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6224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53D08-253B-4431-A8E7-910043DF1C8F}" type="slidenum">
              <a:rPr lang="he-IL" smtClean="0"/>
              <a:pPr>
                <a:defRPr/>
              </a:pPr>
              <a:t>19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9889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53D08-253B-4431-A8E7-910043DF1C8F}" type="slidenum">
              <a:rPr lang="he-IL" smtClean="0"/>
              <a:pPr>
                <a:defRPr/>
              </a:pPr>
              <a:t>20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4585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7921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25972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23056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63210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32156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14745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30078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95477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579193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39115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73461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ct val="0"/>
              </a:spcBef>
              <a:spcAft>
                <a:spcPct val="0"/>
              </a:spcAft>
            </a:pPr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  <a:latin typeface="Calibri"/>
                <a:cs typeface="Arial"/>
              </a:rPr>
              <a:pPr fontAlgn="auto">
                <a:spcBef>
                  <a:spcPct val="0"/>
                </a:spcBef>
                <a:spcAft>
                  <a:spcPct val="0"/>
                </a:spcAft>
              </a:pPr>
              <a:t>ח'/טבת/תשפ"ה</a:t>
            </a:fld>
            <a:endParaRPr lang="he-IL">
              <a:solidFill>
                <a:prstClr val="black">
                  <a:tint val="75000"/>
                </a:prstClr>
              </a:solidFill>
              <a:latin typeface="Calibri"/>
              <a:cs typeface="Arial"/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ct val="0"/>
              </a:spcBef>
              <a:spcAft>
                <a:spcPct val="0"/>
              </a:spcAft>
            </a:pPr>
            <a:endParaRPr lang="he-IL">
              <a:solidFill>
                <a:prstClr val="black">
                  <a:tint val="75000"/>
                </a:prstClr>
              </a:solidFill>
              <a:latin typeface="Calibri"/>
              <a:cs typeface="Arial"/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ct val="0"/>
              </a:spcBef>
              <a:spcAft>
                <a:spcPct val="0"/>
              </a:spcAft>
            </a:pPr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  <a:latin typeface="Calibri"/>
                <a:cs typeface="Arial"/>
              </a:rPr>
              <a:pPr fontAlgn="auto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he-IL">
              <a:solidFill>
                <a:prstClr val="black">
                  <a:tint val="75000"/>
                </a:prstClr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036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ransition/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כותרת 1"/>
          <p:cNvSpPr>
            <a:spLocks noGrp="1"/>
          </p:cNvSpPr>
          <p:nvPr>
            <p:ph type="ctrTitle"/>
          </p:nvPr>
        </p:nvSpPr>
        <p:spPr>
          <a:xfrm>
            <a:off x="685800" y="1433513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he-IL" altLang="en-US" dirty="0"/>
              <a:t>הגנת המטופל </a:t>
            </a:r>
            <a:r>
              <a:rPr lang="he-IL" altLang="en-US" dirty="0" smtClean="0"/>
              <a:t>ברדיותרפיה </a:t>
            </a:r>
            <a:br>
              <a:rPr lang="he-IL" altLang="en-US" dirty="0" smtClean="0"/>
            </a:br>
            <a:r>
              <a:rPr lang="he-IL" altLang="en-US" dirty="0" smtClean="0"/>
              <a:t>ניהול סיכונים פרואקטיבי</a:t>
            </a:r>
            <a:r>
              <a:rPr lang="he-IL" altLang="en-US" dirty="0"/>
              <a:t/>
            </a:r>
            <a:br>
              <a:rPr lang="he-IL" altLang="en-US" dirty="0"/>
            </a:br>
            <a:endParaRPr lang="he-IL" altLang="en-US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189288"/>
            <a:ext cx="6400800" cy="1752600"/>
          </a:xfrm>
        </p:spPr>
        <p:txBody>
          <a:bodyPr rtlCol="1">
            <a:normAutofit/>
          </a:bodyPr>
          <a:lstStyle/>
          <a:p>
            <a:pPr fontAlgn="auto">
              <a:spcAft>
                <a:spcPct val="0"/>
              </a:spcAft>
              <a:buFont typeface="Arial" pitchFamily="34" charset="0"/>
              <a:buNone/>
              <a:defRPr/>
            </a:pPr>
            <a:r>
              <a:rPr lang="he-IL" dirty="0"/>
              <a:t>רן בן חור</a:t>
            </a:r>
          </a:p>
          <a:p>
            <a:pPr fontAlgn="auto">
              <a:spcAft>
                <a:spcPct val="0"/>
              </a:spcAft>
              <a:buFont typeface="Arial" pitchFamily="34" charset="0"/>
              <a:buNone/>
              <a:defRPr/>
            </a:pPr>
            <a:r>
              <a:rPr lang="he-IL" dirty="0" smtClean="0"/>
              <a:t>ינואר 2025</a:t>
            </a:r>
            <a:endParaRPr lang="he-IL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>
                <a:latin typeface="Arial" pitchFamily="34" charset="0"/>
                <a:cs typeface="Arial" pitchFamily="34" charset="0"/>
              </a:rPr>
              <a:t>תשתית ארגונית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46856" y="1556792"/>
            <a:ext cx="8589640" cy="4525963"/>
          </a:xfrm>
          <a:noFill/>
          <a:ln>
            <a:noFill/>
          </a:ln>
        </p:spPr>
        <p:txBody>
          <a:bodyPr>
            <a:normAutofit fontScale="55000" lnSpcReduction="20000"/>
          </a:bodyPr>
          <a:lstStyle/>
          <a:p>
            <a:r>
              <a:rPr lang="he-IL" b="1" dirty="0">
                <a:latin typeface="Arial" pitchFamily="34" charset="0"/>
              </a:rPr>
              <a:t>ניהול האיכות (</a:t>
            </a:r>
            <a:r>
              <a:rPr lang="en-US" b="1" dirty="0">
                <a:latin typeface="Arial" pitchFamily="34" charset="0"/>
              </a:rPr>
              <a:t>Quality Management - QM</a:t>
            </a:r>
            <a:r>
              <a:rPr lang="he-IL" b="1" dirty="0">
                <a:latin typeface="Arial" pitchFamily="34" charset="0"/>
              </a:rPr>
              <a:t>)</a:t>
            </a:r>
            <a:endParaRPr lang="he-IL" sz="3000" b="1" dirty="0">
              <a:latin typeface="Arial" pitchFamily="34" charset="0"/>
            </a:endParaRPr>
          </a:p>
          <a:p>
            <a:pPr lvl="1"/>
            <a:r>
              <a:rPr lang="he-IL" sz="2600" dirty="0">
                <a:latin typeface="Arial" pitchFamily="34" charset="0"/>
              </a:rPr>
              <a:t>ניהול סיכונים </a:t>
            </a:r>
            <a:r>
              <a:rPr lang="he-IL" sz="2600" dirty="0" err="1">
                <a:latin typeface="Arial" pitchFamily="34" charset="0"/>
              </a:rPr>
              <a:t>ריאקטיבי</a:t>
            </a:r>
            <a:endParaRPr lang="he-IL" sz="2600" dirty="0">
              <a:latin typeface="Arial" pitchFamily="34" charset="0"/>
            </a:endParaRPr>
          </a:p>
          <a:p>
            <a:pPr lvl="1"/>
            <a:r>
              <a:rPr lang="he-IL" sz="2600" dirty="0">
                <a:latin typeface="Arial" pitchFamily="34" charset="0"/>
              </a:rPr>
              <a:t>ניהול סיכונים פרואקטיבי</a:t>
            </a:r>
          </a:p>
          <a:p>
            <a:pPr lvl="1"/>
            <a:r>
              <a:rPr lang="he-IL" sz="2600" dirty="0">
                <a:latin typeface="Arial" pitchFamily="34" charset="0"/>
              </a:rPr>
              <a:t>כתיבה והטמעה של נהלי</a:t>
            </a:r>
            <a:r>
              <a:rPr lang="en-US" sz="2600" dirty="0">
                <a:latin typeface="Arial" pitchFamily="34" charset="0"/>
              </a:rPr>
              <a:t> </a:t>
            </a:r>
            <a:r>
              <a:rPr lang="he-IL" sz="2600" dirty="0">
                <a:latin typeface="Arial" pitchFamily="34" charset="0"/>
              </a:rPr>
              <a:t>בטיחות ונהלי עבודה.</a:t>
            </a:r>
            <a:endParaRPr lang="en-US" sz="2600" dirty="0">
              <a:latin typeface="Arial" pitchFamily="34" charset="0"/>
            </a:endParaRPr>
          </a:p>
          <a:p>
            <a:pPr lvl="1"/>
            <a:r>
              <a:rPr lang="he-IL" sz="2600" dirty="0">
                <a:latin typeface="Arial" pitchFamily="34" charset="0"/>
              </a:rPr>
              <a:t>הוספה של מחסומים ונקודות עצירה בתהליכי העבודה להגברת הבטיחות </a:t>
            </a:r>
            <a:r>
              <a:rPr lang="en-US" sz="2600" dirty="0">
                <a:latin typeface="Arial" pitchFamily="34" charset="0"/>
              </a:rPr>
              <a:t>(Safety Barrier)</a:t>
            </a:r>
            <a:r>
              <a:rPr lang="he-IL" sz="2600" dirty="0">
                <a:latin typeface="Arial" pitchFamily="34" charset="0"/>
              </a:rPr>
              <a:t>.</a:t>
            </a:r>
          </a:p>
          <a:p>
            <a:r>
              <a:rPr lang="he-IL" b="1" dirty="0" smtClean="0">
                <a:latin typeface="Arial" pitchFamily="34" charset="0"/>
                <a:cs typeface="Arial" pitchFamily="34" charset="0"/>
              </a:rPr>
              <a:t>ניהול </a:t>
            </a:r>
            <a:r>
              <a:rPr lang="he-IL" b="1" dirty="0">
                <a:latin typeface="Arial" pitchFamily="34" charset="0"/>
                <a:cs typeface="Arial" pitchFamily="34" charset="0"/>
              </a:rPr>
              <a:t>סיכונים </a:t>
            </a:r>
            <a:r>
              <a:rPr lang="he-IL" b="1" dirty="0" err="1" smtClean="0">
                <a:latin typeface="Arial" pitchFamily="34" charset="0"/>
                <a:cs typeface="Arial" pitchFamily="34" charset="0"/>
              </a:rPr>
              <a:t>ריאקטיבי</a:t>
            </a:r>
            <a:endParaRPr lang="he-IL" b="1" dirty="0" smtClean="0">
              <a:latin typeface="Arial" pitchFamily="34" charset="0"/>
              <a:cs typeface="Arial" pitchFamily="34" charset="0"/>
            </a:endParaRPr>
          </a:p>
          <a:p>
            <a:pPr marL="0" indent="0" algn="l">
              <a:buNone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Consensus recommendations for incident learning database structures in 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radiation oncology</a:t>
            </a:r>
          </a:p>
          <a:p>
            <a:pPr marL="0" indent="0" algn="l">
              <a:buNone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Med. Phys. 39 (12), December 2012</a:t>
            </a:r>
            <a:endParaRPr lang="he-IL" sz="1800" b="1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he-IL" dirty="0">
                <a:latin typeface="Arial" pitchFamily="34" charset="0"/>
                <a:cs typeface="Arial" pitchFamily="34" charset="0"/>
              </a:rPr>
              <a:t>בגישה זו מגיבים (ריאקציה) ולומדים מתוך אירועים אשר קרו בעבר.</a:t>
            </a:r>
          </a:p>
          <a:p>
            <a:pPr lvl="1"/>
            <a:r>
              <a:rPr lang="he-IL" dirty="0">
                <a:latin typeface="Arial" pitchFamily="34" charset="0"/>
                <a:cs typeface="Arial" pitchFamily="34" charset="0"/>
              </a:rPr>
              <a:t>שיטות העבודה בגישה זו:</a:t>
            </a:r>
          </a:p>
          <a:p>
            <a:pPr lvl="2"/>
            <a:r>
              <a:rPr lang="he-IL" sz="2200" dirty="0">
                <a:latin typeface="Arial" pitchFamily="34" charset="0"/>
                <a:cs typeface="Arial" pitchFamily="34" charset="0"/>
              </a:rPr>
              <a:t>ניהול מערכת למידה</a:t>
            </a:r>
          </a:p>
          <a:p>
            <a:pPr lvl="2"/>
            <a:r>
              <a:rPr lang="he-IL" sz="2200" dirty="0">
                <a:latin typeface="Arial" pitchFamily="34" charset="0"/>
                <a:cs typeface="Arial" pitchFamily="34" charset="0"/>
              </a:rPr>
              <a:t>ביצוע תחקיר על אירועים</a:t>
            </a:r>
          </a:p>
          <a:p>
            <a:pPr lvl="2"/>
            <a:r>
              <a:rPr lang="he-IL" sz="2200" dirty="0">
                <a:latin typeface="Arial" pitchFamily="34" charset="0"/>
                <a:cs typeface="Arial" pitchFamily="34" charset="0"/>
              </a:rPr>
              <a:t>ביצוע אנליזת 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Root Cause Analysis (RCA)</a:t>
            </a:r>
            <a:endParaRPr lang="he-IL" sz="2200" dirty="0">
              <a:latin typeface="Arial" pitchFamily="34" charset="0"/>
              <a:cs typeface="Arial" pitchFamily="34" charset="0"/>
            </a:endParaRPr>
          </a:p>
          <a:p>
            <a:r>
              <a:rPr lang="he-IL" sz="2800" b="1" dirty="0" smtClean="0">
                <a:latin typeface="Arial" pitchFamily="34" charset="0"/>
                <a:cs typeface="Arial" pitchFamily="34" charset="0"/>
              </a:rPr>
              <a:t>ניהול </a:t>
            </a:r>
            <a:r>
              <a:rPr lang="he-IL" sz="2800" b="1" dirty="0">
                <a:latin typeface="Arial" pitchFamily="34" charset="0"/>
                <a:cs typeface="Arial" pitchFamily="34" charset="0"/>
              </a:rPr>
              <a:t>סיכונים </a:t>
            </a:r>
            <a:r>
              <a:rPr lang="he-IL" sz="2800" b="1" dirty="0" smtClean="0">
                <a:latin typeface="Arial" pitchFamily="34" charset="0"/>
                <a:cs typeface="Arial" pitchFamily="34" charset="0"/>
              </a:rPr>
              <a:t>פרואקטיבי (</a:t>
            </a:r>
            <a:r>
              <a:rPr lang="en-US" sz="2800" b="1" dirty="0" smtClean="0">
                <a:latin typeface="Arial" pitchFamily="34" charset="0"/>
                <a:cs typeface="Arial" pitchFamily="34" charset="0"/>
              </a:rPr>
              <a:t>TG-100</a:t>
            </a:r>
            <a:r>
              <a:rPr lang="he-IL" sz="2800" b="1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marL="0" indent="0" algn="l">
              <a:buNone/>
            </a:pP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The </a:t>
            </a:r>
            <a:r>
              <a:rPr lang="en-US" sz="1800" b="1" dirty="0">
                <a:latin typeface="Arial" pitchFamily="34" charset="0"/>
                <a:cs typeface="Arial" pitchFamily="34" charset="0"/>
              </a:rPr>
              <a:t>report of Task Group 100 of the AAPM: Application of risk analysis methods to radiation therapy quality 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management. </a:t>
            </a:r>
          </a:p>
          <a:p>
            <a:pPr marL="0" indent="0" algn="l">
              <a:buNone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Med. Phys. 43 (7), July 2016</a:t>
            </a:r>
            <a:endParaRPr lang="he-IL" sz="1800" b="1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he-IL" sz="2400" dirty="0">
                <a:latin typeface="Arial" pitchFamily="34" charset="0"/>
              </a:rPr>
              <a:t>ביצוע אנליזות תהליכיות </a:t>
            </a:r>
          </a:p>
          <a:p>
            <a:pPr lvl="2"/>
            <a:r>
              <a:rPr lang="en-US" sz="2200" dirty="0">
                <a:latin typeface="Arial" pitchFamily="34" charset="0"/>
              </a:rPr>
              <a:t>Process Tree</a:t>
            </a:r>
            <a:endParaRPr lang="he-IL" sz="2200" dirty="0">
              <a:latin typeface="Arial" pitchFamily="34" charset="0"/>
            </a:endParaRPr>
          </a:p>
          <a:p>
            <a:pPr lvl="2"/>
            <a:r>
              <a:rPr lang="en-US" sz="2200" dirty="0">
                <a:latin typeface="Arial" pitchFamily="34" charset="0"/>
              </a:rPr>
              <a:t>Fault Tree analysis (FTA</a:t>
            </a:r>
            <a:r>
              <a:rPr lang="en-US" sz="2200" dirty="0" smtClean="0">
                <a:latin typeface="Arial" pitchFamily="34" charset="0"/>
              </a:rPr>
              <a:t>)</a:t>
            </a:r>
          </a:p>
          <a:p>
            <a:pPr lvl="2"/>
            <a:r>
              <a:rPr lang="en-US" sz="2200" dirty="0" smtClean="0">
                <a:latin typeface="Arial" pitchFamily="34" charset="0"/>
              </a:rPr>
              <a:t> </a:t>
            </a:r>
            <a:r>
              <a:rPr lang="en-US" sz="2200" dirty="0">
                <a:latin typeface="Arial" pitchFamily="34" charset="0"/>
              </a:rPr>
              <a:t>Failure Mode and Effect Analysis (FMEA)</a:t>
            </a:r>
            <a:endParaRPr lang="he-IL" sz="2200" dirty="0">
              <a:latin typeface="Arial" pitchFamily="34" charset="0"/>
            </a:endParaRPr>
          </a:p>
          <a:p>
            <a:endParaRPr lang="he-IL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90382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ניהול סיכונים פרואקטיבי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בגישה זו אנו מנסים למנוע או לצמצם את האפשרות שאירוע מסוים יקרה.</a:t>
            </a:r>
          </a:p>
          <a:p>
            <a:r>
              <a:rPr lang="he-IL" dirty="0" smtClean="0"/>
              <a:t>אנו נעשה זאת באמצעות הסתכלות בעין ביקורתית מנקודת מבט של איכות ובטיחות </a:t>
            </a:r>
            <a:r>
              <a:rPr lang="he-IL" dirty="0"/>
              <a:t>על התהליכים השונים </a:t>
            </a:r>
            <a:r>
              <a:rPr lang="he-IL" dirty="0" smtClean="0"/>
              <a:t>ביחידה.</a:t>
            </a:r>
          </a:p>
          <a:p>
            <a:r>
              <a:rPr lang="he-IL" dirty="0" smtClean="0"/>
              <a:t>אנו נשאל את עצמנו מה יכול להשתבש וננסה למנוע מראש את התרחשות האירוע.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592553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he-IL" sz="3600" dirty="0" smtClean="0">
                <a:latin typeface="Arial" pitchFamily="34" charset="0"/>
                <a:cs typeface="Arial" pitchFamily="34" charset="0"/>
              </a:rPr>
              <a:t>גישת ניהול סיכונים פרואקטיבי לפי 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TG</a:t>
            </a:r>
            <a:r>
              <a:rPr lang="he-IL" sz="3600" dirty="0">
                <a:latin typeface="Arial" pitchFamily="34" charset="0"/>
                <a:cs typeface="Arial" pitchFamily="34" charset="0"/>
              </a:rPr>
              <a:t>-100</a:t>
            </a:r>
            <a:br>
              <a:rPr lang="he-IL" sz="3600" dirty="0">
                <a:latin typeface="Arial" pitchFamily="34" charset="0"/>
                <a:cs typeface="Arial" pitchFamily="34" charset="0"/>
              </a:rPr>
            </a:br>
            <a:r>
              <a:rPr lang="he-IL" sz="3600" dirty="0">
                <a:latin typeface="Arial" pitchFamily="34" charset="0"/>
                <a:cs typeface="Arial" pitchFamily="34" charset="0"/>
              </a:rPr>
              <a:t> ניהול האיכות </a:t>
            </a:r>
            <a:r>
              <a:rPr lang="he-IL" sz="3600" dirty="0" smtClean="0">
                <a:latin typeface="Arial" pitchFamily="34" charset="0"/>
                <a:cs typeface="Arial" pitchFamily="34" charset="0"/>
              </a:rPr>
              <a:t>(</a:t>
            </a:r>
            <a:r>
              <a:rPr lang="en-US" sz="3600" dirty="0" smtClean="0">
                <a:latin typeface="Arial" pitchFamily="34" charset="0"/>
                <a:cs typeface="Arial" pitchFamily="34" charset="0"/>
              </a:rPr>
              <a:t>QM</a:t>
            </a:r>
            <a:r>
              <a:rPr lang="he-IL" sz="3600" dirty="0" smtClean="0">
                <a:latin typeface="Arial" pitchFamily="34" charset="0"/>
                <a:cs typeface="Arial" pitchFamily="34" charset="0"/>
              </a:rPr>
              <a:t>)</a:t>
            </a:r>
            <a:endParaRPr lang="he-IL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496" y="1772816"/>
            <a:ext cx="9073008" cy="4176464"/>
          </a:xfrm>
          <a:noFill/>
          <a:ln>
            <a:noFill/>
          </a:ln>
        </p:spPr>
        <p:txBody>
          <a:bodyPr>
            <a:normAutofit lnSpcReduction="10000"/>
          </a:bodyPr>
          <a:lstStyle/>
          <a:p>
            <a:pPr marL="360000" lvl="2"/>
            <a:r>
              <a:rPr lang="he-IL" sz="2200" dirty="0" smtClean="0">
                <a:latin typeface="Arial" pitchFamily="34" charset="0"/>
                <a:cs typeface="Arial" pitchFamily="34" charset="0"/>
              </a:rPr>
              <a:t>לצורך הבנת השלבים השונים של תהליך נשתמש</a:t>
            </a:r>
          </a:p>
          <a:p>
            <a:pPr marL="817200" lvl="3"/>
            <a:r>
              <a:rPr lang="he-IL" sz="1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he-IL" sz="1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בעץ תהליך - </a:t>
            </a:r>
            <a:r>
              <a:rPr lang="en-US" sz="1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Process Tree</a:t>
            </a:r>
            <a:r>
              <a:rPr lang="he-IL" sz="1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	</a:t>
            </a:r>
            <a:endParaRPr lang="he-IL" sz="1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marL="360000" lvl="2"/>
            <a:r>
              <a:rPr lang="he-IL" sz="2200" dirty="0" smtClean="0">
                <a:latin typeface="Arial" pitchFamily="34" charset="0"/>
                <a:cs typeface="Arial" pitchFamily="34" charset="0"/>
              </a:rPr>
              <a:t>לאחר שהבנו את התהליך נבצע סיעור מוחות ונאתר </a:t>
            </a:r>
            <a:r>
              <a:rPr lang="he-IL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נקודות כשל </a:t>
            </a:r>
            <a:r>
              <a:rPr lang="he-IL" sz="2200" dirty="0" smtClean="0">
                <a:latin typeface="Arial" pitchFamily="34" charset="0"/>
                <a:cs typeface="Arial" pitchFamily="34" charset="0"/>
              </a:rPr>
              <a:t>באמצעות</a:t>
            </a:r>
          </a:p>
          <a:p>
            <a:pPr marL="817200" lvl="3"/>
            <a:r>
              <a:rPr lang="en-US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Failure 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Mode and Effect Analysis (</a:t>
            </a:r>
            <a:r>
              <a:rPr lang="en-US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FMEA)	</a:t>
            </a:r>
            <a:endParaRPr lang="he-IL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  <a:p>
            <a:pPr marL="360000" lvl="2"/>
            <a:r>
              <a:rPr lang="he-IL" sz="2200" dirty="0" smtClean="0">
                <a:latin typeface="Arial" pitchFamily="34" charset="0"/>
                <a:cs typeface="Arial" pitchFamily="34" charset="0"/>
              </a:rPr>
              <a:t>בכדי להבין </a:t>
            </a:r>
            <a:r>
              <a:rPr lang="he-IL" sz="2200" dirty="0">
                <a:latin typeface="Arial" pitchFamily="34" charset="0"/>
              </a:rPr>
              <a:t>כיצד </a:t>
            </a:r>
            <a:r>
              <a:rPr lang="he-IL" sz="2200" dirty="0" smtClean="0">
                <a:latin typeface="Arial" pitchFamily="34" charset="0"/>
              </a:rPr>
              <a:t>קורה הכשל נבצע </a:t>
            </a:r>
          </a:p>
          <a:p>
            <a:pPr marL="817200" lvl="3"/>
            <a:r>
              <a:rPr lang="he-IL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ניתוח עץ תקלות -</a:t>
            </a:r>
            <a:r>
              <a:rPr lang="en-US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Fault Tree analysis 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(</a:t>
            </a:r>
            <a:r>
              <a:rPr lang="en-US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FTA)</a:t>
            </a:r>
            <a:endParaRPr lang="he-IL" sz="1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marL="360000" lvl="2"/>
            <a:r>
              <a:rPr lang="he-IL" sz="2200" dirty="0" smtClean="0">
                <a:latin typeface="Arial" pitchFamily="34" charset="0"/>
                <a:cs typeface="Arial" pitchFamily="34" charset="0"/>
              </a:rPr>
              <a:t>אחרי ביצוע חקר התהליכים נותר ליישם ולהטמיע את השינויים באמצעות (</a:t>
            </a:r>
            <a:r>
              <a:rPr lang="en-US" sz="2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PDCA</a:t>
            </a:r>
            <a:r>
              <a:rPr lang="he-IL" sz="22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lvl="1"/>
            <a:r>
              <a:rPr lang="he-IL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כתיבה </a:t>
            </a:r>
            <a:r>
              <a:rPr lang="he-IL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והטמעה של נהלי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 </a:t>
            </a:r>
            <a:r>
              <a:rPr lang="he-IL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בטיחות ושל נהלי עבודה.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  <a:p>
            <a:pPr lvl="1"/>
            <a:r>
              <a:rPr lang="he-IL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הוספה של מחסומים ונקודות עצירה בתהליכי העבודה להגברת הבטיחות 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(Safety Barrier)</a:t>
            </a:r>
            <a:r>
              <a:rPr lang="he-IL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.</a:t>
            </a:r>
          </a:p>
          <a:p>
            <a:pPr lvl="1"/>
            <a:r>
              <a:rPr lang="he-IL" sz="1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</a:rPr>
              <a:t>הכשרה של צוותים והדרכות</a:t>
            </a:r>
            <a:endParaRPr lang="he-IL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6920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b="1" dirty="0" smtClean="0">
                <a:cs typeface="+mn-cs"/>
              </a:rPr>
              <a:t>עץ תהליך </a:t>
            </a:r>
            <a:r>
              <a:rPr lang="en-US" b="1" dirty="0">
                <a:latin typeface="Arial" pitchFamily="34" charset="0"/>
                <a:cs typeface="+mn-cs"/>
              </a:rPr>
              <a:t>Process </a:t>
            </a:r>
            <a:r>
              <a:rPr lang="en-US" b="1" dirty="0" smtClean="0">
                <a:latin typeface="Arial" pitchFamily="34" charset="0"/>
                <a:cs typeface="+mn-cs"/>
              </a:rPr>
              <a:t>Tree</a:t>
            </a:r>
            <a:r>
              <a:rPr lang="he-IL" b="1" dirty="0" smtClean="0">
                <a:latin typeface="Arial" pitchFamily="34" charset="0"/>
                <a:cs typeface="+mn-cs"/>
              </a:rPr>
              <a:t/>
            </a:r>
            <a:br>
              <a:rPr lang="he-IL" b="1" dirty="0" smtClean="0">
                <a:latin typeface="Arial" pitchFamily="34" charset="0"/>
                <a:cs typeface="+mn-cs"/>
              </a:rPr>
            </a:br>
            <a:r>
              <a:rPr lang="en-US" sz="1600" dirty="0" smtClean="0">
                <a:latin typeface="Arial" pitchFamily="34" charset="0"/>
                <a:cs typeface="+mn-cs"/>
              </a:rPr>
              <a:t>Process Tree = </a:t>
            </a:r>
            <a:r>
              <a:rPr lang="en-US" sz="1600" dirty="0" smtClean="0">
                <a:cs typeface="+mn-cs"/>
              </a:rPr>
              <a:t>describe and </a:t>
            </a:r>
            <a:r>
              <a:rPr lang="en-US" sz="1600" dirty="0">
                <a:cs typeface="+mn-cs"/>
              </a:rPr>
              <a:t>understand each step in the </a:t>
            </a:r>
            <a:r>
              <a:rPr lang="en-US" sz="1600" dirty="0" smtClean="0">
                <a:cs typeface="+mn-cs"/>
              </a:rPr>
              <a:t>process</a:t>
            </a:r>
            <a:endParaRPr lang="he-IL" sz="1600" dirty="0"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 smtClean="0"/>
              <a:t>מדוע צריך עץ תהליך?</a:t>
            </a:r>
          </a:p>
          <a:p>
            <a:pPr lvl="1"/>
            <a:r>
              <a:rPr lang="he-IL" dirty="0" smtClean="0"/>
              <a:t>משמש כבסיס לביצוע </a:t>
            </a:r>
            <a:r>
              <a:rPr lang="he-IL" dirty="0"/>
              <a:t>אנליזות </a:t>
            </a:r>
            <a:r>
              <a:rPr lang="he-IL" dirty="0" smtClean="0"/>
              <a:t>מתקדמות ולהבנת תהליכים מורכבים.</a:t>
            </a:r>
          </a:p>
          <a:p>
            <a:pPr lvl="1"/>
            <a:r>
              <a:rPr lang="he-IL" dirty="0" smtClean="0"/>
              <a:t>ניתן לזהות ולהסיר שלבים מיותרים בתהליך קיים ולהפוך את התהליך לפשוט יותר.</a:t>
            </a:r>
          </a:p>
          <a:p>
            <a:pPr lvl="1"/>
            <a:r>
              <a:rPr lang="he-IL" dirty="0" smtClean="0"/>
              <a:t>ניתן לזהות שלבים חסרים בתהליך קיים או להוסיף מחסומים אשר הופכים את התהליך לבטוח יותר.</a:t>
            </a:r>
          </a:p>
          <a:p>
            <a:pPr lvl="1"/>
            <a:r>
              <a:rPr lang="he-IL" dirty="0" smtClean="0"/>
              <a:t>ניתן להשתמש בעץ התהליך בתכנים של הדרכה לצורך הצגתו באופן ויזואלי ואינטואיטיבי.</a:t>
            </a:r>
          </a:p>
        </p:txBody>
      </p:sp>
    </p:spTree>
    <p:extLst>
      <p:ext uri="{BB962C8B-B14F-4D97-AF65-F5344CB8AC3E}">
        <p14:creationId xmlns:p14="http://schemas.microsoft.com/office/powerpoint/2010/main" val="18948002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-27384"/>
            <a:ext cx="8229600" cy="1143000"/>
          </a:xfrm>
        </p:spPr>
        <p:txBody>
          <a:bodyPr/>
          <a:lstStyle/>
          <a:p>
            <a:r>
              <a:rPr lang="he-IL" b="1" dirty="0"/>
              <a:t>עץ תהליך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Process Tree</a:t>
            </a:r>
            <a:endParaRPr lang="he-IL" dirty="0"/>
          </a:p>
        </p:txBody>
      </p:sp>
      <p:pic>
        <p:nvPicPr>
          <p:cNvPr id="5" name="מציין מיקום תוכן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8" y="1196752"/>
            <a:ext cx="4568010" cy="2520280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998" y="1196752"/>
            <a:ext cx="4568010" cy="2520280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0622" y="3732069"/>
            <a:ext cx="5665753" cy="312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321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b="1" dirty="0" smtClean="0"/>
              <a:t>עץ תהליך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Process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Tree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e-IL" dirty="0" smtClean="0"/>
              <a:t>עץ התהליך הינו כרונולוגי ומתאר את כל השלבים של התהליך בסדר הגעתם מהראשון עד לתום התהליך.</a:t>
            </a:r>
          </a:p>
          <a:p>
            <a:r>
              <a:rPr lang="he-IL" dirty="0" smtClean="0"/>
              <a:t>בניה של עץ תהליך: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מתחילים מנקודות ההתחלה והסיום של התהליך.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ממלאים את כל השלבים שמובילים מנקודת ההתחלה עד נקודת הסיום בסדר הופעתם.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מחברים את השלבים בחץ אחד לשני.</a:t>
            </a:r>
          </a:p>
          <a:p>
            <a:pPr marL="1371600" lvl="2" indent="-514350">
              <a:buFont typeface="+mj-lt"/>
              <a:buAutoNum type="arabicPeriod"/>
            </a:pPr>
            <a:r>
              <a:rPr lang="he-IL" dirty="0"/>
              <a:t>החלטה </a:t>
            </a:r>
            <a:r>
              <a:rPr lang="he-IL" dirty="0" smtClean="0"/>
              <a:t>מיוצגת באמצעות צומת עם כניסה אחת ושתי יציאות או יותר אשר מתארות את ההחלטות השונות.</a:t>
            </a:r>
          </a:p>
          <a:p>
            <a:pPr marL="1371600" lvl="2" indent="-514350">
              <a:buFont typeface="+mj-lt"/>
              <a:buAutoNum type="arabicPeriod"/>
            </a:pPr>
            <a:r>
              <a:rPr lang="he-IL" dirty="0" smtClean="0"/>
              <a:t>חזרה לשלבים קודמים מיוצג על ידי חץ חוזר.</a:t>
            </a:r>
          </a:p>
          <a:p>
            <a:r>
              <a:rPr lang="he-IL" dirty="0" smtClean="0"/>
              <a:t>רמת הפירוט של התהליך תלוי בצורך. כאשר לרוב כל שלב ניתן לפרוט לתת שלבים.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5088100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קבלה וטיפול של מטופלים דחופים</a:t>
            </a:r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1700808"/>
            <a:ext cx="4962188" cy="46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594812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קבלה וטיפול של מטופלים דחופים</a:t>
            </a:r>
          </a:p>
        </p:txBody>
      </p:sp>
      <p:sp>
        <p:nvSpPr>
          <p:cNvPr id="6" name="מלבן 5"/>
          <p:cNvSpPr/>
          <p:nvPr/>
        </p:nvSpPr>
        <p:spPr>
          <a:xfrm>
            <a:off x="7524328" y="1743199"/>
            <a:ext cx="15392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400" b="1" dirty="0"/>
              <a:t>לאחר שינוי</a:t>
            </a:r>
          </a:p>
        </p:txBody>
      </p:sp>
      <p:pic>
        <p:nvPicPr>
          <p:cNvPr id="33" name="תמונה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1556792"/>
            <a:ext cx="5054963" cy="46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70524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כותרת 32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>
            <a:normAutofit/>
          </a:bodyPr>
          <a:lstStyle/>
          <a:p>
            <a:r>
              <a:rPr lang="he-IL" dirty="0" smtClean="0"/>
              <a:t>קבלה וטיפול של מטופלים דחופים</a:t>
            </a:r>
            <a:endParaRPr lang="he-IL" dirty="0"/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1556792"/>
            <a:ext cx="5144923" cy="36000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</p:pic>
      <p:sp>
        <p:nvSpPr>
          <p:cNvPr id="3" name="מלבן 2"/>
          <p:cNvSpPr/>
          <p:nvPr/>
        </p:nvSpPr>
        <p:spPr>
          <a:xfrm>
            <a:off x="2555776" y="1052736"/>
            <a:ext cx="43220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2400" b="1" dirty="0"/>
              <a:t>תת שלב - הפניה של מטופל דחוף</a:t>
            </a:r>
          </a:p>
        </p:txBody>
      </p:sp>
      <p:sp>
        <p:nvSpPr>
          <p:cNvPr id="4" name="מלבן 3"/>
          <p:cNvSpPr/>
          <p:nvPr/>
        </p:nvSpPr>
        <p:spPr>
          <a:xfrm>
            <a:off x="179512" y="5241974"/>
            <a:ext cx="883346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he-IL" dirty="0"/>
              <a:t>איך הייתם משפרים את התהליך הזה? </a:t>
            </a:r>
            <a:endParaRPr lang="he-I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לאחד </a:t>
            </a:r>
            <a:r>
              <a:rPr lang="he-IL" dirty="0"/>
              <a:t>את העברת המידע לגורם אדמיניסטרטיבי יחיד שיעביר את המידע למי שצריך או לייצר תהליך אוטומטי שמעביר את המטופל בין תחנות קבועות מראש (</a:t>
            </a:r>
            <a:r>
              <a:rPr lang="en-US" dirty="0"/>
              <a:t>Care Path</a:t>
            </a:r>
            <a:r>
              <a:rPr lang="he-IL" dirty="0"/>
              <a:t> מסלול מובנה</a:t>
            </a:r>
            <a:r>
              <a:rPr lang="he-IL" dirty="0" smtClean="0"/>
              <a:t>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495020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3A44B-F8CA-EF35-C467-51261255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Failure Mode and Effect Analysis (FMEA)</a:t>
            </a:r>
            <a:endParaRPr lang="LID4096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מציין מיקום תוכן 4">
                <a:extLst>
                  <a:ext uri="{FF2B5EF4-FFF2-40B4-BE49-F238E27FC236}">
                    <a16:creationId xmlns:a16="http://schemas.microsoft.com/office/drawing/2014/main" id="{84A4A3FC-AB84-944D-C5D4-D0E3914700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54360" y="3269666"/>
                <a:ext cx="8435280" cy="3052935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/>
                  <a:t>Risk Priority Number (RPN) range from 1-1000.</a:t>
                </a:r>
              </a:p>
              <a:p>
                <a:pPr algn="l" rtl="0"/>
                <a:r>
                  <a:rPr lang="en-US" err="1"/>
                  <a:t>Occurance (O) range from 1-10.</a:t>
                </a:r>
              </a:p>
              <a:p>
                <a:pPr algn="l" rtl="0"/>
                <a:r>
                  <a:rPr lang="en-US"/>
                  <a:t>Severity (S) range from 1-10.</a:t>
                </a:r>
              </a:p>
              <a:p>
                <a:pPr algn="l" rtl="0"/>
                <a:r>
                  <a:rPr lang="en-US"/>
                  <a:t>Detectability (D) range from 1-10.</a:t>
                </a:r>
              </a:p>
              <a:p>
                <a:pPr algn="l" rtl="0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𝑅𝑃𝑁</m:t>
                    </m:r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𝑆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𝐷</m:t>
                    </m:r>
                  </m:oMath>
                </a14:m>
                <a:endParaRPr lang="en-US"/>
              </a:p>
            </p:txBody>
          </p:sp>
        </mc:Choice>
        <mc:Fallback xmlns:p159="http://schemas.microsoft.com/office/powerpoint/2015/09/main" xmlns:p15="http://schemas.microsoft.com/office/powerpoint/2012/main" xmlns:p14="http://schemas.microsoft.com/office/powerpoint/2010/main" xmlns:wp="http://schemas.openxmlformats.org/drawingml/2006/wordprocessingDrawing" xmlns:w="http://schemas.openxmlformats.org/wordprocessingml/2006/main" xmlns:m="http://schemas.openxmlformats.org/officeDocument/2006/math" xmlns="">
          <p:sp>
            <p:nvSpPr>
              <p:cNvPr id="4" name="מציין מיקום תוכן 4">
                <a:extLst>
                  <a:ext uri="{FF2B5EF4-FFF2-40B4-BE49-F238E27FC236}">
                    <a16:creationId xmlns:a16="http://schemas.microsoft.com/office/drawing/2014/main" id="{84A4A3FC-AB84-944D-C5D4-D0E3914700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360" y="3269666"/>
                <a:ext cx="8435280" cy="3052935"/>
              </a:xfrm>
              <a:blipFill>
                <a:blip r:embed="rId2"/>
                <a:stretch>
                  <a:fillRect l="-1662" t="-2595" b="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6A55F94-968D-B223-9CA8-BE12603BEB86}"/>
              </a:ext>
            </a:extLst>
          </p:cNvPr>
          <p:cNvSpPr txBox="1"/>
          <p:nvPr/>
        </p:nvSpPr>
        <p:spPr>
          <a:xfrm>
            <a:off x="251520" y="1453466"/>
            <a:ext cx="86409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2800" dirty="0"/>
              <a:t>באנליזת </a:t>
            </a:r>
            <a:r>
              <a:rPr lang="en-US" sz="2800" dirty="0"/>
              <a:t>FMEA</a:t>
            </a:r>
            <a:r>
              <a:rPr lang="he-IL" sz="2800" dirty="0"/>
              <a:t> אנו בוחנים תרחישים אפשריים ומאפיינים אותם על פי הסיכוי להתרחשותם (</a:t>
            </a:r>
            <a:r>
              <a:rPr lang="en-US" sz="2800" dirty="0"/>
              <a:t>O</a:t>
            </a:r>
            <a:r>
              <a:rPr lang="he-IL" sz="2800" dirty="0"/>
              <a:t>), חומרתם (</a:t>
            </a:r>
            <a:r>
              <a:rPr lang="en-US" sz="2800" dirty="0"/>
              <a:t>S</a:t>
            </a:r>
            <a:r>
              <a:rPr lang="he-IL" sz="2800" dirty="0"/>
              <a:t>) והיכולת לזהות את התרחשותם (</a:t>
            </a:r>
            <a:r>
              <a:rPr lang="en-US" sz="2800" dirty="0"/>
              <a:t>D</a:t>
            </a:r>
            <a:r>
              <a:rPr lang="he-IL" sz="2800" dirty="0"/>
              <a:t>)</a:t>
            </a:r>
            <a:r>
              <a:rPr lang="en-US" sz="2800" dirty="0"/>
              <a:t>.</a:t>
            </a:r>
            <a:r>
              <a:rPr lang="he-IL" sz="2800" dirty="0"/>
              <a:t> מכפלה של הפרמטרים נותנת מדד אשר מתאר את העדיפות לטיפול בבעיה. 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17566140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4A0F2-F737-06D1-9014-1281EE2E9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043608"/>
          </a:xfrm>
        </p:spPr>
        <p:txBody>
          <a:bodyPr/>
          <a:lstStyle/>
          <a:p>
            <a:r>
              <a:rPr lang="en-US" dirty="0" smtClean="0"/>
              <a:t>FMEA</a:t>
            </a:r>
            <a:endParaRPr lang="LID4096" dirty="0"/>
          </a:p>
        </p:txBody>
      </p:sp>
      <p:graphicFrame>
        <p:nvGraphicFramePr>
          <p:cNvPr id="6" name="מציין מיקום תוכן 1">
            <a:extLst>
              <a:ext uri="{FF2B5EF4-FFF2-40B4-BE49-F238E27FC236}">
                <a16:creationId xmlns:a16="http://schemas.microsoft.com/office/drawing/2014/main" id="{B1089745-F96A-A318-BDB1-43D6CBFFFA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7057878"/>
              </p:ext>
            </p:extLst>
          </p:nvPr>
        </p:nvGraphicFramePr>
        <p:xfrm>
          <a:off x="107504" y="1268760"/>
          <a:ext cx="9001001" cy="36271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8390">
                  <a:extLst>
                    <a:ext uri="{9D8B030D-6E8A-4147-A177-3AD203B41FA5}">
                      <a16:colId xmlns:a16="http://schemas.microsoft.com/office/drawing/2014/main" val="477516267"/>
                    </a:ext>
                  </a:extLst>
                </a:gridCol>
                <a:gridCol w="2104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3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2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448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51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 rtl="1"/>
                      <a:r>
                        <a:rPr lang="he-IL" sz="1400" dirty="0" smtClean="0"/>
                        <a:t>תת שלב</a:t>
                      </a:r>
                      <a:endParaRPr lang="he-I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שלב</a:t>
                      </a:r>
                      <a:r>
                        <a:rPr lang="he-IL" baseline="0" dirty="0" smtClean="0"/>
                        <a:t> בתהליך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שגיאה אפשרית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אפקט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/>
                        <a:t>O</a:t>
                      </a:r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S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D</a:t>
                      </a:r>
                      <a:endParaRPr lang="he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 smtClean="0"/>
                        <a:t>RPN</a:t>
                      </a:r>
                      <a:endParaRPr lang="he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הפניה של מטופל דחוף</a:t>
                      </a:r>
                      <a:endParaRPr lang="he-IL" dirty="0"/>
                    </a:p>
                  </a:txBody>
                  <a:tcPr vert="vert"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פניה</a:t>
                      </a:r>
                      <a:r>
                        <a:rPr lang="he-IL" baseline="0" dirty="0" smtClean="0"/>
                        <a:t> למנהל יחידה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ראה באחור את ההפניה והמטופל לא קיבל טיפול בזמן.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התדרדרות במצב המטופל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6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7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3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126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 rtl="1"/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 smtClean="0"/>
                        <a:t>פניה</a:t>
                      </a:r>
                      <a:r>
                        <a:rPr lang="he-IL" baseline="0" dirty="0" smtClean="0"/>
                        <a:t> למנהל יחידה</a:t>
                      </a:r>
                      <a:endParaRPr lang="he-IL" dirty="0" smtClean="0"/>
                    </a:p>
                    <a:p>
                      <a:pPr algn="r" rtl="1"/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לא זיהה את דחיפו</a:t>
                      </a:r>
                      <a:r>
                        <a:rPr lang="he-IL" baseline="0" dirty="0" smtClean="0"/>
                        <a:t>ת הטיפול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 smtClean="0"/>
                        <a:t>התדרדרות במצב המטופל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2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3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42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 rtl="1"/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מזכירה מזהה דחיפות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המטופל לא דחוף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הרופא קיבל הפניה לא דחופה</a:t>
                      </a:r>
                      <a:r>
                        <a:rPr lang="he-IL" baseline="0" dirty="0" smtClean="0"/>
                        <a:t> והחזיר את המקרה לזימון תורים רגיל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6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dirty="0" smtClean="0"/>
                        <a:t>1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dirty="0" smtClean="0"/>
                        <a:t>3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dirty="0" smtClean="0"/>
                        <a:t>18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r" rtl="1"/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dirty="0" smtClean="0"/>
                        <a:t>מזכירה מזהה דחיפות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מזכירה לא מוצא</a:t>
                      </a:r>
                      <a:r>
                        <a:rPr lang="he-IL" baseline="0" dirty="0" smtClean="0"/>
                        <a:t>ת את רופא היום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עיכוב במתן טיפול.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7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3</a:t>
                      </a:r>
                      <a:endParaRPr lang="he-IL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he-IL" dirty="0" smtClean="0"/>
                        <a:t>42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6481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HFMEA</a:t>
            </a:r>
            <a:r>
              <a:rPr lang="he-IL" dirty="0"/>
              <a:t> </a:t>
            </a:r>
            <a:r>
              <a:rPr lang="he-IL" dirty="0" smtClean="0"/>
              <a:t>בנושא תקשורת מרכז רפואי רבין</a:t>
            </a:r>
            <a:endParaRPr lang="he-IL" dirty="0"/>
          </a:p>
        </p:txBody>
      </p:sp>
      <p:sp>
        <p:nvSpPr>
          <p:cNvPr id="4" name="מציין מיקום תוכן 3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e-IL" dirty="0"/>
              <a:t>דוגמא ל- </a:t>
            </a:r>
            <a:r>
              <a:rPr lang="en-US" dirty="0"/>
              <a:t>HFMEA</a:t>
            </a:r>
            <a:r>
              <a:rPr lang="he-IL" dirty="0"/>
              <a:t> </a:t>
            </a:r>
            <a:r>
              <a:rPr lang="he-IL" dirty="0" smtClean="0"/>
              <a:t>שביצענו אצלנו.</a:t>
            </a:r>
            <a:endParaRPr lang="he-IL" dirty="0"/>
          </a:p>
          <a:p>
            <a:r>
              <a:rPr lang="en-US" dirty="0" smtClean="0"/>
              <a:t>HFMEA</a:t>
            </a:r>
            <a:r>
              <a:rPr lang="he-IL" dirty="0" smtClean="0"/>
              <a:t> (נקרא </a:t>
            </a:r>
            <a:r>
              <a:rPr lang="en-US" dirty="0" smtClean="0"/>
              <a:t>Healthcare FMEA</a:t>
            </a:r>
            <a:r>
              <a:rPr lang="he-IL" dirty="0" smtClean="0"/>
              <a:t>) זה דומה מאד ל </a:t>
            </a:r>
            <a:r>
              <a:rPr lang="en-US" dirty="0" smtClean="0"/>
              <a:t>FMEA</a:t>
            </a:r>
            <a:r>
              <a:rPr lang="he-IL" dirty="0" smtClean="0"/>
              <a:t> רק ללא </a:t>
            </a:r>
            <a:r>
              <a:rPr lang="en-US" dirty="0" smtClean="0"/>
              <a:t>detectability (D)</a:t>
            </a:r>
            <a:r>
              <a:rPr lang="he-IL" dirty="0" smtClean="0"/>
              <a:t>.</a:t>
            </a:r>
          </a:p>
          <a:p>
            <a:r>
              <a:rPr lang="he-IL" dirty="0" smtClean="0"/>
              <a:t>שם דגש על הגדרת משימות ופעולות (</a:t>
            </a:r>
            <a:r>
              <a:rPr lang="en-US" dirty="0"/>
              <a:t>Actions and Outcome Measures</a:t>
            </a:r>
            <a:r>
              <a:rPr lang="he-IL" dirty="0" smtClean="0"/>
              <a:t>).</a:t>
            </a:r>
          </a:p>
          <a:p>
            <a:r>
              <a:rPr lang="he-IL" dirty="0" smtClean="0"/>
              <a:t>המטרה שלנו הייתה לזהות כשלים אפשריים בתקשורת והעברת מידע.</a:t>
            </a:r>
          </a:p>
          <a:p>
            <a:r>
              <a:rPr lang="he-IL" dirty="0" smtClean="0"/>
              <a:t>הגדרנו ארבעה תחומים:</a:t>
            </a:r>
          </a:p>
          <a:p>
            <a:pPr lvl="1"/>
            <a:r>
              <a:rPr lang="he-IL" dirty="0"/>
              <a:t>העברת </a:t>
            </a:r>
            <a:r>
              <a:rPr lang="he-IL" dirty="0" smtClean="0"/>
              <a:t>מידע</a:t>
            </a:r>
          </a:p>
          <a:p>
            <a:pPr lvl="1"/>
            <a:r>
              <a:rPr lang="he-IL" dirty="0"/>
              <a:t>תקשורת בנושא </a:t>
            </a:r>
            <a:r>
              <a:rPr lang="he-IL" dirty="0" smtClean="0"/>
              <a:t>שחרור מטופלים</a:t>
            </a:r>
          </a:p>
          <a:p>
            <a:pPr lvl="1"/>
            <a:r>
              <a:rPr lang="he-IL" dirty="0"/>
              <a:t>תקשורת עם </a:t>
            </a:r>
            <a:r>
              <a:rPr lang="he-IL" dirty="0" smtClean="0"/>
              <a:t>מטופלים</a:t>
            </a:r>
          </a:p>
          <a:p>
            <a:pPr lvl="1"/>
            <a:r>
              <a:rPr lang="he-IL" dirty="0"/>
              <a:t>תקשורת  בנושא שינויים בתוכנית </a:t>
            </a:r>
          </a:p>
          <a:p>
            <a:r>
              <a:rPr lang="he-IL" dirty="0" smtClean="0"/>
              <a:t>את החומרה הגדרנו ע"פ טבלה </a:t>
            </a: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4149080"/>
            <a:ext cx="1914525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543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HFMEA</a:t>
            </a:r>
            <a:r>
              <a:rPr lang="he-IL" dirty="0"/>
              <a:t> בנושא תקשורת מרכז רפואי רבין</a:t>
            </a:r>
          </a:p>
        </p:txBody>
      </p:sp>
      <p:pic>
        <p:nvPicPr>
          <p:cNvPr id="5" name="מציין מיקום תוכן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4657" y="1600200"/>
            <a:ext cx="793468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8361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HFMEA</a:t>
            </a:r>
            <a:r>
              <a:rPr lang="he-IL" dirty="0"/>
              <a:t> בנושא תקשורת מרכז רפואי רבין</a:t>
            </a:r>
          </a:p>
        </p:txBody>
      </p:sp>
      <p:pic>
        <p:nvPicPr>
          <p:cNvPr id="4" name="מציין מיקום תוכן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763124"/>
            <a:ext cx="8229600" cy="420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4790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Fault Tree Analysis</a:t>
            </a:r>
            <a:br>
              <a:rPr lang="en-US" dirty="0" smtClean="0"/>
            </a:br>
            <a:r>
              <a:rPr lang="en-US" sz="2000" dirty="0" smtClean="0"/>
              <a:t>propagation of </a:t>
            </a:r>
            <a:r>
              <a:rPr lang="en-US" sz="2000" dirty="0"/>
              <a:t>failure modes</a:t>
            </a:r>
            <a:r>
              <a:rPr lang="en-US" sz="2000" dirty="0" smtClean="0"/>
              <a:t> </a:t>
            </a:r>
            <a:r>
              <a:rPr lang="en-US" sz="2000" dirty="0"/>
              <a:t>through the process</a:t>
            </a:r>
            <a:endParaRPr lang="he-IL" sz="2000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060848"/>
            <a:ext cx="2880000" cy="1614090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789040"/>
            <a:ext cx="2880000" cy="214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23928" y="2132856"/>
            <a:ext cx="5090864" cy="286232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כיצד בונים </a:t>
            </a:r>
            <a:r>
              <a:rPr lang="en-US" dirty="0" smtClean="0"/>
              <a:t>FTA</a:t>
            </a:r>
            <a:endParaRPr lang="he-IL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dirty="0" smtClean="0"/>
              <a:t>מתחילים מהשגיאה ומתקדמים לאחור.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dirty="0" smtClean="0"/>
              <a:t>בכל פיצול שמים חיבור לוגי של: או (</a:t>
            </a:r>
            <a:r>
              <a:rPr lang="en-US" dirty="0" smtClean="0"/>
              <a:t>Or</a:t>
            </a:r>
            <a:r>
              <a:rPr lang="he-IL" dirty="0" smtClean="0"/>
              <a:t>), גם (</a:t>
            </a:r>
            <a:r>
              <a:rPr lang="en-US" dirty="0" smtClean="0"/>
              <a:t>And</a:t>
            </a:r>
            <a:r>
              <a:rPr lang="he-IL" dirty="0" smtClean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e-IL" dirty="0" smtClean="0"/>
              <a:t>או – כאשר מספיק שאחד מהמקרים מתקיים כדי להתקדם במעלה העץ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e-IL" dirty="0" smtClean="0"/>
              <a:t>גם – כאשר כל המקרים מתקיימים </a:t>
            </a:r>
            <a:r>
              <a:rPr lang="he-IL" dirty="0"/>
              <a:t>כדי להתקדם במעלה העץ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he-IL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2496102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Fault Tree Analysis</a:t>
            </a:r>
            <a:br>
              <a:rPr lang="en-US" dirty="0" smtClean="0"/>
            </a:br>
            <a:r>
              <a:rPr lang="en-US" sz="2000" dirty="0" smtClean="0"/>
              <a:t>propagation of </a:t>
            </a:r>
            <a:r>
              <a:rPr lang="en-US" sz="2000" dirty="0"/>
              <a:t>failure modes</a:t>
            </a:r>
            <a:r>
              <a:rPr lang="en-US" sz="2000" dirty="0" smtClean="0"/>
              <a:t> </a:t>
            </a:r>
            <a:r>
              <a:rPr lang="en-US" sz="2000" dirty="0"/>
              <a:t>through the process</a:t>
            </a:r>
            <a:endParaRPr lang="he-IL" sz="2000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408" y="1573114"/>
            <a:ext cx="3528392" cy="2570790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573114"/>
            <a:ext cx="3744096" cy="257079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289028"/>
            <a:ext cx="9014792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בדוגמא ניתן לראות </a:t>
            </a:r>
            <a:r>
              <a:rPr lang="en-US" dirty="0" smtClean="0"/>
              <a:t>FTA</a:t>
            </a:r>
            <a:r>
              <a:rPr lang="he-IL" dirty="0" smtClean="0"/>
              <a:t> של גורמים שונים המובלים לחישוב של ערך שגוי. הגורמים השונים הם:</a:t>
            </a:r>
          </a:p>
          <a:p>
            <a:pPr marL="800100" lvl="1" indent="-342900">
              <a:buFont typeface="+mj-lt"/>
              <a:buAutoNum type="arabicPeriod"/>
            </a:pPr>
            <a:r>
              <a:rPr lang="he-IL" dirty="0" smtClean="0"/>
              <a:t>שגיאה בנתונים</a:t>
            </a:r>
          </a:p>
          <a:p>
            <a:pPr marL="800100" lvl="1" indent="-342900">
              <a:buFont typeface="+mj-lt"/>
              <a:buAutoNum type="arabicPeriod"/>
            </a:pPr>
            <a:r>
              <a:rPr lang="he-IL" dirty="0" smtClean="0"/>
              <a:t>שגיאה בהזנת נתונים</a:t>
            </a:r>
          </a:p>
          <a:p>
            <a:pPr marL="800100" lvl="1" indent="-342900">
              <a:buFont typeface="+mj-lt"/>
              <a:buAutoNum type="arabicPeriod"/>
            </a:pPr>
            <a:r>
              <a:rPr lang="he-IL" dirty="0" smtClean="0"/>
              <a:t>שגיאת אלגוריתם חישוב</a:t>
            </a:r>
          </a:p>
          <a:p>
            <a:pPr marL="800100" lvl="1" indent="-342900">
              <a:buFont typeface="+mj-lt"/>
              <a:buAutoNum type="arabicPeriod"/>
            </a:pPr>
            <a:r>
              <a:rPr lang="he-IL" dirty="0" smtClean="0"/>
              <a:t>שגיאה במרשם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e-IL" dirty="0" smtClean="0"/>
              <a:t>בתרשים השמאלי ניתן לראות את אותו התהליך בתוספת בקרות איכות כאשר בכל צומת נדרש לבצע בקרה ואם השגיאה קיימם </a:t>
            </a:r>
            <a:r>
              <a:rPr lang="he-IL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וגם</a:t>
            </a:r>
            <a:r>
              <a:rPr lang="he-IL" dirty="0" smtClean="0"/>
              <a:t> בקרת האיכות לא מזהה את קיומה, רק אז מתקדמים במעלה העץ עד התרחשותה.</a:t>
            </a:r>
            <a:endParaRPr lang="he-IL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359632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Fault Tree Analysis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propagation of failure modes through the process</a:t>
            </a:r>
            <a:endParaRPr lang="he-IL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3657910" y="1570049"/>
            <a:ext cx="1694572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הצוות לא ידע שהמטופל לא יגיע לטיפול</a:t>
            </a:r>
            <a:endParaRPr lang="he-IL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5822150" y="3189724"/>
            <a:ext cx="199763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מזכירה שכחה להעביר את ההודעה</a:t>
            </a:r>
            <a:endParaRPr lang="he-IL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3462363" y="5279998"/>
            <a:ext cx="113319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רופא לא יידע את המזכירות</a:t>
            </a:r>
            <a:endParaRPr lang="he-IL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1817566" y="3189724"/>
            <a:ext cx="1553854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מזכירה לא ידעה שיש דחיה בטיפול</a:t>
            </a:r>
            <a:endParaRPr lang="he-IL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3511707" y="3189724"/>
            <a:ext cx="199763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מזכירה ידעה שיש דחיה בטיפול אבל במועד אחר</a:t>
            </a:r>
            <a:endParaRPr lang="he-IL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1834362" y="5279998"/>
            <a:ext cx="151326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רופא יידע מזכירה אך הייתה החלפת משמרת </a:t>
            </a:r>
            <a:endParaRPr lang="he-IL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179512" y="5279998"/>
            <a:ext cx="158526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he-IL" sz="1400" dirty="0" smtClean="0"/>
              <a:t>מזכירה לא העבירה את המידע למזכירה המחליפה </a:t>
            </a:r>
            <a:endParaRPr lang="he-IL" sz="1400" dirty="0"/>
          </a:p>
        </p:txBody>
      </p:sp>
      <p:cxnSp>
        <p:nvCxnSpPr>
          <p:cNvPr id="21" name="מחבר חץ ישר 20"/>
          <p:cNvCxnSpPr>
            <a:stCxn id="19" idx="0"/>
          </p:cNvCxnSpPr>
          <p:nvPr/>
        </p:nvCxnSpPr>
        <p:spPr>
          <a:xfrm flipV="1">
            <a:off x="972146" y="5033905"/>
            <a:ext cx="565281" cy="246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חץ ישר 22"/>
          <p:cNvCxnSpPr>
            <a:stCxn id="18" idx="0"/>
          </p:cNvCxnSpPr>
          <p:nvPr/>
        </p:nvCxnSpPr>
        <p:spPr>
          <a:xfrm flipH="1" flipV="1">
            <a:off x="2030809" y="5033905"/>
            <a:ext cx="560183" cy="246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תמונה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606" y="4499744"/>
            <a:ext cx="448203" cy="534161"/>
          </a:xfrm>
          <a:prstGeom prst="rect">
            <a:avLst/>
          </a:prstGeom>
        </p:spPr>
      </p:pic>
      <p:pic>
        <p:nvPicPr>
          <p:cNvPr id="46" name="תמונה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023" y="3907380"/>
            <a:ext cx="568939" cy="492228"/>
          </a:xfrm>
          <a:prstGeom prst="rect">
            <a:avLst/>
          </a:prstGeom>
        </p:spPr>
      </p:pic>
      <p:cxnSp>
        <p:nvCxnSpPr>
          <p:cNvPr id="48" name="מחבר חץ ישר 47"/>
          <p:cNvCxnSpPr>
            <a:stCxn id="46" idx="0"/>
            <a:endCxn id="8" idx="2"/>
          </p:cNvCxnSpPr>
          <p:nvPr/>
        </p:nvCxnSpPr>
        <p:spPr>
          <a:xfrm flipV="1">
            <a:off x="2594493" y="3712944"/>
            <a:ext cx="0" cy="194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מחבר מרפקי 49"/>
          <p:cNvCxnSpPr>
            <a:stCxn id="38" idx="0"/>
          </p:cNvCxnSpPr>
          <p:nvPr/>
        </p:nvCxnSpPr>
        <p:spPr>
          <a:xfrm rot="5400000" flipH="1" flipV="1">
            <a:off x="2008298" y="4198018"/>
            <a:ext cx="100136" cy="50331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מחבר מרפקי 51"/>
          <p:cNvCxnSpPr>
            <a:stCxn id="6" idx="0"/>
          </p:cNvCxnSpPr>
          <p:nvPr/>
        </p:nvCxnSpPr>
        <p:spPr>
          <a:xfrm rot="16200000" flipV="1">
            <a:off x="3013766" y="4264804"/>
            <a:ext cx="880390" cy="11499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תמונה 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6056" y="2464873"/>
            <a:ext cx="568939" cy="492228"/>
          </a:xfrm>
          <a:prstGeom prst="rect">
            <a:avLst/>
          </a:prstGeom>
        </p:spPr>
      </p:pic>
      <p:cxnSp>
        <p:nvCxnSpPr>
          <p:cNvPr id="56" name="מחבר חץ ישר 55"/>
          <p:cNvCxnSpPr>
            <a:stCxn id="54" idx="0"/>
            <a:endCxn id="4" idx="2"/>
          </p:cNvCxnSpPr>
          <p:nvPr/>
        </p:nvCxnSpPr>
        <p:spPr>
          <a:xfrm flipH="1" flipV="1">
            <a:off x="4505196" y="2308713"/>
            <a:ext cx="5330" cy="156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מחבר מרפקי 57"/>
          <p:cNvCxnSpPr>
            <a:stCxn id="8" idx="0"/>
          </p:cNvCxnSpPr>
          <p:nvPr/>
        </p:nvCxnSpPr>
        <p:spPr>
          <a:xfrm rot="5400000" flipH="1" flipV="1">
            <a:off x="3286241" y="2249908"/>
            <a:ext cx="248068" cy="16315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מרפקי 59"/>
          <p:cNvCxnSpPr>
            <a:stCxn id="5" idx="0"/>
          </p:cNvCxnSpPr>
          <p:nvPr/>
        </p:nvCxnSpPr>
        <p:spPr>
          <a:xfrm rot="16200000" flipV="1">
            <a:off x="5686638" y="2055393"/>
            <a:ext cx="239358" cy="202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מחבר חץ ישר 63"/>
          <p:cNvCxnSpPr>
            <a:stCxn id="17" idx="0"/>
            <a:endCxn id="54" idx="2"/>
          </p:cNvCxnSpPr>
          <p:nvPr/>
        </p:nvCxnSpPr>
        <p:spPr>
          <a:xfrm flipV="1">
            <a:off x="4510525" y="2957101"/>
            <a:ext cx="1" cy="232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תמונה 66"/>
          <p:cNvPicPr>
            <a:picLocks noChangeAspect="1"/>
          </p:cNvPicPr>
          <p:nvPr/>
        </p:nvPicPr>
        <p:blipFill rotWithShape="1">
          <a:blip r:embed="rId4"/>
          <a:srcRect l="38734"/>
          <a:stretch/>
        </p:blipFill>
        <p:spPr>
          <a:xfrm>
            <a:off x="5805765" y="1571593"/>
            <a:ext cx="2847318" cy="73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1296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כתיבת נהלים והטמעה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-6081" y="1268760"/>
            <a:ext cx="8686800" cy="2044824"/>
          </a:xfrm>
        </p:spPr>
        <p:txBody>
          <a:bodyPr>
            <a:normAutofit fontScale="92500" lnSpcReduction="20000"/>
          </a:bodyPr>
          <a:lstStyle/>
          <a:p>
            <a:r>
              <a:rPr lang="he-IL" sz="2400" dirty="0" smtClean="0"/>
              <a:t>"נוהל שינוי תכנון לפני ובמהלך טיפול"</a:t>
            </a:r>
          </a:p>
          <a:p>
            <a:r>
              <a:rPr lang="he-IL" sz="2400" dirty="0" smtClean="0"/>
              <a:t>"מתן טיפול למטופלים דחופים </a:t>
            </a:r>
            <a:r>
              <a:rPr lang="he-IL" sz="2400" dirty="0" err="1" smtClean="0"/>
              <a:t>ופליאטיביים</a:t>
            </a:r>
            <a:r>
              <a:rPr lang="he-IL" sz="2400" dirty="0" smtClean="0"/>
              <a:t>"</a:t>
            </a:r>
          </a:p>
          <a:p>
            <a:r>
              <a:rPr lang="he-IL" sz="2400" dirty="0" smtClean="0"/>
              <a:t>בכתיבת נוהל חשוב</a:t>
            </a:r>
          </a:p>
          <a:p>
            <a:pPr lvl="1"/>
            <a:r>
              <a:rPr lang="he-IL" sz="2000" dirty="0" smtClean="0"/>
              <a:t>להתייחס לכל התהליך מתחילתו עד סופו</a:t>
            </a:r>
          </a:p>
          <a:p>
            <a:pPr lvl="1"/>
            <a:r>
              <a:rPr lang="he-IL" sz="2000" dirty="0" smtClean="0"/>
              <a:t>להגדיר </a:t>
            </a:r>
            <a:r>
              <a:rPr lang="he-IL" sz="2000" dirty="0"/>
              <a:t>תחומי </a:t>
            </a:r>
            <a:r>
              <a:rPr lang="he-IL" sz="2000" dirty="0" smtClean="0"/>
              <a:t>אחריות</a:t>
            </a:r>
          </a:p>
          <a:p>
            <a:pPr lvl="1"/>
            <a:r>
              <a:rPr lang="he-IL" sz="2000" dirty="0" smtClean="0"/>
              <a:t>לבנות רשימת הנחיות פעולה לביצוע</a:t>
            </a:r>
            <a:endParaRPr lang="he-IL" sz="2000" dirty="0"/>
          </a:p>
          <a:p>
            <a:endParaRPr lang="he-IL" sz="2400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3177514"/>
            <a:ext cx="2592288" cy="3621115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504" y="1268759"/>
            <a:ext cx="3168352" cy="467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5524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כתיבת נהלים והטמעה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הטמעה של נהלים ניתן לעשות באמצעות:</a:t>
            </a:r>
          </a:p>
          <a:p>
            <a:pPr lvl="1"/>
            <a:r>
              <a:rPr lang="he-IL" dirty="0" smtClean="0"/>
              <a:t>הדרכות ותרגולים.</a:t>
            </a:r>
          </a:p>
          <a:p>
            <a:pPr lvl="1"/>
            <a:r>
              <a:rPr lang="he-IL" dirty="0" smtClean="0"/>
              <a:t>וידוא הבנה.</a:t>
            </a:r>
          </a:p>
          <a:p>
            <a:pPr lvl="1"/>
            <a:r>
              <a:rPr lang="he-IL" dirty="0" smtClean="0"/>
              <a:t>אכיפה ובקרות על ביצוע.</a:t>
            </a:r>
          </a:p>
          <a:p>
            <a:r>
              <a:rPr lang="he-IL" dirty="0" smtClean="0"/>
              <a:t>חשוב ביותר תמיכה של הדרג הניהולי לצורך הטמעה מוצלחת של תהליך או שינוי של אופן עבודה.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822193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סיכום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12568"/>
          </a:xfrm>
        </p:spPr>
        <p:txBody>
          <a:bodyPr>
            <a:normAutofit fontScale="85000" lnSpcReduction="20000"/>
          </a:bodyPr>
          <a:lstStyle/>
          <a:p>
            <a:r>
              <a:rPr lang="he-IL" dirty="0" smtClean="0"/>
              <a:t>בגישת ניהול סיכונים ע"פ </a:t>
            </a:r>
            <a:r>
              <a:rPr lang="en-US" dirty="0" smtClean="0"/>
              <a:t>TG-100</a:t>
            </a:r>
            <a:r>
              <a:rPr lang="he-IL" dirty="0" smtClean="0"/>
              <a:t> מספר שלבים: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בניה של עץ תהליך </a:t>
            </a:r>
            <a:r>
              <a:rPr lang="en-US" dirty="0" smtClean="0"/>
              <a:t>Process Tree</a:t>
            </a:r>
            <a:r>
              <a:rPr lang="he-IL" dirty="0" smtClean="0"/>
              <a:t>.</a:t>
            </a: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אפיון נקודות כשל אפשריות </a:t>
            </a:r>
            <a:r>
              <a:rPr lang="en-US" dirty="0" smtClean="0"/>
              <a:t>FMEA</a:t>
            </a:r>
            <a:r>
              <a:rPr lang="he-IL" dirty="0" smtClean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ניתוח של הכשלים האפשריים </a:t>
            </a:r>
            <a:r>
              <a:rPr lang="en-US" dirty="0" smtClean="0"/>
              <a:t>FTA</a:t>
            </a:r>
            <a:r>
              <a:rPr lang="he-IL" dirty="0" smtClean="0"/>
              <a:t>.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הטמעה של שינויים ושיפור האיכות </a:t>
            </a:r>
            <a:r>
              <a:rPr lang="en-US" dirty="0" smtClean="0"/>
              <a:t>PDCA</a:t>
            </a:r>
            <a:r>
              <a:rPr lang="he-IL" dirty="0" smtClean="0"/>
              <a:t>.</a:t>
            </a:r>
          </a:p>
          <a:p>
            <a:pPr marL="514350" indent="-457200"/>
            <a:r>
              <a:rPr lang="he-IL" dirty="0" smtClean="0"/>
              <a:t>ביצוע אנליזות תהליכיות פרואקטיביות מאפשר לשפר את מכלול תהליכי העבודה ביחידה. בכך לשפר את איכות השירות הניתן למטופלים ואת הבטיחות של המטופלים והצוות בפעולות המבוצעות ביחידה.</a:t>
            </a:r>
          </a:p>
          <a:p>
            <a:r>
              <a:rPr lang="he-IL" dirty="0"/>
              <a:t>בטיפול קרינתי קיים צורך מתמיד ללמוד ולשפר את איכות השירות באמצעות </a:t>
            </a:r>
            <a:r>
              <a:rPr lang="he-IL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ניהול איכות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(QM)</a:t>
            </a:r>
            <a:r>
              <a:rPr lang="he-IL" dirty="0"/>
              <a:t>.</a:t>
            </a:r>
          </a:p>
          <a:p>
            <a:r>
              <a:rPr lang="he-IL" dirty="0"/>
              <a:t>יש לבצע גם ניהול סיכונים </a:t>
            </a:r>
            <a:r>
              <a:rPr lang="he-IL" dirty="0" err="1"/>
              <a:t>ריאקטיבי</a:t>
            </a:r>
            <a:r>
              <a:rPr lang="he-IL" dirty="0"/>
              <a:t> וגם ניהול סיכונים פרואקטיבי.</a:t>
            </a:r>
          </a:p>
          <a:p>
            <a:pPr marL="514350" indent="-45720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459534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כותרת 4"/>
          <p:cNvSpPr>
            <a:spLocks noGrp="1"/>
          </p:cNvSpPr>
          <p:nvPr>
            <p:ph type="ctrTitle"/>
          </p:nvPr>
        </p:nvSpPr>
        <p:spPr/>
        <p:txBody>
          <a:bodyPr rtlCol="1">
            <a:normAutofit/>
          </a:bodyPr>
          <a:lstStyle/>
          <a:p>
            <a:pPr fontAlgn="auto">
              <a:spcAft>
                <a:spcPct val="0"/>
              </a:spcAft>
              <a:defRPr/>
            </a:pPr>
            <a:r>
              <a:rPr lang="he-IL" sz="7200" b="1" i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תודה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תרגול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קבוצות של 3</a:t>
            </a:r>
          </a:p>
          <a:p>
            <a:r>
              <a:rPr lang="he-IL" dirty="0" smtClean="0"/>
              <a:t>צרו עץ תהליך של אחד מהאפשרויות:</a:t>
            </a:r>
          </a:p>
          <a:p>
            <a:pPr lvl="1"/>
            <a:r>
              <a:rPr lang="he-IL" dirty="0" smtClean="0"/>
              <a:t>מסיבת הפתעה לבן/בת זוג</a:t>
            </a:r>
          </a:p>
          <a:p>
            <a:pPr lvl="1"/>
            <a:r>
              <a:rPr lang="he-IL" dirty="0" smtClean="0"/>
              <a:t>כתיבה של מאמר</a:t>
            </a:r>
          </a:p>
          <a:p>
            <a:pPr lvl="1"/>
            <a:r>
              <a:rPr lang="he-IL" dirty="0" smtClean="0"/>
              <a:t>ביצוע סריקת </a:t>
            </a:r>
            <a:r>
              <a:rPr lang="en-US" dirty="0" smtClean="0"/>
              <a:t>CT</a:t>
            </a:r>
            <a:endParaRPr lang="he-IL" dirty="0" smtClean="0"/>
          </a:p>
          <a:p>
            <a:pPr lvl="1"/>
            <a:r>
              <a:rPr lang="he-IL" dirty="0" smtClean="0"/>
              <a:t>בחרו תהליך בעצמכם _________</a:t>
            </a:r>
          </a:p>
          <a:p>
            <a:r>
              <a:rPr lang="he-IL" dirty="0" smtClean="0"/>
              <a:t>בחרו באחד מהשלבים בתהליך ובצעו </a:t>
            </a:r>
            <a:r>
              <a:rPr lang="en-US" dirty="0" smtClean="0"/>
              <a:t>FMEA</a:t>
            </a:r>
            <a:endParaRPr lang="he-IL" dirty="0" smtClean="0"/>
          </a:p>
          <a:p>
            <a:r>
              <a:rPr lang="he-IL" dirty="0" smtClean="0"/>
              <a:t>בחרו באחד מהכשלים של ה </a:t>
            </a:r>
            <a:r>
              <a:rPr lang="en-US" dirty="0" smtClean="0"/>
              <a:t>FMEA</a:t>
            </a:r>
            <a:r>
              <a:rPr lang="he-IL" dirty="0" smtClean="0"/>
              <a:t> ובצעו </a:t>
            </a:r>
            <a:r>
              <a:rPr lang="en-US" dirty="0" smtClean="0"/>
              <a:t>FTA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866395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10.14"/>
  <p:tag name="AS_TITLE" val="Aspose.Slides for .NET 4.0"/>
  <p:tag name="AS_VERSION" val="22.10"/>
</p:tagLst>
</file>

<file path=ppt/theme/theme1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Times New Roman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3396</TotalTime>
  <Words>1237</Words>
  <Application>Microsoft Office PowerPoint</Application>
  <PresentationFormat>‫הצגה על המסך (4:3)</PresentationFormat>
  <Paragraphs>177</Paragraphs>
  <Slides>23</Slides>
  <Notes>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 Math</vt:lpstr>
      <vt:lpstr>Times New Roman</vt:lpstr>
      <vt:lpstr>1_ערכת נושא Office</vt:lpstr>
      <vt:lpstr>הגנת המטופל ברדיותרפיה  ניהול סיכונים פרואקטיבי </vt:lpstr>
      <vt:lpstr>תשתית ארגונית</vt:lpstr>
      <vt:lpstr>ניהול סיכונים פרואקטיבי</vt:lpstr>
      <vt:lpstr>גישת ניהול סיכונים פרואקטיבי לפי TG-100  ניהול האיכות (QM)</vt:lpstr>
      <vt:lpstr>עץ תהליך Process Tree Process Tree = describe and understand each step in the process</vt:lpstr>
      <vt:lpstr>עץ תהליך Process Tree</vt:lpstr>
      <vt:lpstr>עץ תהליך Process Tree</vt:lpstr>
      <vt:lpstr>קבלה וטיפול של מטופלים דחופים</vt:lpstr>
      <vt:lpstr>קבלה וטיפול של מטופלים דחופים</vt:lpstr>
      <vt:lpstr>קבלה וטיפול של מטופלים דחופים</vt:lpstr>
      <vt:lpstr>Failure Mode and Effect Analysis (FMEA)</vt:lpstr>
      <vt:lpstr>FMEA</vt:lpstr>
      <vt:lpstr>HFMEA בנושא תקשורת מרכז רפואי רבין</vt:lpstr>
      <vt:lpstr>HFMEA בנושא תקשורת מרכז רפואי רבין</vt:lpstr>
      <vt:lpstr>HFMEA בנושא תקשורת מרכז רפואי רבין</vt:lpstr>
      <vt:lpstr>Fault Tree Analysis propagation of failure modes through the process</vt:lpstr>
      <vt:lpstr>Fault Tree Analysis propagation of failure modes through the process</vt:lpstr>
      <vt:lpstr>Fault Tree Analysis propagation of failure modes through the process</vt:lpstr>
      <vt:lpstr>כתיבת נהלים והטמעה</vt:lpstr>
      <vt:lpstr>כתיבת נהלים והטמעה</vt:lpstr>
      <vt:lpstr>סיכום</vt:lpstr>
      <vt:lpstr>תודה</vt:lpstr>
      <vt:lpstr>תרגול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הגנת המטופל ברדיותרפיה – ניהול סיכונים</dc:title>
  <dc:creator>רן בן חור</dc:creator>
  <cp:lastModifiedBy>רן בן חור</cp:lastModifiedBy>
  <cp:revision>89</cp:revision>
  <cp:lastPrinted>2017-07-18T12:54:31Z</cp:lastPrinted>
  <dcterms:created xsi:type="dcterms:W3CDTF">2013-09-11T08:50:57Z</dcterms:created>
  <dcterms:modified xsi:type="dcterms:W3CDTF">2025-01-09T00:45:57Z</dcterms:modified>
</cp:coreProperties>
</file>