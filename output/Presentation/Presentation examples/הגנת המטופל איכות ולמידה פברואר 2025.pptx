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75" r:id="rId1"/>
  </p:sldMasterIdLst>
  <p:notesMasterIdLst>
    <p:notesMasterId r:id="rId18"/>
  </p:notesMasterIdLst>
  <p:sldIdLst>
    <p:sldId id="256" r:id="rId2"/>
    <p:sldId id="330" r:id="rId3"/>
    <p:sldId id="331" r:id="rId4"/>
    <p:sldId id="332" r:id="rId5"/>
    <p:sldId id="333" r:id="rId6"/>
    <p:sldId id="292" r:id="rId7"/>
    <p:sldId id="326" r:id="rId8"/>
    <p:sldId id="321" r:id="rId9"/>
    <p:sldId id="328" r:id="rId10"/>
    <p:sldId id="322" r:id="rId11"/>
    <p:sldId id="323" r:id="rId12"/>
    <p:sldId id="324" r:id="rId13"/>
    <p:sldId id="325" r:id="rId14"/>
    <p:sldId id="329" r:id="rId15"/>
    <p:sldId id="327" r:id="rId16"/>
    <p:sldId id="287" r:id="rId17"/>
  </p:sldIdLst>
  <p:sldSz cx="9144000" cy="6858000" type="screen4x3"/>
  <p:notesSz cx="6797675" cy="9928225"/>
  <p:defaultTextStyle>
    <a:defPPr>
      <a:defRPr lang="he-IL"/>
    </a:defPPr>
    <a:lvl1pPr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1pPr>
    <a:lvl2pPr marL="4572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2pPr>
    <a:lvl3pPr marL="9144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3pPr>
    <a:lvl4pPr marL="13716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4pPr>
    <a:lvl5pPr marL="1828800" algn="r" rtl="1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סגנון ביניים 2 - הדגשה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84419" autoAdjust="0"/>
    <p:restoredTop sz="94662" autoAdjust="0"/>
  </p:normalViewPr>
  <p:slideViewPr>
    <p:cSldViewPr>
      <p:cViewPr varScale="1">
        <p:scale>
          <a:sx n="109" d="100"/>
          <a:sy n="109" d="100"/>
        </p:scale>
        <p:origin x="1680" y="1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9084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עליונה 1"/>
          <p:cNvSpPr>
            <a:spLocks noGrp="1"/>
          </p:cNvSpPr>
          <p:nvPr>
            <p:ph type="hdr" sz="quarter"/>
          </p:nvPr>
        </p:nvSpPr>
        <p:spPr>
          <a:xfrm>
            <a:off x="3852016" y="0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idx="1"/>
          </p:nvPr>
        </p:nvSpPr>
        <p:spPr>
          <a:xfrm>
            <a:off x="1574" y="0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8C898F98-5BF9-4A32-BEEF-0C5D77444ADC}" type="datetimeFigureOut">
              <a:rPr lang="he-IL"/>
              <a:pPr>
                <a:defRPr/>
              </a:pPr>
              <a:t>כ"ה/שבט/תשפ"ה</a:t>
            </a:fld>
            <a:endParaRPr lang="he-IL"/>
          </a:p>
        </p:txBody>
      </p:sp>
      <p:sp>
        <p:nvSpPr>
          <p:cNvPr id="4" name="מציין מיקום של תמונת שקופית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61" tIns="48331" rIns="96661" bIns="48331" rtlCol="1" anchor="ctr"/>
          <a:lstStyle/>
          <a:p>
            <a:pPr lvl="0"/>
            <a:endParaRPr lang="he-IL" noProof="0"/>
          </a:p>
        </p:txBody>
      </p:sp>
      <p:sp>
        <p:nvSpPr>
          <p:cNvPr id="5" name="מציין מיקום של הערות 4"/>
          <p:cNvSpPr>
            <a:spLocks noGrp="1"/>
          </p:cNvSpPr>
          <p:nvPr>
            <p:ph type="body" sz="quarter" idx="3"/>
          </p:nvPr>
        </p:nvSpPr>
        <p:spPr>
          <a:xfrm>
            <a:off x="679768" y="4715907"/>
            <a:ext cx="5438140" cy="4467701"/>
          </a:xfrm>
          <a:prstGeom prst="rect">
            <a:avLst/>
          </a:prstGeom>
        </p:spPr>
        <p:txBody>
          <a:bodyPr vert="horz" lIns="96661" tIns="48331" rIns="96661" bIns="48331" rtlCol="1"/>
          <a:lstStyle/>
          <a:p>
            <a:pPr lvl="0"/>
            <a:r>
              <a:rPr lang="he-IL" noProof="0" smtClean="0"/>
              <a:t>לחץ כדי לערוך סגנונות טקסט של תבנית בסיס</a:t>
            </a:r>
          </a:p>
          <a:p>
            <a:pPr lvl="1"/>
            <a:r>
              <a:rPr lang="he-IL" noProof="0" smtClean="0"/>
              <a:t>רמה שנייה</a:t>
            </a:r>
          </a:p>
          <a:p>
            <a:pPr lvl="2"/>
            <a:r>
              <a:rPr lang="he-IL" noProof="0" smtClean="0"/>
              <a:t>רמה שלישית</a:t>
            </a:r>
          </a:p>
          <a:p>
            <a:pPr lvl="3"/>
            <a:r>
              <a:rPr lang="he-IL" noProof="0" smtClean="0"/>
              <a:t>רמה רביעית</a:t>
            </a:r>
          </a:p>
          <a:p>
            <a:pPr lvl="4"/>
            <a:r>
              <a:rPr lang="he-IL" noProof="0" smtClean="0"/>
              <a:t>רמה חמישית</a:t>
            </a:r>
            <a:endParaRPr lang="he-IL" noProof="0"/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4"/>
          </p:nvPr>
        </p:nvSpPr>
        <p:spPr>
          <a:xfrm>
            <a:off x="3852016" y="9430091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sz="13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he-IL"/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5"/>
          </p:nvPr>
        </p:nvSpPr>
        <p:spPr>
          <a:xfrm>
            <a:off x="1574" y="9430091"/>
            <a:ext cx="2945659" cy="496411"/>
          </a:xfrm>
          <a:prstGeom prst="rect">
            <a:avLst/>
          </a:prstGeom>
        </p:spPr>
        <p:txBody>
          <a:bodyPr vert="horz" lIns="96661" tIns="48331" rIns="96661" bIns="48331" rtlCol="1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300" smtClean="0">
                <a:latin typeface="+mn-lt"/>
                <a:cs typeface="+mn-cs"/>
              </a:defRPr>
            </a:lvl1pPr>
          </a:lstStyle>
          <a:p>
            <a:pPr>
              <a:defRPr/>
            </a:pPr>
            <a:fld id="{DBD53D08-253B-4431-A8E7-910043DF1C8F}" type="slidenum">
              <a:rPr lang="he-IL"/>
              <a:pPr>
                <a:defRPr/>
              </a:pPr>
              <a:t>‹#›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28375317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r" rtl="1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מונת שקופית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מציין מיקום של הערות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he-IL" dirty="0"/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BD53D08-253B-4431-A8E7-910043DF1C8F}" type="slidenum">
              <a:rPr lang="he-IL" smtClean="0"/>
              <a:pPr>
                <a:defRPr/>
              </a:pPr>
              <a:t>2</a:t>
            </a:fld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558708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e-IL" smtClean="0"/>
              <a:t>לחץ כדי לערוך סגנון כותרת משנה של תבנית בסיס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379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152597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r">
              <a:defRPr sz="4000" b="1" cap="all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12230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156321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4" name="מציין מיקום תוכן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5" name="מציין מיקום טקסט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6" name="מציין מיקום תוכן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7" name="מציין מיקום של תאריך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מציין מיקום של כותרת תחתונה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מציין מיקום של מספר שקופית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4832156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אריך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כותרת תחתונה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מספר שקופית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611474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מציין מיקום של כותרת תחתונה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מציין מיקום של מספר שקופית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8030078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1695477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r">
              <a:defRPr sz="2000" b="1"/>
            </a:lvl1pPr>
          </a:lstStyle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תמונה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e-IL"/>
          </a:p>
        </p:txBody>
      </p:sp>
      <p:sp>
        <p:nvSpPr>
          <p:cNvPr id="4" name="מציין מיקום טקסט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e-IL" smtClean="0"/>
              <a:t>לחץ כדי לערוך סגנונות טקסט של תבנית בסיס</a:t>
            </a:r>
          </a:p>
        </p:txBody>
      </p:sp>
      <p:sp>
        <p:nvSpPr>
          <p:cNvPr id="5" name="מציין מיקום של תאריך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כותרת תחתונה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מציין מיקום של מספר שקופית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857919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393911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של טקסט אנכי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he-IL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57346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 cstate="print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 smtClean="0"/>
              <a:t>לחץ כדי לערוך סגנון כותרת של תבנית בסיס</a:t>
            </a:r>
            <a:endParaRPr lang="he-IL"/>
          </a:p>
        </p:txBody>
      </p:sp>
      <p:sp>
        <p:nvSpPr>
          <p:cNvPr id="3" name="מציין מיקום טקסט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 smtClean="0"/>
              <a:t>לחץ כדי לערוך סגנונות טקסט של תבנית בסיס</a:t>
            </a:r>
          </a:p>
          <a:p>
            <a:pPr lvl="1"/>
            <a:r>
              <a:rPr lang="he-IL" smtClean="0"/>
              <a:t>רמה שנייה</a:t>
            </a:r>
          </a:p>
          <a:p>
            <a:pPr lvl="2"/>
            <a:r>
              <a:rPr lang="he-IL" smtClean="0"/>
              <a:t>רמה שלישית</a:t>
            </a:r>
          </a:p>
          <a:p>
            <a:pPr lvl="3"/>
            <a:r>
              <a:rPr lang="he-IL" smtClean="0"/>
              <a:t>רמה רביעית</a:t>
            </a:r>
          </a:p>
          <a:p>
            <a:pPr lvl="4"/>
            <a:r>
              <a:rPr lang="he-IL" smtClean="0"/>
              <a:t>רמה חמישית</a:t>
            </a:r>
            <a:endParaRPr lang="he-IL"/>
          </a:p>
        </p:txBody>
      </p:sp>
      <p:sp>
        <p:nvSpPr>
          <p:cNvPr id="4" name="מציין מיקום של תאריך 3"/>
          <p:cNvSpPr>
            <a:spLocks noGrp="1"/>
          </p:cNvSpPr>
          <p:nvPr>
            <p:ph type="dt" sz="half" idx="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597C1799-D6AC-4E62-AC21-BBDC9E4DE503}" type="datetimeFigureOut">
              <a:rPr lang="he-IL" smtClean="0">
                <a:solidFill>
                  <a:prstClr val="black">
                    <a:tint val="75000"/>
                  </a:prstClr>
                </a:solidFill>
                <a:latin typeface="Calibri"/>
                <a:cs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כ"ה/שבט/תשפ"ה</a:t>
            </a:fld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  <p:sp>
        <p:nvSpPr>
          <p:cNvPr id="5" name="מציין מיקום של כותרת תחתונה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  <p:sp>
        <p:nvSpPr>
          <p:cNvPr id="6" name="מציין מיקום של מספר שקופית 5"/>
          <p:cNvSpPr>
            <a:spLocks noGrp="1"/>
          </p:cNvSpPr>
          <p:nvPr>
            <p:ph type="sldNum" sz="quarter" idx="4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fontAlgn="auto">
              <a:spcBef>
                <a:spcPts val="0"/>
              </a:spcBef>
              <a:spcAft>
                <a:spcPts val="0"/>
              </a:spcAft>
            </a:pPr>
            <a:fld id="{F8AFF220-52E7-481C-9183-B084A850DE92}" type="slidenum">
              <a:rPr lang="he-IL" smtClean="0">
                <a:solidFill>
                  <a:prstClr val="black">
                    <a:tint val="75000"/>
                  </a:prstClr>
                </a:solidFill>
                <a:latin typeface="Calibri"/>
                <a:cs typeface="Arial"/>
              </a:rPr>
              <a:pPr fontAlgn="auto">
                <a:spcBef>
                  <a:spcPts val="0"/>
                </a:spcBef>
                <a:spcAft>
                  <a:spcPts val="0"/>
                </a:spcAft>
              </a:pPr>
              <a:t>‹#›</a:t>
            </a:fld>
            <a:endParaRPr lang="he-IL">
              <a:solidFill>
                <a:prstClr val="black">
                  <a:tint val="75000"/>
                </a:prstClr>
              </a:solidFill>
              <a:latin typeface="Calibri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103651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677" r:id="rId2"/>
    <p:sldLayoutId id="2147483678" r:id="rId3"/>
    <p:sldLayoutId id="2147483679" r:id="rId4"/>
    <p:sldLayoutId id="2147483680" r:id="rId5"/>
    <p:sldLayoutId id="2147483681" r:id="rId6"/>
    <p:sldLayoutId id="2147483682" r:id="rId7"/>
    <p:sldLayoutId id="2147483683" r:id="rId8"/>
    <p:sldLayoutId id="2147483684" r:id="rId9"/>
    <p:sldLayoutId id="2147483685" r:id="rId10"/>
    <p:sldLayoutId id="2147483686" r:id="rId11"/>
  </p:sldLayoutIdLst>
  <p:txStyles>
    <p:titleStyle>
      <a:lvl1pPr algn="ctr" defTabSz="914400" rtl="1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r" defTabSz="914400" rtl="1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r" defTabSz="914400" rtl="1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e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כותרת 1"/>
          <p:cNvSpPr>
            <a:spLocks noGrp="1"/>
          </p:cNvSpPr>
          <p:nvPr>
            <p:ph type="ctrTitle"/>
          </p:nvPr>
        </p:nvSpPr>
        <p:spPr>
          <a:xfrm>
            <a:off x="685800" y="1433513"/>
            <a:ext cx="7772400" cy="1470025"/>
          </a:xfrm>
        </p:spPr>
        <p:txBody>
          <a:bodyPr/>
          <a:lstStyle/>
          <a:p>
            <a:r>
              <a:rPr lang="he-IL" altLang="en-US" dirty="0"/>
              <a:t>הגנת המטופל איכות ולמידה ברדיותרפיה</a:t>
            </a:r>
            <a:endParaRPr lang="he-IL" altLang="en-US" dirty="0" smtClean="0"/>
          </a:p>
        </p:txBody>
      </p:sp>
      <p:sp>
        <p:nvSpPr>
          <p:cNvPr id="3" name="כותרת משנה 2"/>
          <p:cNvSpPr>
            <a:spLocks noGrp="1"/>
          </p:cNvSpPr>
          <p:nvPr>
            <p:ph type="subTitle" idx="1"/>
          </p:nvPr>
        </p:nvSpPr>
        <p:spPr>
          <a:xfrm>
            <a:off x="1371600" y="3189288"/>
            <a:ext cx="6400800" cy="1752600"/>
          </a:xfrm>
        </p:spPr>
        <p:txBody>
          <a:bodyPr rtlCol="1">
            <a:normAutofit/>
          </a:bodyPr>
          <a:lstStyle/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e-IL" dirty="0" smtClean="0"/>
              <a:t>רן בן חור</a:t>
            </a:r>
          </a:p>
          <a:p>
            <a:pPr fontAlgn="auto">
              <a:spcAft>
                <a:spcPts val="0"/>
              </a:spcAft>
              <a:buFont typeface="Arial" pitchFamily="34" charset="0"/>
              <a:buNone/>
              <a:defRPr/>
            </a:pPr>
            <a:r>
              <a:rPr lang="he-IL" dirty="0" smtClean="0"/>
              <a:t>ינואר 2025</a:t>
            </a:r>
            <a:endParaRPr lang="he-IL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מקרה מספר 678 – תיעוד לא תקין</a:t>
            </a:r>
            <a:endParaRPr lang="he-IL" dirty="0"/>
          </a:p>
        </p:txBody>
      </p:sp>
      <p:graphicFrame>
        <p:nvGraphicFramePr>
          <p:cNvPr id="7" name="מציין מיקום תוכן 6"/>
          <p:cNvGraphicFramePr>
            <a:graphicFrameLocks noGrp="1"/>
          </p:cNvGraphicFramePr>
          <p:nvPr>
            <p:ph idx="1"/>
            <p:extLst/>
          </p:nvPr>
        </p:nvGraphicFramePr>
        <p:xfrm>
          <a:off x="2590800" y="1412776"/>
          <a:ext cx="6096000" cy="2021840"/>
        </p:xfrm>
        <a:graphic>
          <a:graphicData uri="http://schemas.openxmlformats.org/drawingml/2006/table">
            <a:tbl>
              <a:tblPr rtl="1" firstCol="1" bandRow="1">
                <a:tableStyleId>{5C22544A-7EE6-4342-B048-85BDC9FD1C3A}</a:tableStyleId>
              </a:tblPr>
              <a:tblGrid>
                <a:gridCol w="1555940">
                  <a:extLst>
                    <a:ext uri="{9D8B030D-6E8A-4147-A177-3AD203B41FA5}">
                      <a16:colId xmlns:a16="http://schemas.microsoft.com/office/drawing/2014/main" val="3762763438"/>
                    </a:ext>
                  </a:extLst>
                </a:gridCol>
                <a:gridCol w="4540060">
                  <a:extLst>
                    <a:ext uri="{9D8B030D-6E8A-4147-A177-3AD203B41FA5}">
                      <a16:colId xmlns:a16="http://schemas.microsoft.com/office/drawing/2014/main" val="370478183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מספר סידורי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rtl="1"/>
                      <a:r>
                        <a:rPr lang="he-IL" dirty="0" smtClean="0"/>
                        <a:t>678</a:t>
                      </a:r>
                      <a:endParaRPr lang="he-IL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203043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מילון מונחים</a:t>
                      </a:r>
                      <a:endParaRPr lang="en-US" sz="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תיעוד לא תקין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2193716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תקציר מקרה</a:t>
                      </a:r>
                      <a:endParaRPr lang="en-US" sz="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חוסר עקביות בשם המטרה. </a:t>
                      </a:r>
                      <a:r>
                        <a:rPr lang="he-IL" sz="1800" dirty="0" err="1" smtClean="0">
                          <a:effectLst/>
                        </a:rPr>
                        <a:t>בקמליון</a:t>
                      </a:r>
                      <a:r>
                        <a:rPr lang="he-IL" sz="1800" dirty="0" smtClean="0">
                          <a:effectLst/>
                        </a:rPr>
                        <a:t> כתוב </a:t>
                      </a:r>
                      <a:r>
                        <a:rPr lang="en-US" sz="1800" dirty="0" smtClean="0">
                          <a:effectLst/>
                        </a:rPr>
                        <a:t>C2</a:t>
                      </a:r>
                      <a:r>
                        <a:rPr lang="he-IL" sz="1800" dirty="0" smtClean="0">
                          <a:effectLst/>
                        </a:rPr>
                        <a:t> שם ה </a:t>
                      </a:r>
                      <a:r>
                        <a:rPr lang="en-US" sz="1800" dirty="0" smtClean="0">
                          <a:effectLst/>
                        </a:rPr>
                        <a:t>PTV C2-C6</a:t>
                      </a:r>
                      <a:r>
                        <a:rPr lang="he-IL" sz="1800" dirty="0" smtClean="0">
                          <a:effectLst/>
                        </a:rPr>
                        <a:t> בפועל מקרינים </a:t>
                      </a:r>
                      <a:r>
                        <a:rPr lang="en-US" sz="1800" dirty="0" smtClean="0">
                          <a:effectLst/>
                        </a:rPr>
                        <a:t>C1-C7</a:t>
                      </a:r>
                      <a:r>
                        <a:rPr lang="he-IL" sz="1800" dirty="0" smtClean="0">
                          <a:effectLst/>
                        </a:rPr>
                        <a:t>.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96958646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מסקנות ישיבה</a:t>
                      </a:r>
                      <a:endParaRPr lang="en-US" sz="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r" defTabSz="914400" rtl="1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he-IL" sz="1800" dirty="0" smtClean="0">
                          <a:effectLst/>
                        </a:rPr>
                        <a:t>השם של ה </a:t>
                      </a:r>
                      <a:r>
                        <a:rPr lang="en-US" sz="1800" dirty="0" smtClean="0">
                          <a:effectLst/>
                        </a:rPr>
                        <a:t>PTV</a:t>
                      </a:r>
                      <a:r>
                        <a:rPr lang="he-IL" sz="1800" dirty="0" smtClean="0">
                          <a:effectLst/>
                        </a:rPr>
                        <a:t> צריך להיות בעל משמעות וכתוב זהה בכל המקומות.</a:t>
                      </a:r>
                      <a:endParaRPr lang="en-US" sz="1800" dirty="0" smtClean="0">
                        <a:effectLst/>
                        <a:latin typeface="Times New Roman" panose="02020603050405020304" pitchFamily="18" charset="0"/>
                        <a:ea typeface="Times New Roman" panose="02020603050405020304" pitchFamily="18" charset="0"/>
                      </a:endParaRP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125822886"/>
                  </a:ext>
                </a:extLst>
              </a:tr>
            </a:tbl>
          </a:graphicData>
        </a:graphic>
      </p:graphicFrame>
      <p:cxnSp>
        <p:nvCxnSpPr>
          <p:cNvPr id="10" name="מחבר ישר 9"/>
          <p:cNvCxnSpPr/>
          <p:nvPr/>
        </p:nvCxnSpPr>
        <p:spPr>
          <a:xfrm>
            <a:off x="-1188640" y="3717032"/>
            <a:ext cx="864096" cy="0"/>
          </a:xfrm>
          <a:prstGeom prst="line">
            <a:avLst/>
          </a:prstGeom>
          <a:ln w="11112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6" name="תמונה 1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91454" y="3490546"/>
            <a:ext cx="2178402" cy="3348980"/>
          </a:xfrm>
          <a:prstGeom prst="rect">
            <a:avLst/>
          </a:prstGeom>
        </p:spPr>
      </p:pic>
      <p:pic>
        <p:nvPicPr>
          <p:cNvPr id="29" name="תמונה 2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72544" y="3480339"/>
            <a:ext cx="4304149" cy="3359187"/>
          </a:xfrm>
          <a:prstGeom prst="rect">
            <a:avLst/>
          </a:prstGeom>
        </p:spPr>
      </p:pic>
      <p:pic>
        <p:nvPicPr>
          <p:cNvPr id="37" name="תמונה 3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8410" y="1412776"/>
            <a:ext cx="1725318" cy="4645555"/>
          </a:xfrm>
          <a:prstGeom prst="rect">
            <a:avLst/>
          </a:prstGeom>
        </p:spPr>
      </p:pic>
      <p:sp>
        <p:nvSpPr>
          <p:cNvPr id="38" name="TextBox 37"/>
          <p:cNvSpPr txBox="1"/>
          <p:nvPr/>
        </p:nvSpPr>
        <p:spPr>
          <a:xfrm>
            <a:off x="8550163" y="3462754"/>
            <a:ext cx="519693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1400" dirty="0" smtClean="0"/>
              <a:t>רופא</a:t>
            </a:r>
            <a:endParaRPr lang="he-IL" sz="1400" dirty="0"/>
          </a:p>
        </p:txBody>
      </p:sp>
      <p:sp>
        <p:nvSpPr>
          <p:cNvPr id="39" name="TextBox 38"/>
          <p:cNvSpPr txBox="1"/>
          <p:nvPr/>
        </p:nvSpPr>
        <p:spPr>
          <a:xfrm>
            <a:off x="398410" y="5750554"/>
            <a:ext cx="724878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1400" dirty="0" smtClean="0"/>
              <a:t>רנטגנאי</a:t>
            </a:r>
            <a:endParaRPr lang="he-IL" sz="1400" dirty="0"/>
          </a:p>
        </p:txBody>
      </p:sp>
      <p:sp>
        <p:nvSpPr>
          <p:cNvPr id="40" name="TextBox 39"/>
          <p:cNvSpPr txBox="1"/>
          <p:nvPr/>
        </p:nvSpPr>
        <p:spPr>
          <a:xfrm>
            <a:off x="4589585" y="6381328"/>
            <a:ext cx="519693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1400" dirty="0" smtClean="0"/>
              <a:t>רופא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82386256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מקרה מספר 678 – תיעוד לא תקין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457200" y="3717032"/>
            <a:ext cx="4978896" cy="2428791"/>
          </a:xfrm>
        </p:spPr>
        <p:txBody>
          <a:bodyPr/>
          <a:lstStyle/>
          <a:p>
            <a:r>
              <a:rPr lang="he-IL" dirty="0" smtClean="0"/>
              <a:t>שם הנפח שונה </a:t>
            </a:r>
            <a:r>
              <a:rPr lang="he-IL" dirty="0"/>
              <a:t>מ- </a:t>
            </a:r>
            <a:r>
              <a:rPr lang="en-US" dirty="0" smtClean="0"/>
              <a:t>PTV C2-C6</a:t>
            </a:r>
            <a:r>
              <a:rPr lang="he-IL" dirty="0" smtClean="0"/>
              <a:t> </a:t>
            </a:r>
            <a:r>
              <a:rPr lang="he-IL" dirty="0"/>
              <a:t>ל- </a:t>
            </a:r>
            <a:r>
              <a:rPr lang="en-US" dirty="0" smtClean="0"/>
              <a:t>PTV C1-C7</a:t>
            </a:r>
            <a:r>
              <a:rPr lang="he-IL" dirty="0" smtClean="0"/>
              <a:t> </a:t>
            </a:r>
            <a:r>
              <a:rPr lang="he-IL" dirty="0"/>
              <a:t>לצורך מתן טיפול תחת שם המתאים לתכנון.</a:t>
            </a:r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3746" y="1176012"/>
            <a:ext cx="8369712" cy="2427661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0112" y="3603673"/>
            <a:ext cx="3456384" cy="3251054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479519" y="1176012"/>
            <a:ext cx="519693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1400" dirty="0" smtClean="0"/>
              <a:t>רופא</a:t>
            </a:r>
            <a:endParaRPr lang="he-IL" sz="1400" dirty="0"/>
          </a:p>
        </p:txBody>
      </p:sp>
      <p:sp>
        <p:nvSpPr>
          <p:cNvPr id="7" name="TextBox 6"/>
          <p:cNvSpPr txBox="1"/>
          <p:nvPr/>
        </p:nvSpPr>
        <p:spPr>
          <a:xfrm>
            <a:off x="8278082" y="3625279"/>
            <a:ext cx="686406" cy="307777"/>
          </a:xfrm>
          <a:prstGeom prst="rect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wrap="none" rtlCol="1">
            <a:spAutoFit/>
          </a:bodyPr>
          <a:lstStyle/>
          <a:p>
            <a:r>
              <a:rPr lang="he-IL" sz="1400" dirty="0" smtClean="0"/>
              <a:t>פיזיקאי</a:t>
            </a:r>
            <a:endParaRPr lang="he-IL" sz="1400" dirty="0"/>
          </a:p>
        </p:txBody>
      </p:sp>
    </p:spTree>
    <p:extLst>
      <p:ext uri="{BB962C8B-B14F-4D97-AF65-F5344CB8AC3E}">
        <p14:creationId xmlns:p14="http://schemas.microsoft.com/office/powerpoint/2010/main" val="30966602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מקרה מספר 678 – תיעוד לא תקין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3851920" y="3429000"/>
            <a:ext cx="5149208" cy="3251054"/>
          </a:xfrm>
        </p:spPr>
        <p:txBody>
          <a:bodyPr/>
          <a:lstStyle/>
          <a:p>
            <a:r>
              <a:rPr lang="he-IL" dirty="0" smtClean="0"/>
              <a:t>שם התכנית שונתה מ- </a:t>
            </a:r>
            <a:r>
              <a:rPr lang="en-US" dirty="0" smtClean="0"/>
              <a:t>C2-C6</a:t>
            </a:r>
            <a:r>
              <a:rPr lang="he-IL" dirty="0" smtClean="0"/>
              <a:t> ל- </a:t>
            </a:r>
            <a:r>
              <a:rPr lang="en-US" dirty="0" smtClean="0"/>
              <a:t>C1-C7</a:t>
            </a:r>
            <a:r>
              <a:rPr lang="he-IL" dirty="0" smtClean="0"/>
              <a:t> לצורך מתן טיפול תחת שם המתאים לתכנון.</a:t>
            </a:r>
            <a:endParaRPr lang="he-IL" dirty="0"/>
          </a:p>
        </p:txBody>
      </p:sp>
      <p:pic>
        <p:nvPicPr>
          <p:cNvPr id="16" name="תמונה 1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512" y="3429000"/>
            <a:ext cx="3456384" cy="3251054"/>
          </a:xfrm>
          <a:prstGeom prst="rect">
            <a:avLst/>
          </a:prstGeom>
        </p:spPr>
      </p:pic>
      <p:pic>
        <p:nvPicPr>
          <p:cNvPr id="19" name="תמונה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76" y="1312720"/>
            <a:ext cx="9047248" cy="1938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1456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מקרה מספר 678 – תיעוד לא תקין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he-IL" dirty="0" smtClean="0"/>
              <a:t>זהות איבר המטרה בטיפול הקרינתי הינו קריטי לצורך מתן הטיפול.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 smtClean="0"/>
              <a:t>המרשמים, הסימונים, התכנון והטיפול חייבים להיות תואמים.</a:t>
            </a:r>
          </a:p>
          <a:p>
            <a:pPr marL="514350" indent="-514350">
              <a:buFont typeface="+mj-lt"/>
              <a:buAutoNum type="arabicPeriod"/>
            </a:pPr>
            <a:r>
              <a:rPr lang="he-IL" dirty="0" smtClean="0"/>
              <a:t>אם קיימת אי וודאות במיקום יש לעצור את המשך התכנון/טיפול עד אשר נדע בוודאות שהתכנון/טיפול נכון.</a:t>
            </a:r>
          </a:p>
        </p:txBody>
      </p:sp>
    </p:spTree>
    <p:extLst>
      <p:ext uri="{BB962C8B-B14F-4D97-AF65-F5344CB8AC3E}">
        <p14:creationId xmlns:p14="http://schemas.microsoft.com/office/powerpoint/2010/main" val="35319168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 rtlCol="1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he-IL" altLang="en-US" dirty="0" smtClean="0"/>
              <a:t>מורכבות הטיפול ברדיותרפיה</a:t>
            </a:r>
            <a:r>
              <a:rPr lang="en-US" altLang="en-US" dirty="0" smtClean="0"/>
              <a:t>.</a:t>
            </a:r>
            <a:endParaRPr lang="he-IL" u="sng" dirty="0"/>
          </a:p>
        </p:txBody>
      </p:sp>
      <p:sp>
        <p:nvSpPr>
          <p:cNvPr id="6" name="מציין מיקום תוכן 5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637112"/>
          </a:xfrm>
        </p:spPr>
        <p:txBody>
          <a:bodyPr>
            <a:normAutofit fontScale="47500" lnSpcReduction="20000"/>
          </a:bodyPr>
          <a:lstStyle/>
          <a:p>
            <a:r>
              <a:rPr lang="he-IL" dirty="0" smtClean="0"/>
              <a:t>הסקטורים השונים ביחידת הקרינה: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רופאים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רנטגנאים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פיזיקאים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אחיות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מזכירות</a:t>
            </a:r>
          </a:p>
          <a:p>
            <a:pPr marL="971550" lvl="1" indent="-514350">
              <a:buFont typeface="+mj-lt"/>
              <a:buAutoNum type="arabicPeriod"/>
            </a:pPr>
            <a:r>
              <a:rPr lang="he-IL" dirty="0" smtClean="0"/>
              <a:t>מהנדסים</a:t>
            </a:r>
          </a:p>
          <a:p>
            <a:pPr marL="514350" indent="-457200"/>
            <a:r>
              <a:rPr lang="he-IL" dirty="0" smtClean="0"/>
              <a:t>תהליכי התכנון והטיפול ביחידה הקרינה והסקטור האחראי על ביצוע התהליך:</a:t>
            </a:r>
          </a:p>
          <a:p>
            <a:pPr marL="914400" lvl="1" indent="-457200"/>
            <a:r>
              <a:rPr lang="he-IL" dirty="0" smtClean="0"/>
              <a:t>קבלה </a:t>
            </a:r>
          </a:p>
          <a:p>
            <a:pPr marL="1314450" lvl="2" indent="-457200"/>
            <a:r>
              <a:rPr lang="he-IL" dirty="0" smtClean="0"/>
              <a:t>מזכירות + רופאים + אחיות</a:t>
            </a:r>
          </a:p>
          <a:p>
            <a:pPr marL="914400" lvl="1" indent="-457200"/>
            <a:r>
              <a:rPr lang="he-IL" dirty="0" smtClean="0"/>
              <a:t>סימולציה</a:t>
            </a:r>
          </a:p>
          <a:p>
            <a:pPr marL="1314450" lvl="2" indent="-457200"/>
            <a:r>
              <a:rPr lang="he-IL" dirty="0" smtClean="0"/>
              <a:t>רנטגנאים + רופאים (לעיתים גם פיזיקאי ואו אחות נוכחים)</a:t>
            </a:r>
          </a:p>
          <a:p>
            <a:pPr marL="914400" lvl="1" indent="-457200"/>
            <a:r>
              <a:rPr lang="he-IL" dirty="0" smtClean="0"/>
              <a:t>תכנון הטיפול</a:t>
            </a:r>
          </a:p>
          <a:p>
            <a:pPr marL="1314450" lvl="2" indent="-457200"/>
            <a:r>
              <a:rPr lang="he-IL" dirty="0" smtClean="0"/>
              <a:t>רופאים + פיזיקאים</a:t>
            </a:r>
          </a:p>
          <a:p>
            <a:pPr marL="914400" lvl="1" indent="-457200"/>
            <a:r>
              <a:rPr lang="he-IL" dirty="0" smtClean="0"/>
              <a:t>אישור התכנון ובקרת איכות</a:t>
            </a:r>
          </a:p>
          <a:p>
            <a:pPr marL="1314450" lvl="2" indent="-457200"/>
            <a:r>
              <a:rPr lang="he-IL" dirty="0" smtClean="0"/>
              <a:t>רופאים + פיזיקאים + רנטגנאים</a:t>
            </a:r>
          </a:p>
          <a:p>
            <a:pPr marL="914400" lvl="1" indent="-457200"/>
            <a:r>
              <a:rPr lang="he-IL" dirty="0" smtClean="0"/>
              <a:t>מתן טיפול ומעקב</a:t>
            </a:r>
          </a:p>
          <a:p>
            <a:pPr marL="1314450" lvl="2" indent="-457200"/>
            <a:r>
              <a:rPr lang="he-IL" dirty="0" smtClean="0"/>
              <a:t>רנטגנאים + מזכירות + רופאים + אחיות (לעיתים גם פיזיקאי נוכח)</a:t>
            </a:r>
          </a:p>
          <a:p>
            <a:pPr marL="914400" lvl="1" indent="-457200"/>
            <a:r>
              <a:rPr lang="he-IL" dirty="0" smtClean="0"/>
              <a:t>כיול מנות ותחזוקת מאיצים</a:t>
            </a:r>
          </a:p>
          <a:p>
            <a:pPr marL="1314450" lvl="2" indent="-457200"/>
            <a:r>
              <a:rPr lang="he-IL" dirty="0" smtClean="0"/>
              <a:t>מהנדסים + פיזיקאים</a:t>
            </a:r>
          </a:p>
          <a:p>
            <a:pPr marL="514350" indent="-457200"/>
            <a:r>
              <a:rPr lang="he-IL" dirty="0" smtClean="0"/>
              <a:t>מתן טיפול קרינתי מורכב ממגוון תהליכים כאשר בכל רגע </a:t>
            </a:r>
            <a:r>
              <a:rPr lang="he-IL" dirty="0" smtClean="0"/>
              <a:t>נתון מספר </a:t>
            </a:r>
            <a:r>
              <a:rPr lang="he-IL" dirty="0" smtClean="0"/>
              <a:t>סקטורים אחראים </a:t>
            </a:r>
            <a:r>
              <a:rPr lang="he-IL" dirty="0" smtClean="0"/>
              <a:t>על ביצועו. </a:t>
            </a:r>
            <a:r>
              <a:rPr lang="he-IL" dirty="0" smtClean="0"/>
              <a:t>על הצוותים </a:t>
            </a:r>
            <a:r>
              <a:rPr lang="he-IL" dirty="0" smtClean="0"/>
              <a:t>לעבוד </a:t>
            </a:r>
            <a:r>
              <a:rPr lang="he-IL" dirty="0" smtClean="0"/>
              <a:t>בהרמוניה בכדי לתת את הטיפול על הצד הטוב ביותר.</a:t>
            </a:r>
          </a:p>
        </p:txBody>
      </p:sp>
    </p:spTree>
    <p:extLst>
      <p:ext uri="{BB962C8B-B14F-4D97-AF65-F5344CB8AC3E}">
        <p14:creationId xmlns:p14="http://schemas.microsoft.com/office/powerpoint/2010/main" val="3449686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3884" y="28575"/>
            <a:ext cx="8229600" cy="1143000"/>
          </a:xfrm>
        </p:spPr>
        <p:txBody>
          <a:bodyPr>
            <a:normAutofit/>
          </a:bodyPr>
          <a:lstStyle/>
          <a:p>
            <a:pPr rtl="0"/>
            <a:r>
              <a:rPr lang="he-IL" sz="4000" dirty="0"/>
              <a:t>סגירת מעגל הלמידה</a:t>
            </a:r>
          </a:p>
        </p:txBody>
      </p:sp>
      <p:sp>
        <p:nvSpPr>
          <p:cNvPr id="11" name="Content Placeholder 10"/>
          <p:cNvSpPr>
            <a:spLocks noGrp="1"/>
          </p:cNvSpPr>
          <p:nvPr>
            <p:ph idx="1"/>
          </p:nvPr>
        </p:nvSpPr>
        <p:spPr>
          <a:xfrm>
            <a:off x="457200" y="1052736"/>
            <a:ext cx="8001000" cy="1277752"/>
          </a:xfrm>
        </p:spPr>
        <p:txBody>
          <a:bodyPr>
            <a:noAutofit/>
          </a:bodyPr>
          <a:lstStyle/>
          <a:p>
            <a:r>
              <a:rPr lang="he-IL" sz="1600" dirty="0" smtClean="0"/>
              <a:t>מסלול </a:t>
            </a:r>
            <a:r>
              <a:rPr lang="he-IL" sz="1600" dirty="0" smtClean="0"/>
              <a:t>הלמידה הארגונית ברדיותרפיה </a:t>
            </a:r>
            <a:r>
              <a:rPr lang="he-IL" sz="1600" dirty="0" smtClean="0"/>
              <a:t>במרכז </a:t>
            </a:r>
            <a:r>
              <a:rPr lang="he-IL" sz="1600" dirty="0" smtClean="0"/>
              <a:t>רפואי </a:t>
            </a:r>
            <a:r>
              <a:rPr lang="he-IL" sz="1600" dirty="0" smtClean="0"/>
              <a:t>רבין מורכב </a:t>
            </a:r>
            <a:r>
              <a:rPr lang="he-IL" sz="1600" dirty="0" smtClean="0"/>
              <a:t>משני רכיבים; </a:t>
            </a:r>
            <a:endParaRPr lang="he-IL" sz="1600" dirty="0" smtClean="0"/>
          </a:p>
          <a:p>
            <a:pPr lvl="1"/>
            <a:r>
              <a:rPr lang="he-IL" sz="1200" dirty="0" smtClean="0"/>
              <a:t>העברת </a:t>
            </a:r>
            <a:r>
              <a:rPr lang="he-IL" sz="1200" dirty="0" smtClean="0"/>
              <a:t>מידע </a:t>
            </a:r>
            <a:endParaRPr lang="he-IL" sz="1200" dirty="0" smtClean="0"/>
          </a:p>
          <a:p>
            <a:pPr lvl="1"/>
            <a:r>
              <a:rPr lang="he-IL" sz="1200" dirty="0" smtClean="0"/>
              <a:t>יישום </a:t>
            </a:r>
            <a:r>
              <a:rPr lang="he-IL" sz="1200" dirty="0" smtClean="0"/>
              <a:t>והטמעה של מדיניות.</a:t>
            </a:r>
          </a:p>
          <a:p>
            <a:r>
              <a:rPr lang="he-IL" sz="1600" dirty="0" smtClean="0"/>
              <a:t>נהלים </a:t>
            </a:r>
            <a:r>
              <a:rPr lang="he-IL" sz="1600" dirty="0" smtClean="0"/>
              <a:t>כתובים וברורים </a:t>
            </a:r>
            <a:r>
              <a:rPr lang="he-IL" sz="1600" dirty="0" smtClean="0"/>
              <a:t>נחוצים על </a:t>
            </a:r>
            <a:r>
              <a:rPr lang="he-IL" sz="1600" dirty="0" smtClean="0"/>
              <a:t>מנת לבנות מערכות בקרה ובטיחות אחידות בין המטפלים.</a:t>
            </a:r>
            <a:endParaRPr lang="he-IL" sz="1600" dirty="0"/>
          </a:p>
        </p:txBody>
      </p:sp>
      <p:grpSp>
        <p:nvGrpSpPr>
          <p:cNvPr id="20" name="Group 19"/>
          <p:cNvGrpSpPr/>
          <p:nvPr/>
        </p:nvGrpSpPr>
        <p:grpSpPr>
          <a:xfrm>
            <a:off x="1974776" y="2454770"/>
            <a:ext cx="6096000" cy="3998566"/>
            <a:chOff x="1524000" y="2362200"/>
            <a:chExt cx="6096000" cy="3998566"/>
          </a:xfrm>
        </p:grpSpPr>
        <p:sp>
          <p:nvSpPr>
            <p:cNvPr id="6" name="Flowchart: Process 5"/>
            <p:cNvSpPr/>
            <p:nvPr/>
          </p:nvSpPr>
          <p:spPr>
            <a:xfrm>
              <a:off x="3674983" y="2408837"/>
              <a:ext cx="1053701" cy="323747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QI reports</a:t>
              </a:r>
              <a:endParaRPr lang="he-IL" sz="1400" dirty="0"/>
            </a:p>
          </p:txBody>
        </p:sp>
        <p:sp>
          <p:nvSpPr>
            <p:cNvPr id="7" name="Right Arrow 6"/>
            <p:cNvSpPr/>
            <p:nvPr/>
          </p:nvSpPr>
          <p:spPr>
            <a:xfrm>
              <a:off x="4926026" y="2362200"/>
              <a:ext cx="751640" cy="417019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8" name="Flowchart: Process 7"/>
            <p:cNvSpPr/>
            <p:nvPr/>
          </p:nvSpPr>
          <p:spPr>
            <a:xfrm>
              <a:off x="1826190" y="2416376"/>
              <a:ext cx="702467" cy="308667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Staff</a:t>
              </a:r>
              <a:endParaRPr lang="he-IL" sz="1400" dirty="0"/>
            </a:p>
          </p:txBody>
        </p:sp>
        <p:sp>
          <p:nvSpPr>
            <p:cNvPr id="9" name="Right Arrow 8"/>
            <p:cNvSpPr/>
            <p:nvPr/>
          </p:nvSpPr>
          <p:spPr>
            <a:xfrm>
              <a:off x="2726000" y="2362200"/>
              <a:ext cx="751640" cy="417019"/>
            </a:xfrm>
            <a:prstGeom prst="right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0" name="Flowchart: Process 9"/>
            <p:cNvSpPr/>
            <p:nvPr/>
          </p:nvSpPr>
          <p:spPr>
            <a:xfrm>
              <a:off x="5875008" y="2399535"/>
              <a:ext cx="1117561" cy="342350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QI meeting</a:t>
              </a:r>
              <a:endParaRPr lang="he-IL" sz="1400" dirty="0"/>
            </a:p>
          </p:txBody>
        </p:sp>
        <p:sp>
          <p:nvSpPr>
            <p:cNvPr id="12" name="Down Arrow 11"/>
            <p:cNvSpPr/>
            <p:nvPr/>
          </p:nvSpPr>
          <p:spPr>
            <a:xfrm>
              <a:off x="6264558" y="2820479"/>
              <a:ext cx="338462" cy="590121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4" name="Flowchart: Process 13"/>
            <p:cNvSpPr/>
            <p:nvPr/>
          </p:nvSpPr>
          <p:spPr>
            <a:xfrm>
              <a:off x="5875008" y="3489195"/>
              <a:ext cx="1117561" cy="327845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Summary</a:t>
              </a:r>
              <a:endParaRPr lang="he-IL" sz="1400" dirty="0"/>
            </a:p>
          </p:txBody>
        </p:sp>
        <p:sp>
          <p:nvSpPr>
            <p:cNvPr id="15" name="Bent Arrow 14"/>
            <p:cNvSpPr/>
            <p:nvPr/>
          </p:nvSpPr>
          <p:spPr>
            <a:xfrm rot="16200000">
              <a:off x="3466515" y="1478375"/>
              <a:ext cx="655691" cy="3863569"/>
            </a:xfrm>
            <a:prstGeom prst="bentArrow">
              <a:avLst>
                <a:gd name="adj1" fmla="val 25000"/>
                <a:gd name="adj2" fmla="val 50000"/>
                <a:gd name="adj3" fmla="val 25000"/>
                <a:gd name="adj4" fmla="val 43750"/>
              </a:avLst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>
                <a:solidFill>
                  <a:schemeClr val="tx1"/>
                </a:solidFill>
              </a:endParaRPr>
            </a:p>
          </p:txBody>
        </p:sp>
        <p:sp>
          <p:nvSpPr>
            <p:cNvPr id="16" name="Down Arrow 15"/>
            <p:cNvSpPr/>
            <p:nvPr/>
          </p:nvSpPr>
          <p:spPr>
            <a:xfrm>
              <a:off x="6207616" y="3895635"/>
              <a:ext cx="452346" cy="524552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7" name="Flowchart: Process 16"/>
            <p:cNvSpPr/>
            <p:nvPr/>
          </p:nvSpPr>
          <p:spPr>
            <a:xfrm>
              <a:off x="5247577" y="4498781"/>
              <a:ext cx="2372423" cy="655691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QI procedure development team</a:t>
              </a:r>
              <a:endParaRPr lang="he-IL" sz="1400" dirty="0"/>
            </a:p>
          </p:txBody>
        </p:sp>
        <p:sp>
          <p:nvSpPr>
            <p:cNvPr id="18" name="Down Arrow 17"/>
            <p:cNvSpPr/>
            <p:nvPr/>
          </p:nvSpPr>
          <p:spPr>
            <a:xfrm>
              <a:off x="6186595" y="5233066"/>
              <a:ext cx="494388" cy="524552"/>
            </a:xfrm>
            <a:prstGeom prst="downArrow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endParaRPr lang="he-IL" sz="1400"/>
            </a:p>
          </p:txBody>
        </p:sp>
        <p:sp>
          <p:nvSpPr>
            <p:cNvPr id="19" name="Flowchart: Process 18"/>
            <p:cNvSpPr/>
            <p:nvPr/>
          </p:nvSpPr>
          <p:spPr>
            <a:xfrm>
              <a:off x="5316228" y="5836214"/>
              <a:ext cx="2235123" cy="524552"/>
            </a:xfrm>
            <a:prstGeom prst="flowChartProcess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Policy development</a:t>
              </a:r>
              <a:endParaRPr lang="he-IL" sz="1400" dirty="0"/>
            </a:p>
          </p:txBody>
        </p:sp>
        <p:cxnSp>
          <p:nvCxnSpPr>
            <p:cNvPr id="21" name="Straight Arrow Connector 20"/>
            <p:cNvCxnSpPr/>
            <p:nvPr/>
          </p:nvCxnSpPr>
          <p:spPr>
            <a:xfrm flipH="1">
              <a:off x="4386006" y="6098490"/>
              <a:ext cx="702467" cy="0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ounded Rectangle 21"/>
            <p:cNvSpPr/>
            <p:nvPr/>
          </p:nvSpPr>
          <p:spPr>
            <a:xfrm>
              <a:off x="2753317" y="5836214"/>
              <a:ext cx="1404934" cy="524552"/>
            </a:xfrm>
            <a:prstGeom prst="round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implementation</a:t>
              </a:r>
              <a:endParaRPr lang="he-IL" sz="1400" dirty="0"/>
            </a:p>
          </p:txBody>
        </p:sp>
        <p:cxnSp>
          <p:nvCxnSpPr>
            <p:cNvPr id="27" name="Elbow Connector 26"/>
            <p:cNvCxnSpPr/>
            <p:nvPr/>
          </p:nvCxnSpPr>
          <p:spPr>
            <a:xfrm rot="16200000" flipV="1">
              <a:off x="1991840" y="5454091"/>
              <a:ext cx="827807" cy="460991"/>
            </a:xfrm>
            <a:prstGeom prst="bentConnector3">
              <a:avLst>
                <a:gd name="adj1" fmla="val -522"/>
              </a:avLst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3" name="Rectangle 32"/>
            <p:cNvSpPr/>
            <p:nvPr/>
          </p:nvSpPr>
          <p:spPr>
            <a:xfrm>
              <a:off x="1524000" y="4540595"/>
              <a:ext cx="1404934" cy="590121"/>
            </a:xfrm>
            <a:prstGeom prst="rect">
              <a:avLst/>
            </a:prstGeom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/>
              <a:r>
                <a:rPr lang="en-US" sz="1400" dirty="0" smtClean="0"/>
                <a:t>Monitoring</a:t>
              </a:r>
              <a:endParaRPr lang="he-IL" sz="1400" dirty="0"/>
            </a:p>
          </p:txBody>
        </p:sp>
        <p:cxnSp>
          <p:nvCxnSpPr>
            <p:cNvPr id="23" name="Straight Arrow Connector 22"/>
            <p:cNvCxnSpPr/>
            <p:nvPr/>
          </p:nvCxnSpPr>
          <p:spPr>
            <a:xfrm flipV="1">
              <a:off x="2226467" y="3939347"/>
              <a:ext cx="0" cy="458983"/>
            </a:xfrm>
            <a:prstGeom prst="straightConnector1">
              <a:avLst/>
            </a:prstGeom>
            <a:ln>
              <a:solidFill>
                <a:schemeClr val="tx1"/>
              </a:solidFill>
              <a:tailEnd type="arrow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/>
          <p:cNvSpPr txBox="1"/>
          <p:nvPr/>
        </p:nvSpPr>
        <p:spPr>
          <a:xfrm>
            <a:off x="3659066" y="3156314"/>
            <a:ext cx="1875976" cy="380553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 rtl="0"/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Information flow</a:t>
            </a:r>
            <a:endParaRPr lang="he-IL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3427642" y="4693293"/>
            <a:ext cx="2224478" cy="671941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1">
            <a:spAutoFit/>
          </a:bodyPr>
          <a:lstStyle/>
          <a:p>
            <a:pPr algn="ctr" rtl="0"/>
            <a:r>
              <a:rPr lang="en-US" b="1" dirty="0" smtClean="0">
                <a:solidFill>
                  <a:schemeClr val="accent3">
                    <a:lumMod val="50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Implementation and monitoring flow</a:t>
            </a:r>
            <a:endParaRPr lang="he-IL" b="1" dirty="0">
              <a:solidFill>
                <a:schemeClr val="accent3">
                  <a:lumMod val="50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9628578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D224B7-5F63-BDFF-9579-51EA5737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5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dirty="0" smtClean="0"/>
              <a:t>מערכת </a:t>
            </a:r>
            <a:r>
              <a:rPr lang="he-IL" dirty="0"/>
              <a:t>למידה מקומית של מרכז רפואי רבין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D1B137-B193-9547-D09F-310BA2DD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779912" y="1567333"/>
            <a:ext cx="5328592" cy="4525963"/>
          </a:xfrm>
        </p:spPr>
        <p:txBody>
          <a:bodyPr>
            <a:normAutofit fontScale="62500" lnSpcReduction="20000"/>
          </a:bodyPr>
          <a:lstStyle/>
          <a:p>
            <a:r>
              <a:rPr lang="he-IL" dirty="0"/>
              <a:t>כל הצוותים ביחידה: רופאים, מזכירות, </a:t>
            </a:r>
            <a:r>
              <a:rPr lang="he-IL" dirty="0" err="1"/>
              <a:t>רנטגנאים</a:t>
            </a:r>
            <a:r>
              <a:rPr lang="he-IL" dirty="0"/>
              <a:t>, פיזיקאים אחיות ומהנדסים מדווחים באמצעות דו"ח למידה </a:t>
            </a:r>
            <a:r>
              <a:rPr lang="he-IL" dirty="0" smtClean="0"/>
              <a:t>ייעודי</a:t>
            </a:r>
            <a:r>
              <a:rPr lang="he-IL" dirty="0"/>
              <a:t>.</a:t>
            </a:r>
          </a:p>
          <a:p>
            <a:r>
              <a:rPr lang="he-IL" dirty="0"/>
              <a:t>כל שבועיים מתקיימת ישיבת </a:t>
            </a:r>
            <a:r>
              <a:rPr lang="en-US" dirty="0"/>
              <a:t>QI</a:t>
            </a:r>
            <a:r>
              <a:rPr lang="he-IL" dirty="0"/>
              <a:t> בנוכחות מנהלי היחידה: רופא ראשי, </a:t>
            </a:r>
            <a:r>
              <a:rPr lang="he-IL" dirty="0" err="1"/>
              <a:t>רנטגנאית</a:t>
            </a:r>
            <a:r>
              <a:rPr lang="he-IL" dirty="0"/>
              <a:t> ראשית, פיזיקאי ראשי, אחות </a:t>
            </a:r>
            <a:r>
              <a:rPr lang="he-IL" dirty="0" smtClean="0"/>
              <a:t>ראשית, בקרת איכות </a:t>
            </a:r>
            <a:r>
              <a:rPr lang="he-IL" dirty="0" smtClean="0"/>
              <a:t>(</a:t>
            </a:r>
            <a:r>
              <a:rPr lang="en-US" dirty="0" smtClean="0"/>
              <a:t>RTTQA</a:t>
            </a:r>
            <a:r>
              <a:rPr lang="he-IL" dirty="0" smtClean="0"/>
              <a:t>) </a:t>
            </a:r>
            <a:r>
              <a:rPr lang="he-IL" dirty="0"/>
              <a:t>ואחראי איכות.</a:t>
            </a:r>
          </a:p>
          <a:p>
            <a:r>
              <a:rPr lang="he-IL" dirty="0"/>
              <a:t>פרוטוקול הישיבה נכתב ולאחר אישור מנהל היחידה נשלח לכלל הצוות המטפל, ליחידה לניהול סיכונים ולהנהלת מרכז דוידוף. </a:t>
            </a:r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שלב </a:t>
            </a:r>
            <a:r>
              <a:rPr lang="he-IL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זה </a:t>
            </a:r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הינו קריטי </a:t>
            </a:r>
            <a:r>
              <a:rPr lang="he-IL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להצלחת תהליך הלמידה והגברת המודעות לנושאי בטיחות </a:t>
            </a:r>
            <a:r>
              <a:rPr lang="he-IL" b="1" u="sng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של </a:t>
            </a:r>
            <a:r>
              <a:rPr lang="he-IL" b="1" u="sng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הצוות המטפל.</a:t>
            </a:r>
          </a:p>
          <a:p>
            <a:r>
              <a:rPr lang="he-IL" dirty="0"/>
              <a:t>בישיבות </a:t>
            </a:r>
            <a:r>
              <a:rPr lang="en-US" dirty="0"/>
              <a:t>QI</a:t>
            </a:r>
            <a:r>
              <a:rPr lang="he-IL" dirty="0"/>
              <a:t> </a:t>
            </a:r>
            <a:r>
              <a:rPr lang="he-IL" dirty="0" smtClean="0"/>
              <a:t>מקבלים </a:t>
            </a:r>
            <a:r>
              <a:rPr lang="he-IL" dirty="0"/>
              <a:t>החלטות אופרטיביות </a:t>
            </a:r>
            <a:r>
              <a:rPr lang="he-IL" dirty="0" smtClean="0"/>
              <a:t>ומגדירים </a:t>
            </a:r>
            <a:r>
              <a:rPr lang="he-IL" dirty="0" smtClean="0"/>
              <a:t>משימות ופרויקטים </a:t>
            </a:r>
            <a:r>
              <a:rPr lang="he-IL" dirty="0"/>
              <a:t>של בטיחות ביחידה.</a:t>
            </a:r>
          </a:p>
          <a:p>
            <a:r>
              <a:rPr lang="he-IL" dirty="0"/>
              <a:t>כל הדוחות מוזנים למסד הנתונים ומדוחים ליחידה לניהול סיכונים.</a:t>
            </a:r>
          </a:p>
          <a:p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224FD74-BA3C-1C53-9B19-6EA26655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71760"/>
            <a:ext cx="3816424" cy="499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0193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BD224B7-5F63-BDFF-9579-51EA57375D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6856" y="116632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dirty="0" smtClean="0"/>
              <a:t>מערכת </a:t>
            </a:r>
            <a:r>
              <a:rPr lang="he-IL" dirty="0"/>
              <a:t>למידה מקומית של מרכז רפואי רבין</a:t>
            </a:r>
            <a:endParaRPr lang="en-IL" dirty="0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DBD1B137-B193-9547-D09F-310BA2DD33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51920" y="1554536"/>
            <a:ext cx="5074594" cy="4525963"/>
          </a:xfrm>
        </p:spPr>
        <p:txBody>
          <a:bodyPr>
            <a:normAutofit fontScale="77500" lnSpcReduction="20000"/>
          </a:bodyPr>
          <a:lstStyle/>
          <a:p>
            <a:r>
              <a:rPr lang="he-IL" dirty="0" smtClean="0"/>
              <a:t>דגשים למילוי דו"ח למידה:</a:t>
            </a:r>
          </a:p>
          <a:p>
            <a:pPr lvl="1"/>
            <a:r>
              <a:rPr lang="he-IL" b="1" dirty="0"/>
              <a:t>חשוב לזכור שהמטרה העליונה למילוי הדו"ח היא למידה </a:t>
            </a:r>
            <a:r>
              <a:rPr lang="he-IL" b="1" dirty="0" smtClean="0"/>
              <a:t>מהאירוע.</a:t>
            </a:r>
            <a:endParaRPr lang="he-IL" b="1" dirty="0"/>
          </a:p>
          <a:p>
            <a:pPr lvl="1"/>
            <a:r>
              <a:rPr lang="he-IL" dirty="0" smtClean="0"/>
              <a:t>חשוב להבין שהדו"ח מתאר אירוע שקרה </a:t>
            </a:r>
            <a:r>
              <a:rPr lang="he-IL" b="1" dirty="0" smtClean="0"/>
              <a:t>ואינו </a:t>
            </a:r>
            <a:r>
              <a:rPr lang="he-IL" b="1" dirty="0" smtClean="0"/>
              <a:t>נועד לצורך הבעת תלונות אישיות</a:t>
            </a:r>
            <a:r>
              <a:rPr lang="he-IL" dirty="0" smtClean="0"/>
              <a:t>. </a:t>
            </a:r>
          </a:p>
          <a:p>
            <a:pPr lvl="1"/>
            <a:r>
              <a:rPr lang="he-IL" dirty="0" smtClean="0"/>
              <a:t>יש לדווח </a:t>
            </a:r>
            <a:r>
              <a:rPr lang="he-IL" dirty="0" smtClean="0"/>
              <a:t>על עובדות שקרו בפועל.</a:t>
            </a:r>
          </a:p>
          <a:p>
            <a:pPr lvl="1"/>
            <a:r>
              <a:rPr lang="he-IL" dirty="0" smtClean="0"/>
              <a:t>הבעה של תחושות ורגשות בדיווח </a:t>
            </a:r>
            <a:r>
              <a:rPr lang="he-IL" dirty="0" smtClean="0"/>
              <a:t>יכתבו רק </a:t>
            </a:r>
            <a:r>
              <a:rPr lang="he-IL" dirty="0" smtClean="0"/>
              <a:t>אם נחוץ לצורך הבנת האירוע. אחרת יש להימנע ככל הניתן.</a:t>
            </a:r>
          </a:p>
          <a:p>
            <a:pPr lvl="1"/>
            <a:r>
              <a:rPr lang="he-IL" dirty="0" smtClean="0"/>
              <a:t>לתאר </a:t>
            </a:r>
            <a:r>
              <a:rPr lang="he-IL" u="sng" dirty="0" smtClean="0"/>
              <a:t>בתמציתיות</a:t>
            </a:r>
            <a:r>
              <a:rPr lang="he-IL" dirty="0" smtClean="0"/>
              <a:t> את מהלך האירוע מתחילתו עד סופו.</a:t>
            </a:r>
          </a:p>
          <a:p>
            <a:pPr lvl="1"/>
            <a:r>
              <a:rPr lang="he-IL" dirty="0" smtClean="0"/>
              <a:t>לציין השלכות של האירוע בדיווח.</a:t>
            </a:r>
          </a:p>
          <a:p>
            <a:pPr lvl="1"/>
            <a:r>
              <a:rPr lang="he-IL" dirty="0" smtClean="0"/>
              <a:t>להציע הצעות לשיפור וייעול.</a:t>
            </a:r>
          </a:p>
          <a:p>
            <a:pPr lvl="1"/>
            <a:endParaRPr lang="en-IL" dirty="0"/>
          </a:p>
        </p:txBody>
      </p:sp>
      <p:pic>
        <p:nvPicPr>
          <p:cNvPr id="5" name="תמונה 4">
            <a:extLst>
              <a:ext uri="{FF2B5EF4-FFF2-40B4-BE49-F238E27FC236}">
                <a16:creationId xmlns:a16="http://schemas.microsoft.com/office/drawing/2014/main" id="{1224FD74-BA3C-1C53-9B19-6EA266557B4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96" y="1271760"/>
            <a:ext cx="3816424" cy="49907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88233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>
          <a:xfrm>
            <a:off x="406243" y="83157"/>
            <a:ext cx="8229600" cy="1143000"/>
          </a:xfrm>
        </p:spPr>
        <p:txBody>
          <a:bodyPr>
            <a:normAutofit fontScale="90000"/>
          </a:bodyPr>
          <a:lstStyle/>
          <a:p>
            <a:r>
              <a:rPr lang="he-IL" dirty="0" smtClean="0"/>
              <a:t>מערכת </a:t>
            </a:r>
            <a:r>
              <a:rPr lang="he-IL" dirty="0"/>
              <a:t>למידה מקומית של מרכז רפואי רבין</a:t>
            </a:r>
          </a:p>
        </p:txBody>
      </p:sp>
      <p:pic>
        <p:nvPicPr>
          <p:cNvPr id="6" name="תמונה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4952" y="1402921"/>
            <a:ext cx="7919390" cy="2127688"/>
          </a:xfrm>
          <a:prstGeom prst="rect">
            <a:avLst/>
          </a:prstGeom>
        </p:spPr>
      </p:pic>
      <p:pic>
        <p:nvPicPr>
          <p:cNvPr id="10" name="תמונה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4952" y="3560512"/>
            <a:ext cx="7919390" cy="3097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768407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/>
              <a:t>תוצרים של מערכת הלמידה</a:t>
            </a:r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>
          <a:xfrm>
            <a:off x="5695020" y="1268760"/>
            <a:ext cx="3341476" cy="5328592"/>
          </a:xfrm>
        </p:spPr>
        <p:txBody>
          <a:bodyPr>
            <a:noAutofit/>
          </a:bodyPr>
          <a:lstStyle/>
          <a:p>
            <a:r>
              <a:rPr lang="he-IL" sz="1600" dirty="0" smtClean="0"/>
              <a:t>חשוב לשאול מה אנו לומדים מהתרשימים? ואיך ניתן לרתום את הידע ללמידה והבנה מעמיקה של התהליכים ביחידה.</a:t>
            </a:r>
          </a:p>
          <a:p>
            <a:r>
              <a:rPr lang="he-IL" sz="1600" dirty="0" smtClean="0"/>
              <a:t>למשל, צפוי שבשלבים שבהם יש אינטראקציה עם המטופל יהיו יותר דיווחים (מהלך הטיפול, סימולציה). בשלבים אלו בד"כ יש יותר צורך בעבודה יעילה ומתן פתרונות בזמן אמת.</a:t>
            </a:r>
          </a:p>
          <a:p>
            <a:r>
              <a:rPr lang="he-IL" sz="1600" dirty="0" smtClean="0"/>
              <a:t>למשל, אם מזהים </a:t>
            </a:r>
            <a:r>
              <a:rPr lang="he-IL" sz="1600" dirty="0" smtClean="0">
                <a:solidFill>
                  <a:srgbClr val="00B050"/>
                </a:solidFill>
              </a:rPr>
              <a:t>שמתקן </a:t>
            </a:r>
            <a:r>
              <a:rPr lang="he-IL" sz="1600" dirty="0" err="1" smtClean="0">
                <a:solidFill>
                  <a:srgbClr val="00B050"/>
                </a:solidFill>
              </a:rPr>
              <a:t>מסויים</a:t>
            </a:r>
            <a:r>
              <a:rPr lang="he-IL" sz="1600" dirty="0" smtClean="0"/>
              <a:t>/</a:t>
            </a:r>
            <a:r>
              <a:rPr lang="he-IL" sz="1600" dirty="0" smtClean="0">
                <a:solidFill>
                  <a:srgbClr val="002060"/>
                </a:solidFill>
              </a:rPr>
              <a:t>טכניקה מסוימת</a:t>
            </a:r>
            <a:r>
              <a:rPr lang="he-IL" sz="1600" dirty="0" smtClean="0"/>
              <a:t> מקבל יותר מדי דיווחים, אולי כדאי לבדוק אם ניתן לשפר את </a:t>
            </a:r>
            <a:r>
              <a:rPr lang="he-IL" sz="1600" dirty="0" smtClean="0">
                <a:solidFill>
                  <a:srgbClr val="00B050"/>
                </a:solidFill>
              </a:rPr>
              <a:t>תנאי העבודה במתקן זה</a:t>
            </a:r>
            <a:r>
              <a:rPr lang="he-IL" sz="1600" dirty="0" smtClean="0"/>
              <a:t>/ </a:t>
            </a:r>
            <a:r>
              <a:rPr lang="he-IL" sz="1600" dirty="0" smtClean="0">
                <a:solidFill>
                  <a:srgbClr val="002060"/>
                </a:solidFill>
              </a:rPr>
              <a:t>הידע וההבנה של הטכניקה</a:t>
            </a:r>
            <a:r>
              <a:rPr lang="he-IL" sz="1600" dirty="0" smtClean="0"/>
              <a:t>. אולי שווה, לבצע בדיקה מעמיקה יותר לסיבות של הדיווחים הספציפיים האלו.</a:t>
            </a:r>
          </a:p>
        </p:txBody>
      </p:sp>
      <p:grpSp>
        <p:nvGrpSpPr>
          <p:cNvPr id="4" name="Group 14">
            <a:extLst>
              <a:ext uri="{FF2B5EF4-FFF2-40B4-BE49-F238E27FC236}">
                <a16:creationId xmlns:a16="http://schemas.microsoft.com/office/drawing/2014/main" id="{7A7DD229-4704-26C4-C259-114C64A680E1}"/>
              </a:ext>
            </a:extLst>
          </p:cNvPr>
          <p:cNvGrpSpPr/>
          <p:nvPr/>
        </p:nvGrpSpPr>
        <p:grpSpPr>
          <a:xfrm>
            <a:off x="64604" y="1431596"/>
            <a:ext cx="5587516" cy="4733708"/>
            <a:chOff x="395536" y="1714636"/>
            <a:chExt cx="5587516" cy="4733708"/>
          </a:xfrm>
        </p:grpSpPr>
        <p:pic>
          <p:nvPicPr>
            <p:cNvPr id="5" name="Picture 8">
              <a:extLst>
                <a:ext uri="{FF2B5EF4-FFF2-40B4-BE49-F238E27FC236}">
                  <a16:creationId xmlns:a16="http://schemas.microsoft.com/office/drawing/2014/main" id="{21108AFE-EE31-40BE-DE94-334A33FF16D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395536" y="1725386"/>
              <a:ext cx="2743200" cy="2329274"/>
            </a:xfrm>
            <a:prstGeom prst="rect">
              <a:avLst/>
            </a:prstGeom>
          </p:spPr>
        </p:pic>
        <p:pic>
          <p:nvPicPr>
            <p:cNvPr id="7" name="Picture 10">
              <a:extLst>
                <a:ext uri="{FF2B5EF4-FFF2-40B4-BE49-F238E27FC236}">
                  <a16:creationId xmlns:a16="http://schemas.microsoft.com/office/drawing/2014/main" id="{948D2C5A-3CFF-9C6C-E099-CB66D41DCC2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239852" y="1714636"/>
              <a:ext cx="2743200" cy="2350775"/>
            </a:xfrm>
            <a:prstGeom prst="rect">
              <a:avLst/>
            </a:prstGeom>
          </p:spPr>
        </p:pic>
        <p:pic>
          <p:nvPicPr>
            <p:cNvPr id="8" name="Picture 11">
              <a:extLst>
                <a:ext uri="{FF2B5EF4-FFF2-40B4-BE49-F238E27FC236}">
                  <a16:creationId xmlns:a16="http://schemas.microsoft.com/office/drawing/2014/main" id="{9E467056-CE75-FE11-B837-1DDC15A47B46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95536" y="4112662"/>
              <a:ext cx="2743200" cy="2335682"/>
            </a:xfrm>
            <a:prstGeom prst="rect">
              <a:avLst/>
            </a:prstGeom>
          </p:spPr>
        </p:pic>
        <p:pic>
          <p:nvPicPr>
            <p:cNvPr id="9" name="Picture 12">
              <a:extLst>
                <a:ext uri="{FF2B5EF4-FFF2-40B4-BE49-F238E27FC236}">
                  <a16:creationId xmlns:a16="http://schemas.microsoft.com/office/drawing/2014/main" id="{6B32B2D0-E799-4822-C5BB-36A2B7784CA4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3239852" y="4119053"/>
              <a:ext cx="2743200" cy="23229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772603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7022B3-D310-CFB2-F0CA-BC05F46FCE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44624"/>
            <a:ext cx="8229600" cy="1143000"/>
          </a:xfrm>
        </p:spPr>
        <p:txBody>
          <a:bodyPr/>
          <a:lstStyle/>
          <a:p>
            <a:r>
              <a:rPr lang="he-IL" dirty="0"/>
              <a:t>תוצרים של מערכת הלמידה</a:t>
            </a:r>
            <a:endParaRPr lang="LID4096" dirty="0"/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7A7DD229-4704-26C4-C259-114C64A680E1}"/>
              </a:ext>
            </a:extLst>
          </p:cNvPr>
          <p:cNvGrpSpPr/>
          <p:nvPr/>
        </p:nvGrpSpPr>
        <p:grpSpPr>
          <a:xfrm>
            <a:off x="539552" y="1187624"/>
            <a:ext cx="2743200" cy="4743763"/>
            <a:chOff x="6084168" y="1700808"/>
            <a:chExt cx="2743200" cy="4743763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B4C16785-5F32-C0CA-30CE-F4862CD7524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84168" y="1700808"/>
              <a:ext cx="2743200" cy="2378430"/>
            </a:xfrm>
            <a:prstGeom prst="rect">
              <a:avLst/>
            </a:prstGeom>
          </p:spPr>
        </p:pic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D00D2078-D1C5-A915-F86E-EBD1C1EDE55C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084168" y="4116436"/>
              <a:ext cx="2743200" cy="2328135"/>
            </a:xfrm>
            <a:prstGeom prst="rect">
              <a:avLst/>
            </a:prstGeom>
          </p:spPr>
        </p:pic>
      </p:grpSp>
      <p:sp>
        <p:nvSpPr>
          <p:cNvPr id="3" name="מלבן 2"/>
          <p:cNvSpPr/>
          <p:nvPr/>
        </p:nvSpPr>
        <p:spPr>
          <a:xfrm>
            <a:off x="3563888" y="1379419"/>
            <a:ext cx="4572000" cy="1754326"/>
          </a:xfrm>
          <a:prstGeom prst="rect">
            <a:avLst/>
          </a:prstGeom>
        </p:spPr>
        <p:txBody>
          <a:bodyPr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חשוב לזכור שהגרפים מתארים כמות דיווחים ולא בהכרח חומרה שלהם. </a:t>
            </a:r>
            <a:endParaRPr lang="he-I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חשוב להיות במעקב על הסטטיסטיקות של היחידה ולזהות שינויים.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הכי חשוב להעביר את הידע הנצבר חזרה לצוות, לבצע שיפורים בתהליכים והטמיע אותם.</a:t>
            </a:r>
            <a:endParaRPr lang="he-IL" dirty="0"/>
          </a:p>
        </p:txBody>
      </p:sp>
      <p:pic>
        <p:nvPicPr>
          <p:cNvPr id="4" name="תמונה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 rot="20929544">
            <a:off x="3725811" y="3467935"/>
            <a:ext cx="2193558" cy="3122640"/>
          </a:xfrm>
          <a:prstGeom prst="rect">
            <a:avLst/>
          </a:prstGeom>
        </p:spPr>
      </p:pic>
      <p:pic>
        <p:nvPicPr>
          <p:cNvPr id="5" name="תמונה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875506">
            <a:off x="5495048" y="3546274"/>
            <a:ext cx="2160240" cy="3031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36368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תוצרים של מערכת הלמידה</a:t>
            </a:r>
            <a:br>
              <a:rPr lang="he-IL" dirty="0" smtClean="0"/>
            </a:br>
            <a:r>
              <a:rPr lang="he-IL" dirty="0" smtClean="0"/>
              <a:t>מילון מונחים (</a:t>
            </a:r>
            <a:r>
              <a:rPr lang="en-US" dirty="0" smtClean="0"/>
              <a:t>Taxonomy</a:t>
            </a:r>
            <a:r>
              <a:rPr lang="he-IL" dirty="0" smtClean="0"/>
              <a:t>)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186042" y="5446965"/>
            <a:ext cx="8799204" cy="369332"/>
          </a:xfrm>
          <a:prstGeom prst="rect">
            <a:avLst/>
          </a:prstGeom>
          <a:noFill/>
        </p:spPr>
        <p:txBody>
          <a:bodyPr wrap="non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חלוקה לקטגוריות משפרת את היעילות בהעברת מידע ע"י יצירת שפה משותפת בין </a:t>
            </a:r>
            <a:r>
              <a:rPr lang="he-IL" smtClean="0"/>
              <a:t>אנשי הצוות</a:t>
            </a:r>
            <a:endParaRPr lang="he-IL" dirty="0" smtClean="0"/>
          </a:p>
        </p:txBody>
      </p:sp>
      <p:pic>
        <p:nvPicPr>
          <p:cNvPr id="7" name="תמונה 6"/>
          <p:cNvPicPr/>
          <p:nvPr/>
        </p:nvPicPr>
        <p:blipFill>
          <a:blip r:embed="rId2"/>
          <a:stretch>
            <a:fillRect/>
          </a:stretch>
        </p:blipFill>
        <p:spPr>
          <a:xfrm>
            <a:off x="85644" y="1487598"/>
            <a:ext cx="9000000" cy="40258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875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he-IL" dirty="0" smtClean="0"/>
              <a:t>תוצרים של מערכת הלמידה</a:t>
            </a:r>
            <a:br>
              <a:rPr lang="he-IL" dirty="0" smtClean="0"/>
            </a:br>
            <a:r>
              <a:rPr lang="he-IL" dirty="0" smtClean="0"/>
              <a:t>סטטיסטיקת דיווחים</a:t>
            </a:r>
            <a:endParaRPr lang="he-IL" dirty="0"/>
          </a:p>
        </p:txBody>
      </p:sp>
      <p:sp>
        <p:nvSpPr>
          <p:cNvPr id="3" name="TextBox 2"/>
          <p:cNvSpPr txBox="1"/>
          <p:nvPr/>
        </p:nvSpPr>
        <p:spPr>
          <a:xfrm>
            <a:off x="457201" y="5325015"/>
            <a:ext cx="8229600" cy="1200329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 smtClean="0"/>
              <a:t>כמות </a:t>
            </a:r>
            <a:r>
              <a:rPr lang="he-IL" dirty="0"/>
              <a:t>הדיווחים לשנת 2024 עומדת על 115 דיווחים. </a:t>
            </a:r>
            <a:endParaRPr lang="he-IL" dirty="0" smtClean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ארבע השנים האחרונות מתאפיינת ביציבות יחסית במספר </a:t>
            </a:r>
            <a:r>
              <a:rPr lang="he-IL" dirty="0" smtClean="0"/>
              <a:t>הדיווחים.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he-IL" dirty="0"/>
              <a:t>ממוצע </a:t>
            </a:r>
            <a:r>
              <a:rPr lang="he-IL" dirty="0" smtClean="0"/>
              <a:t>ארבע שנתי של מספר הדיווחים בשנים האחרונות עומד על </a:t>
            </a:r>
            <a:r>
              <a:rPr lang="he-IL" dirty="0"/>
              <a:t>105.8 דיווחים לשנה שהם 26.8 דיווחים בממוצע </a:t>
            </a:r>
            <a:r>
              <a:rPr lang="he-IL" dirty="0" smtClean="0"/>
              <a:t>לרבעון.</a:t>
            </a:r>
          </a:p>
        </p:txBody>
      </p:sp>
      <p:pic>
        <p:nvPicPr>
          <p:cNvPr id="9" name="תמונה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35696" y="1484784"/>
            <a:ext cx="5791702" cy="37859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365956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 dirty="0" smtClean="0"/>
              <a:t>פרוטוקולים וכתיבת נהלים</a:t>
            </a:r>
            <a:endParaRPr lang="he-IL" dirty="0"/>
          </a:p>
        </p:txBody>
      </p:sp>
      <p:sp>
        <p:nvSpPr>
          <p:cNvPr id="3" name="מציין מיקום תוכן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he-IL" dirty="0" smtClean="0"/>
              <a:t>כחלק מהלמידה של מערך האיכות אנו שוקדים על כתיבה של פרוטוקולים ונהלי עבודה. </a:t>
            </a:r>
            <a:endParaRPr lang="he-IL" dirty="0"/>
          </a:p>
          <a:p>
            <a:r>
              <a:rPr lang="he-IL" dirty="0" smtClean="0"/>
              <a:t>הנהלים מקבלים אישור של מנהל היחידה.</a:t>
            </a:r>
          </a:p>
          <a:p>
            <a:r>
              <a:rPr lang="he-IL" dirty="0" smtClean="0"/>
              <a:t>הידע מועבר לצוות בישיבות צוות ובאמצעות המשוב החוזר של הדיווחים.</a:t>
            </a:r>
          </a:p>
          <a:p>
            <a:r>
              <a:rPr lang="he-IL" dirty="0" smtClean="0"/>
              <a:t>כ 11 נהלים נכתבו בין 2021 ל 2024.</a:t>
            </a:r>
          </a:p>
          <a:p>
            <a:r>
              <a:rPr lang="he-IL" dirty="0" smtClean="0"/>
              <a:t>בוצעו מספר אנליזות תהליכיות.</a:t>
            </a:r>
          </a:p>
        </p:txBody>
      </p:sp>
    </p:spTree>
    <p:extLst>
      <p:ext uri="{BB962C8B-B14F-4D97-AF65-F5344CB8AC3E}">
        <p14:creationId xmlns:p14="http://schemas.microsoft.com/office/powerpoint/2010/main" val="215144801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כותרת 4"/>
          <p:cNvSpPr>
            <a:spLocks noGrp="1"/>
          </p:cNvSpPr>
          <p:nvPr>
            <p:ph type="ctrTitle"/>
          </p:nvPr>
        </p:nvSpPr>
        <p:spPr/>
        <p:txBody>
          <a:bodyPr rtlCol="1">
            <a:normAutofit/>
          </a:bodyPr>
          <a:lstStyle/>
          <a:p>
            <a:pPr fontAlgn="auto">
              <a:spcAft>
                <a:spcPts val="0"/>
              </a:spcAft>
              <a:defRPr/>
            </a:pPr>
            <a:r>
              <a:rPr lang="he-IL" sz="7200" b="1" i="1" dirty="0" smtClean="0">
                <a:solidFill>
                  <a:schemeClr val="accent4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תודה</a:t>
            </a:r>
            <a:endParaRPr lang="he-IL" sz="7200" b="1" i="1" dirty="0">
              <a:solidFill>
                <a:schemeClr val="accent4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23679</TotalTime>
  <Words>773</Words>
  <Application>Microsoft Office PowerPoint</Application>
  <PresentationFormat>‫הצגה על המסך (4:3)</PresentationFormat>
  <Paragraphs>100</Paragraphs>
  <Slides>16</Slides>
  <Notes>1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16</vt:i4>
      </vt:variant>
    </vt:vector>
  </HeadingPairs>
  <TitlesOfParts>
    <vt:vector size="20" baseType="lpstr">
      <vt:lpstr>Arial</vt:lpstr>
      <vt:lpstr>Calibri</vt:lpstr>
      <vt:lpstr>Times New Roman</vt:lpstr>
      <vt:lpstr>1_ערכת נושא Office</vt:lpstr>
      <vt:lpstr>הגנת המטופל איכות ולמידה ברדיותרפיה</vt:lpstr>
      <vt:lpstr>מקרה מספר 678 – תיעוד לא תקין</vt:lpstr>
      <vt:lpstr>מקרה מספר 678 – תיעוד לא תקין</vt:lpstr>
      <vt:lpstr>מקרה מספר 678 – תיעוד לא תקין</vt:lpstr>
      <vt:lpstr>מקרה מספר 678 – תיעוד לא תקין</vt:lpstr>
      <vt:lpstr>מורכבות הטיפול ברדיותרפיה.</vt:lpstr>
      <vt:lpstr>סגירת מעגל הלמידה</vt:lpstr>
      <vt:lpstr>מערכת למידה מקומית של מרכז רפואי רבין</vt:lpstr>
      <vt:lpstr>מערכת למידה מקומית של מרכז רפואי רבין</vt:lpstr>
      <vt:lpstr>מערכת למידה מקומית של מרכז רפואי רבין</vt:lpstr>
      <vt:lpstr>תוצרים של מערכת הלמידה</vt:lpstr>
      <vt:lpstr>תוצרים של מערכת הלמידה</vt:lpstr>
      <vt:lpstr>תוצרים של מערכת הלמידה מילון מונחים (Taxonomy)</vt:lpstr>
      <vt:lpstr>תוצרים של מערכת הלמידה סטטיסטיקת דיווחים</vt:lpstr>
      <vt:lpstr>פרוטוקולים וכתיבת נהלים</vt:lpstr>
      <vt:lpstr>תודה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מבוא לרדיותרפיה</dc:title>
  <dc:creator>rbh</dc:creator>
  <cp:lastModifiedBy>רן בן חור</cp:lastModifiedBy>
  <cp:revision>260</cp:revision>
  <cp:lastPrinted>2017-07-18T12:54:31Z</cp:lastPrinted>
  <dcterms:created xsi:type="dcterms:W3CDTF">2013-09-11T08:50:57Z</dcterms:created>
  <dcterms:modified xsi:type="dcterms:W3CDTF">2025-02-23T15:50:24Z</dcterms:modified>
</cp:coreProperties>
</file>