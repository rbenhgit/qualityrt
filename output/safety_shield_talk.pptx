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דיווחים</c:v>
                </c:pt>
              </c:strCache>
            </c:strRef>
          </c:tx>
          <c:spPr>
            <a:ln w="38100">
              <a:solidFill>
                <a:srgbClr val="4E658F"/>
              </a:solidFill>
            </a:ln>
          </c:spP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</c:v>
                </c:pt>
                <c:pt idx="1">
                  <c:v>93</c:v>
                </c:pt>
                <c:pt idx="2">
                  <c:v>55</c:v>
                </c:pt>
                <c:pt idx="3">
                  <c:v>100</c:v>
                </c:pt>
                <c:pt idx="4">
                  <c:v>130</c:v>
                </c:pt>
                <c:pt idx="5">
                  <c:v>90</c:v>
                </c:pt>
                <c:pt idx="6">
                  <c:v>115</c:v>
                </c:pt>
                <c:pt idx="7">
                  <c:v>130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 b="1">
                  <a:solidFill>
                    <a:srgbClr val="3E5278"/>
                  </a:solidFill>
                  <a:latin typeface="Segoe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4E658F"/>
            </a:solidFill>
          </c:spPr>
          <c:dPt>
            <c:idx val="7"/>
            <c:spPr>
              <a:solidFill>
                <a:srgbClr val="C6A35A"/>
              </a:solidFill>
            </c:spPr>
          </c:dPt>
          <c:cat>
            <c:strRef>
              <c:f>Sheet1!$A$2:$A$9</c:f>
              <c:strCache>
                <c:ptCount val="8"/>
                <c:pt idx="0">
                  <c:v>עבודה שלא לפי נוהל</c:v>
                </c:pt>
                <c:pt idx="1">
                  <c:v>סריקה לא תקינה</c:v>
                </c:pt>
                <c:pt idx="2">
                  <c:v>אי-עמידה בזמנים</c:v>
                </c:pt>
                <c:pt idx="3">
                  <c:v>תכנון שגוי</c:v>
                </c:pt>
                <c:pt idx="4">
                  <c:v>העברת מידע</c:v>
                </c:pt>
                <c:pt idx="5">
                  <c:v>מתן טיפול שגוי</c:v>
                </c:pt>
                <c:pt idx="6">
                  <c:v>תקשורת לקויה</c:v>
                </c:pt>
                <c:pt idx="7">
                  <c:v>תיעוד לקוי/חסר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</c:v>
                </c:pt>
                <c:pt idx="1">
                  <c:v>6.6</c:v>
                </c:pt>
                <c:pt idx="2">
                  <c:v>6.8</c:v>
                </c:pt>
                <c:pt idx="3">
                  <c:v>7.0</c:v>
                </c:pt>
                <c:pt idx="4">
                  <c:v>8.6</c:v>
                </c:pt>
                <c:pt idx="5">
                  <c:v>8.6</c:v>
                </c:pt>
                <c:pt idx="6">
                  <c:v>9.3</c:v>
                </c:pt>
                <c:pt idx="7">
                  <c:v>24.3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3E5278"/>
                  </a:solidFill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5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ברוכים הבאים לרענון הבטיחות השנתי. היום על איך אנחנו יחד בונים מעטפת הגנה סביב המטופל.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פתיחה: כולנו כאן כדי לרפא, אך המורכבות דורשת הגנה שיטתית.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ספרד 1990 (סרגוסה): תיקון ללא אימות פיזיקאי, מסך שגוי, 36 במקום 6 מגה-וולט. 27 מטופלים, לפחות 15 נפטרו.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גלזגו 2006: שדרוג תוכנה + טופס לא מעודכן = מנת יתר קטלנית. אותו דפוס כמו ספרד.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מודל ריזן: טעות נתפסת כמעט תמיד בשכבה הבאה. המטרה: שכבות עצמאיות וחסונות.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זה שם המצגת — ארבע השכבות הן מעטפת ההגנה שכל אחד חלק ממנה.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חמישה תפקידים סביב המטופל. אין 'רק עושה את שלי'.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גם בתאונות, אנשים מנוסים לא עצרו לשאול כי 'זה תמיד עבד'.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רוב הדיווחים הם כמעט-ונפגע ומצבים לא בטוחים — וזה בדיוק מה שרוצים.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בלי תרבות צדק אנשים שותקים והמערכת עיוורת.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אל תקריאו את כל העשר — הציגו קבוצות ותנו דוגמה יומיומית.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עלייה בדיווחים היא סימן טוב. מקור: Incident reporting.xlsx / discussion_7.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799 אזכורים מתויגים. אם נשתפר בתיעוד ותקשורת — נמנע את מרב האירועים.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שני מעגלים שמזינים זה את זה. המטרה: לסגור את מעגל הביצוע, לא רק לצבור דיווחים.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מקרה מייצג המבוסס על הדפוס השכיח (תיעוד). החליפו במקרה אמיתי אנונימי אם יש.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הדגישו את האנונימיות כמסירת החשש.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סיימו בקריאה אישית: שלושה דברים, כל אחד יכול.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תודה, ומשפט אישי על גאווה בצוות שמדווח ולומד.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874519"/>
            <a:ext cx="685800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5200" b="1">
                <a:solidFill>
                  <a:srgbClr val="3E5278"/>
                </a:solidFill>
                <a:latin typeface="Segoe UI"/>
                <a:cs typeface="Segoe UI"/>
              </a:rPr>
              <a:t>מעטפת ההגנה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017520"/>
            <a:ext cx="68580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2800" b="1">
                <a:solidFill>
                  <a:srgbClr val="A08040"/>
                </a:solidFill>
                <a:latin typeface="Segoe UI"/>
                <a:cs typeface="Segoe UI"/>
              </a:rPr>
              <a:t>ניהול סיכונים ברדיותרפיה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3840480"/>
            <a:ext cx="758952" cy="41148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977639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500" b="0">
                <a:solidFill>
                  <a:srgbClr val="4E658F"/>
                </a:solidFill>
                <a:latin typeface="Segoe UI"/>
                <a:cs typeface="Segoe UI"/>
              </a:rPr>
              <a:t>בניית תרבות בטיחות · למידה מאירועים · תהליכים פרואקטיביים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754880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1300" b="0">
                <a:solidFill>
                  <a:srgbClr val="6E7684"/>
                </a:solidFill>
                <a:latin typeface="Segoe UI"/>
                <a:cs typeface="Segoe UI"/>
              </a:rPr>
              <a:t>רענון בטיחות שנתי · לצוות היחידה: רופאים · פיזיקאים · רנטגנאים · אחיות · מזכירות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למה אנחנו כאן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_66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1371600" cy="23831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2200" b="1">
                <a:solidFill>
                  <a:srgbClr val="3E5278"/>
                </a:solidFill>
                <a:latin typeface="Segoe UI"/>
                <a:cs typeface="Segoe UI"/>
              </a:rPr>
              <a:t>רדיותרפיה מצילה חיים — אך היא תהליך מורכב ועתיר סיכון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11880"/>
            <a:ext cx="10972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30584" y="3666744"/>
            <a:ext cx="82296" cy="2084831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424160" cy="18288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כל טיפול הוא שרשרת ארוכה </a:t>
            </a:r>
            <a:r>
              <a:rPr sz="1700" b="0">
                <a:solidFill>
                  <a:srgbClr val="3A3F4B"/>
                </a:solidFill>
                <a:latin typeface="Segoe UI"/>
                <a:cs typeface="Segoe UI"/>
              </a:rPr>
              <a:t>של החלטות ופעולות של אנשים שונים — כל חוליה חשובה.</a:t>
            </a:r>
          </a:p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רוב הטעויות אינן 'רשלנות' </a:t>
            </a:r>
            <a:r>
              <a:rPr sz="1700" b="0">
                <a:solidFill>
                  <a:srgbClr val="3A3F4B"/>
                </a:solidFill>
                <a:latin typeface="Segoe UI"/>
                <a:cs typeface="Segoe UI"/>
              </a:rPr>
              <a:t>אלא כשלים סמויים במערכת, בתקשורת ובממשק אדם-מכונה.</a:t>
            </a:r>
          </a:p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המטרה שלנו אינה אפס טעויות אנוש (בלתי אפשרי) </a:t>
            </a:r>
            <a:r>
              <a:rPr sz="1700" b="0">
                <a:solidFill>
                  <a:srgbClr val="3A3F4B"/>
                </a:solidFill>
                <a:latin typeface="Segoe UI"/>
                <a:cs typeface="Segoe UI"/>
              </a:rPr>
              <a:t>אלא מערכת שתופסת אותן לפני שהן מגיעות למטופל.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בטיחות אינה מזל — היא מערכת שאנחנו בונים ומתחזקים יחד.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כשהמערכת כושלת: ספרד, 1990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s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249448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3291840"/>
            <a:ext cx="55321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22024" y="3346704"/>
            <a:ext cx="82296" cy="2359152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401568"/>
            <a:ext cx="51663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מה קרה — הסיפור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858768"/>
            <a:ext cx="5166360" cy="18288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מהנדסים תיקנו תקלה במאיץ — אך לאחר התיקון לא בוצעה בדיקת פיזיקאי בלתי-תלויה.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התצוגה במסך הראתה נתון שגוי, והמאיץ פלט אנרגיה מקסימלית — 36 מגה-וולט במקום 6.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מתוך 27 מטופלים שטופלו במצב השגוי, לפחות 15 נפטרו.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91840"/>
            <a:ext cx="54864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07024" y="3346704"/>
            <a:ext cx="82296" cy="2359152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01568"/>
            <a:ext cx="51206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הלקח שלנו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58768"/>
            <a:ext cx="5120640" cy="12801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אחרי כל תיקון או שינוי טכני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עצור, בדוק, אמת באופן בלתי-תלוי.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שינוי ללא אימות עצמאי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הוא נקודת כשל מערכתית.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500" b="1">
                <a:solidFill>
                  <a:srgbClr val="C67860"/>
                </a:solidFill>
                <a:latin typeface="Segoe UI"/>
                <a:cs typeface="Segoe UI"/>
              </a:rPr>
              <a:t>מתוך 27 מטופלים — לפחות 15 נפטרו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אלו אינם כשלים של אדם בודד — אלא קריסה של מערכת שחסרו בה מחסומים.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כשהמערכת כושלת: גלזגו / ליסה נוריס, 2006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5669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22024" y="1426464"/>
            <a:ext cx="82296" cy="4279392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517904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מה קרה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303520" cy="35661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נערה בת 15 בטיפול CNS;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שדרוג תוכנה הפך את שקלול המנה לאוטומטי.</a:t>
            </a:r>
          </a:p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טופס שלא עודכן גרם להחלת המנה פעמיים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— מנת יתר של כ-67% מהמתוכנן.</a:t>
            </a:r>
          </a:p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גורמים: מתכנן חסר ניסיון, בדיקה לא עצמאית,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מחסור בכוח אדם, נהלים שלא עודכנו. המטופלת נפטרה.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492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9864" y="1426464"/>
            <a:ext cx="82296" cy="4279392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17904"/>
            <a:ext cx="4983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המכנה המשותף לשתי התאונות</a:t>
            </a:r>
          </a:p>
        </p:txBody>
      </p:sp>
      <p:pic>
        <p:nvPicPr>
          <p:cNvPr id="13" name="Picture 12" descr="ic_84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03120"/>
            <a:ext cx="1051560" cy="1051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3337560"/>
            <a:ext cx="4983480" cy="21945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עומס מערכתי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— לחץ וזמן שמובילים לקיצורי דרך.</a:t>
            </a:r>
          </a:p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כשל בתקשורת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בין אנשים וצוותים.</a:t>
            </a:r>
          </a:p>
          <a:p>
            <a:pPr algn="r" rtl="1">
              <a:lnSpc>
                <a:spcPct val="105000"/>
              </a:lnSpc>
              <a:spcAft>
                <a:spcPts val="10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היעדר בדיקות כפולות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בצמתי החלטה קריטיים.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כשמשנים כלי — מעדכנים גם את הנהלים והבדיקות סביבו. אחרת ההגנה נעלמת בשקט.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איך טעויות קורות: מודל הגבינה השוויצרית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sw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234440"/>
            <a:ext cx="7315200" cy="4109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לכל שכבת הגנה יש 'חורים' (חולשות)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— אף שכבה אינה מושלמת לבדה; אסון קורה רק כשהחורים בכמה שכבות מתיישרים.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אנחנו לא מחפשים אשם בשכבה אחת — אנחנו מחזקים את כל השכבות יחד.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מעטפת ההגנה שלנו: ארבע השכבות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93192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37760" y="1417320"/>
            <a:ext cx="6766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22024" y="1472184"/>
            <a:ext cx="82296" cy="914400"/>
          </a:xfrm>
          <a:prstGeom prst="round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52704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1 · תרבות בטיחות ונהלים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65960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400" b="0">
                <a:solidFill>
                  <a:srgbClr val="3A3F4B"/>
                </a:solidFill>
                <a:latin typeface="Segoe UI"/>
                <a:cs typeface="Segoe UI"/>
              </a:rPr>
              <a:t>הבסיס — אנשים שיודעים לעצור ולשאול.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514600"/>
            <a:ext cx="6766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622024" y="2569464"/>
            <a:ext cx="82296" cy="914400"/>
          </a:xfrm>
          <a:prstGeom prst="roundRect">
            <a:avLst/>
          </a:prstGeom>
          <a:solidFill>
            <a:srgbClr val="6E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62432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2 · תכנון ובקרת איכות (QA)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063240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400" b="0">
                <a:solidFill>
                  <a:srgbClr val="3A3F4B"/>
                </a:solidFill>
                <a:latin typeface="Segoe UI"/>
                <a:cs typeface="Segoe UI"/>
              </a:rPr>
              <a:t>בדיקות התוכנית לפני הטיפול.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611880"/>
            <a:ext cx="6766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622024" y="3666744"/>
            <a:ext cx="82296" cy="914400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72160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3 · בדיקות פיזיקליות בלתי-תלויות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160520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400" b="0">
                <a:solidFill>
                  <a:srgbClr val="3A3F4B"/>
                </a:solidFill>
                <a:latin typeface="Segoe UI"/>
                <a:cs typeface="Segoe UI"/>
              </a:rPr>
              <a:t>אימות עצמאי של החישובים.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709160"/>
            <a:ext cx="67665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622024" y="4764024"/>
            <a:ext cx="82296" cy="914400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818888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4 · בקרה קלינית ו-Time-out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57800"/>
            <a:ext cx="6400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400" b="0">
                <a:solidFill>
                  <a:srgbClr val="3A3F4B"/>
                </a:solidFill>
                <a:latin typeface="Segoe UI"/>
                <a:cs typeface="Segoe UI"/>
              </a:rPr>
              <a:t>אישור רופא ועצירת אימות לפני ההקרנה.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ארבע שכבות עצמאיות — כל אחת תופסת את מה שחמקה מקודמתה.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שרשרת הטיפול הקריטית: כולם חוליה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583680" cy="484094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71600"/>
            <a:ext cx="45720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22024" y="1426464"/>
            <a:ext cx="82296" cy="4279392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17904"/>
            <a:ext cx="4206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למה זה נוגע לכל תפקיד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57400"/>
            <a:ext cx="4206240" cy="35661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טיפול קרינתי הוא שרשרת, לא פעולה בודדת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המטופל במרכז וחמישה תפקידים סביבו.</a:t>
            </a:r>
          </a:p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שגיאה בחוליה אחת מתפשטת קדימה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עד המטופל דרך כל השאר.</a:t>
            </a:r>
          </a:p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לכל תפקיד 'רגע בטיחות' משלו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רופא, פיזיקאי, רנטגנאי, אחות/מזכירה, מהנדס.</a:t>
            </a:r>
          </a:p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אף אחד אינו 'רק עושה את שלו'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כולנו שומרים על אותה שרשרת.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כל חוליה מגִנה על הבאה אחריה — הבטיחות היא באחריות כולם.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מלכודת הוותק והשאננות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39496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22024" y="1472184"/>
            <a:ext cx="82296" cy="4233672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82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618488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56032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הוותיק: מלכודת ההרגל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108960"/>
            <a:ext cx="502920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'תמיד עשינו ככה וזה עבד'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שאננות היא גורם מוביל לתאונות.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אם משהו נראה חריג — עצור ושאל,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גם אם עשית זאת אלף פעם.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4864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07024" y="1472184"/>
            <a:ext cx="82296" cy="4233672"/>
          </a:xfrm>
          <a:prstGeom prst="round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147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39" y="1618488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256032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החדש: הפחד לשאול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512064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שאלה של עובד חדש היא נכס,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לא הפרעה.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הגישה השואלת היא מיומנות מקצועית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לא חוסר כבוד.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ותק הוא נכס — שאננות היא סיכון. הגישה השואלת שומרת על שנינו.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מה בכלל מדווחים?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417320"/>
            <a:ext cx="3703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22024" y="1472184"/>
            <a:ext cx="82296" cy="4233672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887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0" y="1618488"/>
            <a:ext cx="822960" cy="8807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2560320"/>
            <a:ext cx="33375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אירוע קרינה טיפולי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3756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המנה, הנפח או הפרקציונציה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שניתנו שונים מהמרשם.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17320"/>
            <a:ext cx="3657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27264" y="1472184"/>
            <a:ext cx="82296" cy="4233672"/>
          </a:xfrm>
          <a:prstGeom prst="round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346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18488"/>
            <a:ext cx="822960" cy="10003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4840" y="256032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כמעט ונפגע (Near Miss)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08960"/>
            <a:ext cx="329184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טעות שנתפסה ונעצרה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לפני שהגיעה למטופל.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האינדיקטור החיובי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החשוב ביותר!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417320"/>
            <a:ext cx="3657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78224" y="1472184"/>
            <a:ext cx="82296" cy="4233672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_96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39" y="1618488"/>
            <a:ext cx="822960" cy="9673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256032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מצב לא בטוח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329184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כשל סמוי שטרם גרם לאירוע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(ציוד לקוי, מחסור בכוח אדם).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'כמעט ונפגע' הוא מתנה — הזדמנות ללמוד בלי שאף אחד נפגע.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הפילוסופיה שלנו: תרבות צדק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417320"/>
            <a:ext cx="3703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22024" y="1472184"/>
            <a:ext cx="82296" cy="3913632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944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0" y="1618488"/>
            <a:ext cx="822960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2560320"/>
            <a:ext cx="33375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תרבות אשמה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37560" cy="21945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מענישה את היחיד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⟵ פחד ותת-דיווח; המערכת לא לומדת.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17320"/>
            <a:ext cx="36576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27264" y="1472184"/>
            <a:ext cx="82296" cy="3913632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343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18488"/>
            <a:ext cx="822960" cy="10034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4840" y="256032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תרבות צדק (האיזון)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08960"/>
            <a:ext cx="3291840" cy="21945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חוקרת את המערכת;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אפס-סובלנות רק להפרות חוזרות ומכוונות.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417320"/>
            <a:ext cx="36576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78224" y="1472184"/>
            <a:ext cx="82296" cy="3913632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_929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39" y="1618488"/>
            <a:ext cx="822960" cy="7341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256032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תרבות ללא-אשמה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3291840" cy="21945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מוותרת על אחריות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קיצוני מדי לכיוון השני.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עובד אינו אחראי לכשלים מערכתיים שאינם בשליטתו — אנחנו מתקנים מערכות, לא מענישים אנשים.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עשר תכונות תרבות הבטיחות (IAEA)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15184" y="1517904"/>
            <a:ext cx="82296" cy="1719072"/>
          </a:xfrm>
          <a:prstGeom prst="round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4168" y="1645920"/>
            <a:ext cx="512064" cy="457200"/>
          </a:xfrm>
          <a:prstGeom prst="ellipse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24028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אחריות אישית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6304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1183" y="1517904"/>
            <a:ext cx="82296" cy="1719072"/>
          </a:xfrm>
          <a:prstGeom prst="roundRect">
            <a:avLst/>
          </a:prstGeom>
          <a:solidFill>
            <a:srgbClr val="6E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0168" y="1645920"/>
            <a:ext cx="512064" cy="457200"/>
          </a:xfrm>
          <a:prstGeom prst="ellipse">
            <a:avLst/>
          </a:prstGeom>
          <a:solidFill>
            <a:srgbClr val="6E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24028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גישה ביקורתית ושואלת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46304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87183" y="1517904"/>
            <a:ext cx="82296" cy="1719072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16168" y="1645920"/>
            <a:ext cx="512064" cy="457200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24028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תקשורת בטיחות אפקטיבית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46304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73184" y="1517904"/>
            <a:ext cx="82296" cy="1719072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02168" y="1645920"/>
            <a:ext cx="512064" cy="457200"/>
          </a:xfrm>
          <a:prstGeom prst="ellipse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224028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אחריות המנהיגות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146304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759184" y="1517904"/>
            <a:ext cx="82296" cy="1719072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88168" y="1645920"/>
            <a:ext cx="512064" cy="457200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24028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קבלת החלטות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1188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15184" y="3666744"/>
            <a:ext cx="82296" cy="1719072"/>
          </a:xfrm>
          <a:prstGeom prst="round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44168" y="3794760"/>
            <a:ext cx="512064" cy="457200"/>
          </a:xfrm>
          <a:prstGeom prst="ellipse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38912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סביבת עבודה מכבדת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361188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01183" y="3666744"/>
            <a:ext cx="82296" cy="1719072"/>
          </a:xfrm>
          <a:prstGeom prst="roundRect">
            <a:avLst/>
          </a:prstGeom>
          <a:solidFill>
            <a:srgbClr val="6E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30168" y="3794760"/>
            <a:ext cx="512064" cy="457200"/>
          </a:xfrm>
          <a:prstGeom prst="ellipse">
            <a:avLst/>
          </a:prstGeom>
          <a:solidFill>
            <a:srgbClr val="6E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8648" y="438912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למידה מתמשכת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361188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87183" y="3666744"/>
            <a:ext cx="82296" cy="1719072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16168" y="3794760"/>
            <a:ext cx="512064" cy="457200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438912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זיהוי ופתרון בעיות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361188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73184" y="3666744"/>
            <a:ext cx="82296" cy="1719072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02168" y="3794760"/>
            <a:ext cx="512064" cy="457200"/>
          </a:xfrm>
          <a:prstGeom prst="ellipse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438912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סביבה המעודדת העלאת חששות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3611880"/>
            <a:ext cx="21945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759184" y="3666744"/>
            <a:ext cx="82296" cy="1719072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88168" y="3794760"/>
            <a:ext cx="512064" cy="457200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4389120"/>
            <a:ext cx="1975104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350" b="1">
                <a:solidFill>
                  <a:srgbClr val="3E5278"/>
                </a:solidFill>
                <a:latin typeface="Segoe UI"/>
                <a:cs typeface="Segoe UI"/>
              </a:rPr>
              <a:t>תהליכי עבודה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תרבות בטיחות אינה סיסמה — היא עשר התנהגויות שאנחנו חיים בכל יום.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תמונת מצב מקומית: הדיווח שלנו עולה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37160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417320"/>
            <a:ext cx="420624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22024" y="1472184"/>
            <a:ext cx="82296" cy="4233672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554480"/>
            <a:ext cx="3840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מה זה אומר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57400"/>
            <a:ext cx="3840480" cy="35661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בעבודה שוטפת מאוקטובר 2017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נרשמו 833 דיווחים (סה"כ 871).</a:t>
            </a:r>
          </a:p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מגמת הדיווח עולה בהתמדה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בשלות של תרבות דיווח, לא יותר טעויות.</a:t>
            </a:r>
          </a:p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מעל 90% מהאירועים נתפסים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לפני שהם מגיעים למטופל.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יותר דיווחים = יותר עיניים פקוחות. זו עדות לתרבות בטיחות בריאה.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על מה אנחנו מדווחים בפועל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37160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417320"/>
            <a:ext cx="420624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22024" y="1472184"/>
            <a:ext cx="82296" cy="4233672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554480"/>
            <a:ext cx="38404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1">
                <a:solidFill>
                  <a:srgbClr val="3E5278"/>
                </a:solidFill>
                <a:latin typeface="Segoe UI"/>
                <a:cs typeface="Segoe UI"/>
              </a:rPr>
              <a:t>מה הנתונים מספרים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57400"/>
            <a:ext cx="3840480" cy="356616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תיעוד לקוי הוא הסיבה מס' 1 (24%)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מעל כפליים מהגורם הבא.</a:t>
            </a:r>
          </a:p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הכשלים שלנו אנושיים ותקשורתיים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לא ציוד ולא תוכנה.</a:t>
            </a:r>
          </a:p>
          <a:p>
            <a:pPr algn="r" rtl="1">
              <a:lnSpc>
                <a:spcPct val="105000"/>
              </a:lnSpc>
              <a:spcAft>
                <a:spcPts val="9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ארבע תמות מובילות = כ-46%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מיעוט סיבות חוזרות מסביר את רוב הדיווחים.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רוב האירועים אינם 'תקלות ציוד' — הם רגעים של תיעוד ותקשורת שאפשר לתקן.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מעגל הלמידה: איך דיווח הופך לשינוי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280160"/>
            <a:ext cx="8686800" cy="39424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230368"/>
            <a:ext cx="10972800" cy="73152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00" b="1">
                <a:solidFill>
                  <a:srgbClr val="3E5278"/>
                </a:solidFill>
                <a:latin typeface="Segoe UI"/>
                <a:cs typeface="Segoe UI"/>
              </a:rPr>
              <a:t>מעגל הידע לוכד מה שקרה </a:t>
            </a:r>
            <a:r>
              <a:rPr sz="1500" b="0">
                <a:solidFill>
                  <a:srgbClr val="3A3F4B"/>
                </a:solidFill>
                <a:latin typeface="Segoe UI"/>
                <a:cs typeface="Segoe UI"/>
              </a:rPr>
              <a:t>— דיווח ⇐ ישיבה ⇐ משוב.   ◆   מעגל הביצוע הופך ידע לפעולה — חקירה ⇐ הטמעה ⇐ ניטור.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דיווח הוא רק ההתחלה — הערך נוצר כשהלולאה נסגרת בשינוי בפועל.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מקרה מקומי (מייצג ואנונימי)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71600"/>
            <a:ext cx="10058400" cy="24944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400" b="1">
                <a:solidFill>
                  <a:srgbClr val="6E7684"/>
                </a:solidFill>
                <a:latin typeface="Segoe UI"/>
                <a:cs typeface="Segoe UI"/>
              </a:rPr>
              <a:t>[ מקרה מייצג ואנונימי — ניתן לשבץ כאן מקרה אמיתי מ-QI_Train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972800" cy="100584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550" b="1">
                <a:solidFill>
                  <a:srgbClr val="3E5278"/>
                </a:solidFill>
                <a:latin typeface="Segoe UI"/>
                <a:cs typeface="Segoe UI"/>
              </a:rPr>
              <a:t>דיווח אחד שהפך לשינוי </a:t>
            </a:r>
            <a:r>
              <a:rPr sz="1550" b="0">
                <a:solidFill>
                  <a:srgbClr val="3A3F4B"/>
                </a:solidFill>
                <a:latin typeface="Segoe UI"/>
                <a:cs typeface="Segoe UI"/>
              </a:rPr>
              <a:t>— פרט קריטי שלא תועד, נתפס בבדיקה הפיזיקלית לפני המטופל, ובעקבותיו עודכן הנוהל.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כל דיווח הוא סיפור שממנו כולנו לומדים — והמערכת משתנה בזכותו.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הכלי החדש: טופס דיווח אנונימי ומובנה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5321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22024" y="1472184"/>
            <a:ext cx="82296" cy="4233672"/>
          </a:xfrm>
          <a:prstGeom prst="roundRect">
            <a:avLst/>
          </a:prstGeom>
          <a:solidFill>
            <a:srgbClr val="6E76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488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0" y="1618488"/>
            <a:ext cx="822960" cy="10399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2560320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הטופס הישן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108960"/>
            <a:ext cx="5166359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טקסט חופשי בלבד,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מזהה את הסקטור המדווח.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סובייקטיבי ולא בר-השוואה.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קשה להפיק ממנו מגמות.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4864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07024" y="1472184"/>
            <a:ext cx="82296" cy="4233672"/>
          </a:xfrm>
          <a:prstGeom prst="round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971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39" y="1618488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256032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הטופס החדש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512064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אנונימי לחלוטין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— מסיר את החשש לדווח.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שדות מובנים: סוג אירוע, גורם,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חומרה, רמת סיכון.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מאפשר לזהות מגמות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ולתעדף — וללמוד.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אנונימי, מהיר, מובנה — כל מחסום מהדרך אל הדיווח הוסר.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84048"/>
            <a:ext cx="603504" cy="566928"/>
          </a:xfrm>
          <a:prstGeom prst="ellipse">
            <a:avLst/>
          </a:prstGeom>
          <a:solidFill>
            <a:srgbClr val="4E6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180015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 rtl="1"/>
            <a:r>
              <a:rPr sz="3200" b="1">
                <a:solidFill>
                  <a:srgbClr val="3E5278"/>
                </a:solidFill>
                <a:latin typeface="Segoe UI"/>
                <a:cs typeface="Segoe UI"/>
              </a:rPr>
              <a:t>קריאה לפעולה: שלושה דברים</a:t>
            </a:r>
          </a:p>
        </p:txBody>
      </p:sp>
      <p:sp>
        <p:nvSpPr>
          <p:cNvPr id="4" name="Oval 3"/>
          <p:cNvSpPr/>
          <p:nvPr/>
        </p:nvSpPr>
        <p:spPr>
          <a:xfrm>
            <a:off x="9357055" y="256032"/>
            <a:ext cx="310896" cy="310896"/>
          </a:xfrm>
          <a:prstGeom prst="ellipse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77095" y="1078992"/>
            <a:ext cx="1965960" cy="45720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1417320"/>
            <a:ext cx="3703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22024" y="1472184"/>
            <a:ext cx="82296" cy="4233672"/>
          </a:xfrm>
          <a:prstGeom prst="round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749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0" y="1618488"/>
            <a:ext cx="822960" cy="8732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2560320"/>
            <a:ext cx="33375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דווח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3756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על כל 'כמעט ונפגע',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דרך הטופס האנונימי.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גם אם 'לא קרה כלום'.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17320"/>
            <a:ext cx="3657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27264" y="1472184"/>
            <a:ext cx="82296" cy="4233672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346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18488"/>
            <a:ext cx="822960" cy="10003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4840" y="256032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השמע קול ועצור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08960"/>
            <a:ext cx="329184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קרא ל-Time-out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כשמשהו מרגיש לא נכון.</a:t>
            </a:r>
          </a:p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בלי חשש.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417320"/>
            <a:ext cx="3657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78224" y="1472184"/>
            <a:ext cx="82296" cy="4233672"/>
          </a:xfrm>
          <a:prstGeom prst="roundRect">
            <a:avLst/>
          </a:prstGeom>
          <a:solidFill>
            <a:srgbClr val="C6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_844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39" y="1618488"/>
            <a:ext cx="822960" cy="822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256032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800" b="1">
                <a:solidFill>
                  <a:srgbClr val="3E5278"/>
                </a:solidFill>
                <a:latin typeface="Segoe UI"/>
                <a:cs typeface="Segoe UI"/>
              </a:rPr>
              <a:t>קח אחריות על החוליה שלך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3291840" cy="2514600"/>
          </a:xfrm>
          <a:prstGeom prst="rect">
            <a:avLst/>
          </a:prstGeom>
          <a:noFill/>
        </p:spPr>
        <p:txBody>
          <a:bodyPr wrap="square" lIns="73152" rIns="109728">
            <a:spAutoFit/>
          </a:bodyPr>
          <a:lstStyle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450" b="1">
                <a:solidFill>
                  <a:srgbClr val="3E5278"/>
                </a:solidFill>
                <a:latin typeface="Segoe UI"/>
                <a:cs typeface="Segoe UI"/>
              </a:rPr>
              <a:t>אתה מגן על מי </a:t>
            </a:r>
            <a:r>
              <a:rPr sz="1450" b="0">
                <a:solidFill>
                  <a:srgbClr val="3A3F4B"/>
                </a:solidFill>
                <a:latin typeface="Segoe UI"/>
                <a:cs typeface="Segoe UI"/>
              </a:rPr>
              <a:t>שבא אחריך בשרשרת.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989320"/>
            <a:ext cx="11185855" cy="658368"/>
          </a:xfrm>
          <a:prstGeom prst="roundRect">
            <a:avLst/>
          </a:prstGeom>
          <a:solidFill>
            <a:srgbClr val="4E658F"/>
          </a:solidFill>
          <a:ln>
            <a:noFill/>
          </a:ln>
          <a:effectLst/>
          <a:effectLst>
            <a:outerShdw blurRad="70000" dist="20000" dir="5400000" rotWithShape="0">
              <a:srgbClr val="AEB6C6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20040"/>
          <a:lstStyle/>
          <a:p>
            <a:pPr algn="r" rtl="1"/>
            <a:r>
              <a:rPr sz="1500" b="1">
                <a:solidFill>
                  <a:srgbClr val="C6A35A"/>
                </a:solidFill>
                <a:latin typeface="Segoe UI"/>
                <a:cs typeface="Segoe UI"/>
              </a:rPr>
              <a:t>◆  </a:t>
            </a:r>
            <a:r>
              <a:rPr sz="1800" b="1">
                <a:solidFill>
                  <a:srgbClr val="FFFFFF"/>
                </a:solidFill>
                <a:latin typeface="Segoe UI"/>
                <a:cs typeface="Segoe UI"/>
              </a:rPr>
              <a:t>דיווח הוא מעשה של אחריות קלינית — לא הודאה בכישלון.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51615" y="5989320"/>
            <a:ext cx="137160" cy="658368"/>
          </a:xfrm>
          <a:prstGeom prst="round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65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6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6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8580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3400" b="1">
                <a:solidFill>
                  <a:srgbClr val="FFFFFF"/>
                </a:solidFill>
                <a:latin typeface="Segoe UI"/>
                <a:cs typeface="Segoe UI"/>
              </a:rPr>
              <a:t>כמעט ונפגע הוא הפתרון של מחר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2600" b="1">
                <a:solidFill>
                  <a:srgbClr val="E6D096"/>
                </a:solidFill>
                <a:latin typeface="Segoe UI"/>
                <a:cs typeface="Segoe UI"/>
              </a:rPr>
              <a:t>דיווח הוא מעשה של אחריות קלינית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 rtl="1"/>
            <a:r>
              <a:rPr sz="1700" b="0">
                <a:solidFill>
                  <a:srgbClr val="C8D2E4"/>
                </a:solidFill>
                <a:latin typeface="Segoe UI"/>
                <a:cs typeface="Segoe UI"/>
              </a:rPr>
              <a:t>מעטפת ההגנה היא כולנו, יחד. תודה.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